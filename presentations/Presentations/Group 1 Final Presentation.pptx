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315" r:id="rId2"/>
    <p:sldId id="313" r:id="rId3"/>
    <p:sldId id="257" r:id="rId4"/>
    <p:sldId id="291" r:id="rId5"/>
    <p:sldId id="339" r:id="rId6"/>
    <p:sldId id="342" r:id="rId7"/>
    <p:sldId id="259" r:id="rId8"/>
    <p:sldId id="260" r:id="rId9"/>
    <p:sldId id="280" r:id="rId10"/>
    <p:sldId id="316" r:id="rId11"/>
    <p:sldId id="317" r:id="rId12"/>
    <p:sldId id="318" r:id="rId13"/>
    <p:sldId id="334" r:id="rId14"/>
    <p:sldId id="314" r:id="rId15"/>
    <p:sldId id="327" r:id="rId16"/>
    <p:sldId id="282" r:id="rId17"/>
    <p:sldId id="292" r:id="rId18"/>
    <p:sldId id="326" r:id="rId19"/>
    <p:sldId id="328" r:id="rId20"/>
    <p:sldId id="332" r:id="rId21"/>
    <p:sldId id="336" r:id="rId22"/>
    <p:sldId id="297" r:id="rId23"/>
    <p:sldId id="310" r:id="rId24"/>
    <p:sldId id="324" r:id="rId25"/>
    <p:sldId id="333" r:id="rId26"/>
    <p:sldId id="265" r:id="rId27"/>
    <p:sldId id="337" r:id="rId28"/>
    <p:sldId id="347" r:id="rId29"/>
    <p:sldId id="348" r:id="rId30"/>
    <p:sldId id="335" r:id="rId31"/>
    <p:sldId id="299" r:id="rId32"/>
    <p:sldId id="300" r:id="rId33"/>
    <p:sldId id="322" r:id="rId34"/>
    <p:sldId id="346" r:id="rId35"/>
    <p:sldId id="345" r:id="rId36"/>
    <p:sldId id="344" r:id="rId37"/>
    <p:sldId id="343" r:id="rId38"/>
    <p:sldId id="302" r:id="rId39"/>
    <p:sldId id="304" r:id="rId40"/>
    <p:sldId id="308" r:id="rId41"/>
    <p:sldId id="305" r:id="rId42"/>
    <p:sldId id="329" r:id="rId43"/>
    <p:sldId id="330" r:id="rId44"/>
    <p:sldId id="331" r:id="rId45"/>
    <p:sldId id="319" r:id="rId46"/>
    <p:sldId id="307" r:id="rId47"/>
    <p:sldId id="276" r:id="rId48"/>
    <p:sldId id="277" r:id="rId49"/>
    <p:sldId id="278"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1515"/>
    <a:srgbClr val="B03333"/>
    <a:srgbClr val="F7F557"/>
    <a:srgbClr val="A142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B86E4-DF28-97F8-41B0-04184689F69A}" v="183" dt="2024-12-02T02:20:54.299"/>
    <p1510:client id="{20BE6968-6819-73EB-2B49-4BD8EA88C547}" v="169" dt="2024-12-02T03:32:15.659"/>
    <p1510:client id="{23ECE2B7-0A32-5D31-5F6A-FEBFE1D74035}" v="44" dt="2024-12-03T16:02:49.827"/>
    <p1510:client id="{296B68A6-06E7-E4EA-7B32-22BEB04E2579}" v="506" dt="2024-12-02T18:02:12.746"/>
    <p1510:client id="{298F269F-FE7B-32D8-6833-60698BA955C3}" v="139" dt="2024-12-03T12:52:02.784"/>
    <p1510:client id="{424F53AE-662D-2B6F-025F-B57A393954AC}" v="1" dt="2024-12-02T17:25:07.748"/>
    <p1510:client id="{4C1C8E62-90B5-FB49-440F-6EC831EDF768}" v="30" dt="2024-12-03T04:41:00.158"/>
    <p1510:client id="{80247CDC-6ED8-462B-79DE-125769DFE0A7}" v="83" dt="2024-12-02T18:18:07.605"/>
    <p1510:client id="{8DCA81A8-EDA1-D7FD-AEC9-B9B605FF28EB}" v="2" dt="2024-12-04T00:16:56.697"/>
    <p1510:client id="{AE72A64A-9912-5767-57E7-E278A7D38886}" v="181" dt="2024-12-02T01:10:05.018"/>
    <p1510:client id="{D54C85FA-60D0-1963-FE14-8BC8DFD3E833}" v="90" dt="2024-12-03T12:48:24.3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4" autoAdjust="0"/>
    <p:restoredTop sz="94660"/>
  </p:normalViewPr>
  <p:slideViewPr>
    <p:cSldViewPr snapToGrid="0">
      <p:cViewPr varScale="1">
        <p:scale>
          <a:sx n="115" d="100"/>
          <a:sy n="115" d="100"/>
        </p:scale>
        <p:origin x="7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15D2E7-C9EC-4D92-8DED-ACD7F25C4D3B}" type="datetimeFigureOut">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A85EB0-65EA-4180-89AE-9CF80CBA133A}" type="slidenum">
              <a:t>‹#›</a:t>
            </a:fld>
            <a:endParaRPr lang="en-US"/>
          </a:p>
        </p:txBody>
      </p:sp>
    </p:spTree>
    <p:extLst>
      <p:ext uri="{BB962C8B-B14F-4D97-AF65-F5344CB8AC3E}">
        <p14:creationId xmlns:p14="http://schemas.microsoft.com/office/powerpoint/2010/main" val="4183055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RAM is designed to absorb incoming radar waves instead of reflecting them. This is achieved through materials that have specific electromagnetic properties, such as a high magnetic or dielectric loss, which convert the electromagnetic energy into heat.</a:t>
            </a:r>
          </a:p>
        </p:txBody>
      </p:sp>
      <p:sp>
        <p:nvSpPr>
          <p:cNvPr id="4" name="Slide Number Placeholder 3"/>
          <p:cNvSpPr>
            <a:spLocks noGrp="1"/>
          </p:cNvSpPr>
          <p:nvPr>
            <p:ph type="sldNum" sz="quarter" idx="5"/>
          </p:nvPr>
        </p:nvSpPr>
        <p:spPr/>
        <p:txBody>
          <a:bodyPr/>
          <a:lstStyle/>
          <a:p>
            <a:fld id="{DCA85EB0-65EA-4180-89AE-9CF80CBA133A}" type="slidenum">
              <a:rPr lang="en-US"/>
              <a:t>5</a:t>
            </a:fld>
            <a:endParaRPr lang="en-US"/>
          </a:p>
        </p:txBody>
      </p:sp>
    </p:spTree>
    <p:extLst>
      <p:ext uri="{BB962C8B-B14F-4D97-AF65-F5344CB8AC3E}">
        <p14:creationId xmlns:p14="http://schemas.microsoft.com/office/powerpoint/2010/main" val="3980382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development of advanced RAM technology increasingly relies on computational tools and algorithms to optimize material composition and performance. Genetic algorithms, machine learning, and Bayesian optimization are employed to explore the vast design space of potential material combinations. These methods simulate interactions between electromagnetic waves and materials, evaluating properties like dielectric constants, magnetic permeability, and layer thicknesses.</a:t>
            </a:r>
          </a:p>
        </p:txBody>
      </p:sp>
      <p:sp>
        <p:nvSpPr>
          <p:cNvPr id="4" name="Slide Number Placeholder 3"/>
          <p:cNvSpPr>
            <a:spLocks noGrp="1"/>
          </p:cNvSpPr>
          <p:nvPr>
            <p:ph type="sldNum" sz="quarter" idx="5"/>
          </p:nvPr>
        </p:nvSpPr>
        <p:spPr/>
        <p:txBody>
          <a:bodyPr/>
          <a:lstStyle/>
          <a:p>
            <a:fld id="{DCA85EB0-65EA-4180-89AE-9CF80CBA133A}" type="slidenum">
              <a:rPr lang="en-US"/>
              <a:t>6</a:t>
            </a:fld>
            <a:endParaRPr lang="en-US"/>
          </a:p>
        </p:txBody>
      </p:sp>
    </p:spTree>
    <p:extLst>
      <p:ext uri="{BB962C8B-B14F-4D97-AF65-F5344CB8AC3E}">
        <p14:creationId xmlns:p14="http://schemas.microsoft.com/office/powerpoint/2010/main" val="3826125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sciencedirect.com/topics/materials-science/radar-absorbing-material" TargetMode="Externa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29.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4.png"/><Relationship Id="rId4"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31.png"/><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4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doi.org/10.2528/pierb10010701" TargetMode="External"/><Relationship Id="rId2" Type="http://schemas.openxmlformats.org/officeDocument/2006/relationships/hyperlink" Target="https://doi.org/10.1109/22.23851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5D888FA-17BB-A93F-4108-67F5ACC9BD4F}"/>
              </a:ext>
            </a:extLst>
          </p:cNvPr>
          <p:cNvSpPr txBox="1"/>
          <p:nvPr/>
        </p:nvSpPr>
        <p:spPr>
          <a:xfrm>
            <a:off x="3642" y="5327064"/>
            <a:ext cx="12188171" cy="1521379"/>
          </a:xfrm>
          <a:prstGeom prst="rect">
            <a:avLst/>
          </a:prstGeom>
          <a:solidFill>
            <a:schemeClr val="tx2">
              <a:lumMod val="50000"/>
              <a:lumOff val="5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a:extLst>
              <a:ext uri="{FF2B5EF4-FFF2-40B4-BE49-F238E27FC236}">
                <a16:creationId xmlns:a16="http://schemas.microsoft.com/office/drawing/2014/main" id="{D8B4E0DD-87B9-196F-FCD0-8B440BBB56E3}"/>
              </a:ext>
            </a:extLst>
          </p:cNvPr>
          <p:cNvSpPr>
            <a:spLocks noGrp="1"/>
          </p:cNvSpPr>
          <p:nvPr>
            <p:ph type="ctrTitle"/>
          </p:nvPr>
        </p:nvSpPr>
        <p:spPr>
          <a:xfrm>
            <a:off x="1524000" y="1042699"/>
            <a:ext cx="9144000" cy="2387600"/>
          </a:xfrm>
        </p:spPr>
        <p:txBody>
          <a:bodyPr vert="horz" lIns="91440" tIns="45720" rIns="91440" bIns="45720" rtlCol="0" anchor="b">
            <a:noAutofit/>
          </a:bodyPr>
          <a:lstStyle/>
          <a:p>
            <a:r>
              <a:rPr lang="en-US" sz="4400">
                <a:latin typeface="Times New Roman"/>
                <a:ea typeface="+mj-lt"/>
                <a:cs typeface="Times New Roman"/>
              </a:rPr>
              <a:t>Optimizing Multi-Layer Radiation Absorbing Materials: Advanced Algorithmic Solutions</a:t>
            </a:r>
            <a:endParaRPr lang="en-US" sz="4400">
              <a:latin typeface="Times New Roman"/>
              <a:cs typeface="Times New Roman"/>
            </a:endParaRPr>
          </a:p>
        </p:txBody>
      </p:sp>
      <p:sp>
        <p:nvSpPr>
          <p:cNvPr id="3" name="Subtitle 2">
            <a:extLst>
              <a:ext uri="{FF2B5EF4-FFF2-40B4-BE49-F238E27FC236}">
                <a16:creationId xmlns:a16="http://schemas.microsoft.com/office/drawing/2014/main" id="{BC663CEF-1883-B416-C11A-54115F57BF7B}"/>
              </a:ext>
            </a:extLst>
          </p:cNvPr>
          <p:cNvSpPr>
            <a:spLocks noGrp="1"/>
          </p:cNvSpPr>
          <p:nvPr>
            <p:ph type="subTitle" idx="1"/>
          </p:nvPr>
        </p:nvSpPr>
        <p:spPr>
          <a:xfrm>
            <a:off x="1524000" y="3596741"/>
            <a:ext cx="9144000" cy="1186247"/>
          </a:xfrm>
        </p:spPr>
        <p:txBody>
          <a:bodyPr vert="horz" lIns="91440" tIns="45720" rIns="91440" bIns="45720" rtlCol="0" anchor="t">
            <a:normAutofit/>
          </a:bodyPr>
          <a:lstStyle/>
          <a:p>
            <a:r>
              <a:rPr lang="en-US" sz="2800">
                <a:latin typeface="Times New Roman"/>
                <a:cs typeface="Times New Roman"/>
              </a:rPr>
              <a:t>Joey Antonucci, Tegan Carr, Abegale Jones</a:t>
            </a:r>
            <a:endParaRPr lang="en-US"/>
          </a:p>
        </p:txBody>
      </p:sp>
      <p:pic>
        <p:nvPicPr>
          <p:cNvPr id="5" name="Picture 4" descr="University of Pittsburgh - Wikipedia">
            <a:extLst>
              <a:ext uri="{FF2B5EF4-FFF2-40B4-BE49-F238E27FC236}">
                <a16:creationId xmlns:a16="http://schemas.microsoft.com/office/drawing/2014/main" id="{841F61AE-E2AA-A923-58FC-4269064AC17B}"/>
              </a:ext>
            </a:extLst>
          </p:cNvPr>
          <p:cNvPicPr>
            <a:picLocks noChangeAspect="1"/>
          </p:cNvPicPr>
          <p:nvPr/>
        </p:nvPicPr>
        <p:blipFill>
          <a:blip r:embed="rId2"/>
          <a:stretch>
            <a:fillRect/>
          </a:stretch>
        </p:blipFill>
        <p:spPr>
          <a:xfrm>
            <a:off x="200363" y="5413609"/>
            <a:ext cx="1323562" cy="1345748"/>
          </a:xfrm>
          <a:prstGeom prst="rect">
            <a:avLst/>
          </a:prstGeom>
        </p:spPr>
      </p:pic>
      <p:sp>
        <p:nvSpPr>
          <p:cNvPr id="6" name="TextBox 5">
            <a:extLst>
              <a:ext uri="{FF2B5EF4-FFF2-40B4-BE49-F238E27FC236}">
                <a16:creationId xmlns:a16="http://schemas.microsoft.com/office/drawing/2014/main" id="{9D16D68E-3C97-F8E9-3A43-2ABBE21F46C5}"/>
              </a:ext>
            </a:extLst>
          </p:cNvPr>
          <p:cNvSpPr txBox="1"/>
          <p:nvPr/>
        </p:nvSpPr>
        <p:spPr>
          <a:xfrm>
            <a:off x="1902972" y="5480258"/>
            <a:ext cx="8378274" cy="10618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100" b="1">
                <a:latin typeface="Times New Roman"/>
                <a:cs typeface="Times New Roman"/>
              </a:rPr>
              <a:t>Sponsored by </a:t>
            </a:r>
            <a:endParaRPr lang="en-US" sz="2100"/>
          </a:p>
          <a:p>
            <a:pPr algn="ctr"/>
            <a:r>
              <a:rPr lang="en-US" sz="2100" b="1">
                <a:latin typeface="Times New Roman"/>
                <a:cs typeface="Times New Roman"/>
              </a:rPr>
              <a:t>Faculty: Dr. Paul Leu, Dr. </a:t>
            </a:r>
            <a:r>
              <a:rPr lang="en-US" sz="2100" b="1" err="1">
                <a:latin typeface="Times New Roman"/>
                <a:cs typeface="Times New Roman"/>
              </a:rPr>
              <a:t>Jungtaek</a:t>
            </a:r>
            <a:r>
              <a:rPr lang="en-US" sz="2100" b="1">
                <a:latin typeface="Times New Roman"/>
                <a:cs typeface="Times New Roman"/>
              </a:rPr>
              <a:t> Kim, Mr. </a:t>
            </a:r>
            <a:r>
              <a:rPr lang="en-US" sz="2100" b="1" err="1">
                <a:latin typeface="Times New Roman"/>
                <a:cs typeface="Times New Roman"/>
              </a:rPr>
              <a:t>Mingxuan</a:t>
            </a:r>
            <a:r>
              <a:rPr lang="en-US" sz="2100" b="1">
                <a:latin typeface="Times New Roman"/>
                <a:cs typeface="Times New Roman"/>
              </a:rPr>
              <a:t> Li</a:t>
            </a:r>
          </a:p>
          <a:p>
            <a:pPr algn="ctr"/>
            <a:r>
              <a:rPr lang="en-US" sz="2100" b="1">
                <a:latin typeface="Times New Roman"/>
                <a:cs typeface="Times New Roman"/>
              </a:rPr>
              <a:t>DEVCOM: Dr. Quang Nguyen</a:t>
            </a:r>
            <a:endParaRPr lang="en-US" sz="2100"/>
          </a:p>
        </p:txBody>
      </p:sp>
      <p:pic>
        <p:nvPicPr>
          <p:cNvPr id="8" name="Picture 7">
            <a:extLst>
              <a:ext uri="{FF2B5EF4-FFF2-40B4-BE49-F238E27FC236}">
                <a16:creationId xmlns:a16="http://schemas.microsoft.com/office/drawing/2014/main" id="{9685DC4B-CEB6-56E1-CEA9-0FA226D1EEF6}"/>
              </a:ext>
            </a:extLst>
          </p:cNvPr>
          <p:cNvPicPr>
            <a:picLocks noChangeAspect="1"/>
          </p:cNvPicPr>
          <p:nvPr/>
        </p:nvPicPr>
        <p:blipFill>
          <a:blip r:embed="rId3"/>
          <a:stretch>
            <a:fillRect/>
          </a:stretch>
        </p:blipFill>
        <p:spPr>
          <a:xfrm>
            <a:off x="10279011" y="6089789"/>
            <a:ext cx="1839951" cy="646128"/>
          </a:xfrm>
          <a:prstGeom prst="rect">
            <a:avLst/>
          </a:prstGeom>
        </p:spPr>
      </p:pic>
      <p:pic>
        <p:nvPicPr>
          <p:cNvPr id="4" name="Picture 3" descr="A black background with yellow and blue text&#10;&#10;Description automatically generated">
            <a:extLst>
              <a:ext uri="{FF2B5EF4-FFF2-40B4-BE49-F238E27FC236}">
                <a16:creationId xmlns:a16="http://schemas.microsoft.com/office/drawing/2014/main" id="{F91DE55A-0D11-743D-5CB0-FD5780BA3AF3}"/>
              </a:ext>
            </a:extLst>
          </p:cNvPr>
          <p:cNvPicPr>
            <a:picLocks noChangeAspect="1"/>
          </p:cNvPicPr>
          <p:nvPr/>
        </p:nvPicPr>
        <p:blipFill>
          <a:blip r:embed="rId4"/>
          <a:stretch>
            <a:fillRect/>
          </a:stretch>
        </p:blipFill>
        <p:spPr>
          <a:xfrm>
            <a:off x="10017901" y="5412089"/>
            <a:ext cx="2095501" cy="584061"/>
          </a:xfrm>
          <a:prstGeom prst="rect">
            <a:avLst/>
          </a:prstGeom>
        </p:spPr>
      </p:pic>
    </p:spTree>
    <p:extLst>
      <p:ext uri="{BB962C8B-B14F-4D97-AF65-F5344CB8AC3E}">
        <p14:creationId xmlns:p14="http://schemas.microsoft.com/office/powerpoint/2010/main" val="2575946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E7F8F-C640-3477-511D-E32EF2E65EDF}"/>
              </a:ext>
            </a:extLst>
          </p:cNvPr>
          <p:cNvSpPr>
            <a:spLocks noGrp="1"/>
          </p:cNvSpPr>
          <p:nvPr>
            <p:ph idx="1"/>
          </p:nvPr>
        </p:nvSpPr>
        <p:spPr>
          <a:xfrm>
            <a:off x="838200" y="1538985"/>
            <a:ext cx="10515600" cy="4351338"/>
          </a:xfrm>
        </p:spPr>
        <p:txBody>
          <a:bodyPr vert="horz" lIns="91440" tIns="45720" rIns="91440" bIns="45720" rtlCol="0" anchor="ctr">
            <a:normAutofit/>
          </a:bodyPr>
          <a:lstStyle/>
          <a:p>
            <a:pPr marL="0" indent="0" algn="ctr">
              <a:buNone/>
            </a:pPr>
            <a:r>
              <a:rPr lang="en-US" sz="4000" b="1">
                <a:latin typeface="Times New Roman"/>
                <a:cs typeface="Times New Roman"/>
              </a:rPr>
              <a:t>Radiation-absorbing coatings are more than just a tool for stealth—they’re a gateway to a smarter, safer, and more efficient future.</a:t>
            </a:r>
            <a:endParaRPr lang="en-US" sz="4000" b="1"/>
          </a:p>
          <a:p>
            <a:endParaRPr lang="en-US" sz="4000" b="1">
              <a:latin typeface="-webkit-standard"/>
            </a:endParaRPr>
          </a:p>
        </p:txBody>
      </p:sp>
    </p:spTree>
    <p:extLst>
      <p:ext uri="{BB962C8B-B14F-4D97-AF65-F5344CB8AC3E}">
        <p14:creationId xmlns:p14="http://schemas.microsoft.com/office/powerpoint/2010/main" val="342341667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B000B-7CB8-0EB8-8BF2-B1B86DB9A9DD}"/>
              </a:ext>
            </a:extLst>
          </p:cNvPr>
          <p:cNvSpPr>
            <a:spLocks noGrp="1"/>
          </p:cNvSpPr>
          <p:nvPr>
            <p:ph type="title"/>
          </p:nvPr>
        </p:nvSpPr>
        <p:spPr>
          <a:xfrm>
            <a:off x="838200" y="825674"/>
            <a:ext cx="10515600" cy="1325563"/>
          </a:xfrm>
        </p:spPr>
        <p:txBody>
          <a:bodyPr/>
          <a:lstStyle/>
          <a:p>
            <a:pPr algn="ctr"/>
            <a:r>
              <a:rPr lang="en-US" sz="3600">
                <a:latin typeface="Times New Roman"/>
                <a:cs typeface="Times New Roman"/>
              </a:rPr>
              <a:t>Radiation Absorbing Material Coatings are Widely Used in a Variety of Military and Civil Applications</a:t>
            </a:r>
          </a:p>
          <a:p>
            <a:endParaRPr lang="en-US"/>
          </a:p>
        </p:txBody>
      </p:sp>
      <p:sp>
        <p:nvSpPr>
          <p:cNvPr id="3" name="Content Placeholder 2">
            <a:extLst>
              <a:ext uri="{FF2B5EF4-FFF2-40B4-BE49-F238E27FC236}">
                <a16:creationId xmlns:a16="http://schemas.microsoft.com/office/drawing/2014/main" id="{FF5DDDEF-1246-B16E-D62C-816E489534DF}"/>
              </a:ext>
            </a:extLst>
          </p:cNvPr>
          <p:cNvSpPr>
            <a:spLocks noGrp="1"/>
          </p:cNvSpPr>
          <p:nvPr>
            <p:ph idx="1"/>
          </p:nvPr>
        </p:nvSpPr>
        <p:spPr>
          <a:xfrm>
            <a:off x="838200" y="1965228"/>
            <a:ext cx="10515600" cy="4351338"/>
          </a:xfrm>
        </p:spPr>
        <p:txBody>
          <a:bodyPr vert="horz" lIns="91440" tIns="45720" rIns="91440" bIns="45720" rtlCol="0" anchor="t">
            <a:normAutofit lnSpcReduction="10000"/>
          </a:bodyPr>
          <a:lstStyle/>
          <a:p>
            <a:pPr marL="0" indent="0">
              <a:buNone/>
            </a:pPr>
            <a:r>
              <a:rPr lang="en-US" b="1" u="sng">
                <a:latin typeface="Times New Roman"/>
                <a:cs typeface="Times New Roman"/>
              </a:rPr>
              <a:t>Military Applications:</a:t>
            </a:r>
            <a:endParaRPr lang="en-US" b="1" u="sng"/>
          </a:p>
          <a:p>
            <a:r>
              <a:rPr lang="en-US">
                <a:latin typeface="Times New Roman"/>
                <a:cs typeface="Times New Roman"/>
              </a:rPr>
              <a:t>Aircraft</a:t>
            </a:r>
          </a:p>
          <a:p>
            <a:pPr lvl="1">
              <a:buFont typeface="Courier New" panose="020B0604020202020204" pitchFamily="34" charset="0"/>
              <a:buChar char="o"/>
            </a:pPr>
            <a:r>
              <a:rPr lang="en-US">
                <a:latin typeface="Times New Roman"/>
                <a:cs typeface="Times New Roman"/>
              </a:rPr>
              <a:t>Stealth fighters, bombers</a:t>
            </a:r>
          </a:p>
          <a:p>
            <a:r>
              <a:rPr lang="en-US">
                <a:latin typeface="Times New Roman"/>
                <a:cs typeface="Times New Roman"/>
              </a:rPr>
              <a:t>Missiles</a:t>
            </a:r>
          </a:p>
          <a:p>
            <a:pPr lvl="1">
              <a:buFont typeface="Courier New" panose="020B0604020202020204" pitchFamily="34" charset="0"/>
              <a:buChar char="o"/>
            </a:pPr>
            <a:r>
              <a:rPr lang="en-US">
                <a:latin typeface="Times New Roman"/>
                <a:cs typeface="Times New Roman"/>
              </a:rPr>
              <a:t>Cruise and ballistic missiles</a:t>
            </a:r>
          </a:p>
          <a:p>
            <a:r>
              <a:rPr lang="en-US">
                <a:latin typeface="Times New Roman"/>
                <a:cs typeface="Times New Roman"/>
              </a:rPr>
              <a:t>Ground Vehicles</a:t>
            </a:r>
          </a:p>
          <a:p>
            <a:pPr lvl="1">
              <a:buFont typeface="Courier New" panose="020B0604020202020204" pitchFamily="34" charset="0"/>
              <a:buChar char="o"/>
            </a:pPr>
            <a:r>
              <a:rPr lang="en-US">
                <a:latin typeface="Times New Roman"/>
                <a:cs typeface="Times New Roman"/>
              </a:rPr>
              <a:t>Tanks and armored vehicles</a:t>
            </a:r>
          </a:p>
          <a:p>
            <a:r>
              <a:rPr lang="en-US">
                <a:latin typeface="Times New Roman"/>
                <a:cs typeface="Times New Roman"/>
              </a:rPr>
              <a:t>Naval Vessels</a:t>
            </a:r>
          </a:p>
          <a:p>
            <a:pPr lvl="1">
              <a:buFont typeface="Courier New" panose="020B0604020202020204" pitchFamily="34" charset="0"/>
              <a:buChar char="o"/>
            </a:pPr>
            <a:r>
              <a:rPr lang="en-US">
                <a:latin typeface="Times New Roman"/>
                <a:cs typeface="Times New Roman"/>
              </a:rPr>
              <a:t>Surface ships, submarines</a:t>
            </a:r>
          </a:p>
          <a:p>
            <a:r>
              <a:rPr lang="en-US">
                <a:latin typeface="Times New Roman"/>
                <a:cs typeface="Times New Roman"/>
              </a:rPr>
              <a:t>Satellites</a:t>
            </a:r>
          </a:p>
        </p:txBody>
      </p:sp>
      <p:sp>
        <p:nvSpPr>
          <p:cNvPr id="5" name="TextBox 4">
            <a:extLst>
              <a:ext uri="{FF2B5EF4-FFF2-40B4-BE49-F238E27FC236}">
                <a16:creationId xmlns:a16="http://schemas.microsoft.com/office/drawing/2014/main" id="{E2497B0A-12E1-0A32-D126-56049128A9F0}"/>
              </a:ext>
            </a:extLst>
          </p:cNvPr>
          <p:cNvSpPr txBox="1"/>
          <p:nvPr/>
        </p:nvSpPr>
        <p:spPr>
          <a:xfrm>
            <a:off x="5526809" y="5910020"/>
            <a:ext cx="629239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ea typeface="+mn-lt"/>
                <a:cs typeface="Times New Roman"/>
              </a:rPr>
              <a:t>Wikipedia contributors. (2024, November 29). Lockheed Martin F35 A.</a:t>
            </a:r>
            <a:endParaRPr lang="en-US" sz="1600">
              <a:latin typeface="Times New Roman"/>
              <a:cs typeface="Times New Roman"/>
            </a:endParaRPr>
          </a:p>
        </p:txBody>
      </p:sp>
      <p:pic>
        <p:nvPicPr>
          <p:cNvPr id="6" name="Picture 5" descr="A jet flying in the sky&#10;&#10;Description automatically generated">
            <a:extLst>
              <a:ext uri="{FF2B5EF4-FFF2-40B4-BE49-F238E27FC236}">
                <a16:creationId xmlns:a16="http://schemas.microsoft.com/office/drawing/2014/main" id="{A608056D-66D7-AC41-8326-3A5D2EE4858B}"/>
              </a:ext>
            </a:extLst>
          </p:cNvPr>
          <p:cNvPicPr>
            <a:picLocks noChangeAspect="1"/>
          </p:cNvPicPr>
          <p:nvPr/>
        </p:nvPicPr>
        <p:blipFill>
          <a:blip r:embed="rId2"/>
          <a:srcRect t="7133" r="-227" b="7084"/>
          <a:stretch/>
        </p:blipFill>
        <p:spPr>
          <a:xfrm>
            <a:off x="5783364" y="2054013"/>
            <a:ext cx="5776628" cy="3855629"/>
          </a:xfrm>
          <a:prstGeom prst="rect">
            <a:avLst/>
          </a:prstGeom>
        </p:spPr>
      </p:pic>
    </p:spTree>
    <p:extLst>
      <p:ext uri="{BB962C8B-B14F-4D97-AF65-F5344CB8AC3E}">
        <p14:creationId xmlns:p14="http://schemas.microsoft.com/office/powerpoint/2010/main" val="4211056014"/>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B000B-7CB8-0EB8-8BF2-B1B86DB9A9DD}"/>
              </a:ext>
            </a:extLst>
          </p:cNvPr>
          <p:cNvSpPr>
            <a:spLocks noGrp="1"/>
          </p:cNvSpPr>
          <p:nvPr>
            <p:ph type="title"/>
          </p:nvPr>
        </p:nvSpPr>
        <p:spPr>
          <a:xfrm>
            <a:off x="838200" y="822635"/>
            <a:ext cx="10515600" cy="1325563"/>
          </a:xfrm>
        </p:spPr>
        <p:txBody>
          <a:bodyPr/>
          <a:lstStyle/>
          <a:p>
            <a:pPr algn="ctr"/>
            <a:r>
              <a:rPr lang="en-US" sz="3600">
                <a:latin typeface="Times New Roman"/>
                <a:cs typeface="Times New Roman"/>
              </a:rPr>
              <a:t>Radiation Absorbing Material Coatings are Widely Used in a Variety of Military and Civil Applications</a:t>
            </a:r>
          </a:p>
          <a:p>
            <a:endParaRPr lang="en-US"/>
          </a:p>
        </p:txBody>
      </p:sp>
      <p:sp>
        <p:nvSpPr>
          <p:cNvPr id="7" name="Content Placeholder 2">
            <a:extLst>
              <a:ext uri="{FF2B5EF4-FFF2-40B4-BE49-F238E27FC236}">
                <a16:creationId xmlns:a16="http://schemas.microsoft.com/office/drawing/2014/main" id="{46EB5B3D-D696-5A06-75D6-61C99F24175C}"/>
              </a:ext>
            </a:extLst>
          </p:cNvPr>
          <p:cNvSpPr txBox="1">
            <a:spLocks/>
          </p:cNvSpPr>
          <p:nvPr/>
        </p:nvSpPr>
        <p:spPr>
          <a:xfrm>
            <a:off x="838200" y="1994312"/>
            <a:ext cx="10515600" cy="486321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u="sng">
                <a:latin typeface="Times New Roman"/>
                <a:cs typeface="Times New Roman"/>
              </a:rPr>
              <a:t>Civil Applications:</a:t>
            </a:r>
            <a:endParaRPr lang="en-US" b="1" u="sng"/>
          </a:p>
          <a:p>
            <a:r>
              <a:rPr lang="en-US">
                <a:latin typeface="Times New Roman"/>
                <a:cs typeface="Times New Roman"/>
              </a:rPr>
              <a:t>Telecommunications</a:t>
            </a:r>
          </a:p>
          <a:p>
            <a:pPr lvl="1">
              <a:buFont typeface="Courier New" panose="020B0604020202020204" pitchFamily="34" charset="0"/>
              <a:buChar char="o"/>
            </a:pPr>
            <a:r>
              <a:rPr lang="en-US">
                <a:latin typeface="Times New Roman"/>
                <a:cs typeface="Times New Roman"/>
              </a:rPr>
              <a:t>Signal management</a:t>
            </a:r>
          </a:p>
          <a:p>
            <a:r>
              <a:rPr lang="en-US">
                <a:latin typeface="Times New Roman"/>
                <a:cs typeface="Times New Roman"/>
              </a:rPr>
              <a:t>Automotive Industry</a:t>
            </a:r>
          </a:p>
          <a:p>
            <a:pPr lvl="1">
              <a:buFont typeface="Courier New" panose="020B0604020202020204" pitchFamily="34" charset="0"/>
              <a:buChar char="o"/>
            </a:pPr>
            <a:r>
              <a:rPr lang="en-US">
                <a:latin typeface="Times New Roman"/>
                <a:cs typeface="Times New Roman"/>
              </a:rPr>
              <a:t>Electric vehicles</a:t>
            </a:r>
          </a:p>
          <a:p>
            <a:r>
              <a:rPr lang="en-US">
                <a:latin typeface="Times New Roman"/>
                <a:cs typeface="Times New Roman"/>
              </a:rPr>
              <a:t>Architecture and Construction</a:t>
            </a:r>
          </a:p>
          <a:p>
            <a:pPr lvl="1">
              <a:buFont typeface="Courier New" panose="020B0604020202020204" pitchFamily="34" charset="0"/>
              <a:buChar char="o"/>
            </a:pPr>
            <a:r>
              <a:rPr lang="en-US">
                <a:latin typeface="Times New Roman"/>
                <a:cs typeface="Times New Roman"/>
              </a:rPr>
              <a:t>Energy efficiency</a:t>
            </a:r>
          </a:p>
          <a:p>
            <a:r>
              <a:rPr lang="en-US">
                <a:latin typeface="Times New Roman"/>
                <a:cs typeface="Times New Roman"/>
              </a:rPr>
              <a:t>Consumer Electronics</a:t>
            </a:r>
          </a:p>
          <a:p>
            <a:pPr lvl="1">
              <a:buFont typeface="Courier New" panose="020B0604020202020204" pitchFamily="34" charset="0"/>
              <a:buChar char="o"/>
            </a:pPr>
            <a:r>
              <a:rPr lang="en-US">
                <a:latin typeface="Times New Roman"/>
                <a:cs typeface="Times New Roman"/>
              </a:rPr>
              <a:t>Smartphones, laptops, tablets</a:t>
            </a:r>
          </a:p>
        </p:txBody>
      </p:sp>
      <p:pic>
        <p:nvPicPr>
          <p:cNvPr id="8" name="Picture 7" descr="A close up of a cell phone&#10;&#10;Description automatically generated">
            <a:extLst>
              <a:ext uri="{FF2B5EF4-FFF2-40B4-BE49-F238E27FC236}">
                <a16:creationId xmlns:a16="http://schemas.microsoft.com/office/drawing/2014/main" id="{D9F30704-50C7-33CF-92C0-00A8CE86B50A}"/>
              </a:ext>
            </a:extLst>
          </p:cNvPr>
          <p:cNvPicPr>
            <a:picLocks noChangeAspect="1"/>
          </p:cNvPicPr>
          <p:nvPr/>
        </p:nvPicPr>
        <p:blipFill>
          <a:blip r:embed="rId2"/>
          <a:srcRect l="11832" r="-96" b="318"/>
          <a:stretch/>
        </p:blipFill>
        <p:spPr>
          <a:xfrm>
            <a:off x="6096907" y="2149888"/>
            <a:ext cx="5613231" cy="3803030"/>
          </a:xfrm>
          <a:prstGeom prst="rect">
            <a:avLst/>
          </a:prstGeom>
        </p:spPr>
      </p:pic>
      <p:sp>
        <p:nvSpPr>
          <p:cNvPr id="4" name="TextBox 3">
            <a:extLst>
              <a:ext uri="{FF2B5EF4-FFF2-40B4-BE49-F238E27FC236}">
                <a16:creationId xmlns:a16="http://schemas.microsoft.com/office/drawing/2014/main" id="{A105511F-CEEC-661E-B09C-DEFF4DE6A45B}"/>
              </a:ext>
            </a:extLst>
          </p:cNvPr>
          <p:cNvSpPr txBox="1"/>
          <p:nvPr/>
        </p:nvSpPr>
        <p:spPr>
          <a:xfrm>
            <a:off x="6094846" y="5954545"/>
            <a:ext cx="5611091"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err="1">
                <a:latin typeface="Times New Roman"/>
                <a:ea typeface="+mn-lt"/>
                <a:cs typeface="Times New Roman"/>
              </a:rPr>
              <a:t>DeepCoat</a:t>
            </a:r>
            <a:r>
              <a:rPr lang="en-US" sz="1600">
                <a:latin typeface="Times New Roman"/>
                <a:ea typeface="+mn-lt"/>
                <a:cs typeface="Times New Roman"/>
              </a:rPr>
              <a:t>. (n.d.). How EMI shielding protects cell phones. </a:t>
            </a:r>
            <a:r>
              <a:rPr lang="en-US" sz="1600" err="1">
                <a:latin typeface="Times New Roman"/>
                <a:ea typeface="+mn-lt"/>
                <a:cs typeface="Times New Roman"/>
              </a:rPr>
              <a:t>DeepCoat</a:t>
            </a:r>
            <a:r>
              <a:rPr lang="en-US" sz="1600">
                <a:latin typeface="Times New Roman"/>
                <a:ea typeface="+mn-lt"/>
                <a:cs typeface="Times New Roman"/>
              </a:rPr>
              <a:t>. Retrieved November 29, 2024</a:t>
            </a:r>
            <a:endParaRPr lang="en-US" sz="1600"/>
          </a:p>
          <a:p>
            <a:pPr algn="ctr"/>
            <a:endParaRPr lang="en-US" sz="1600">
              <a:latin typeface="Times New Roman"/>
              <a:cs typeface="Times New Roman"/>
            </a:endParaRPr>
          </a:p>
          <a:p>
            <a:pPr algn="l"/>
            <a:endParaRPr lang="en-US">
              <a:latin typeface="Times New Roman"/>
              <a:cs typeface="Times New Roman"/>
            </a:endParaRPr>
          </a:p>
        </p:txBody>
      </p:sp>
    </p:spTree>
    <p:extLst>
      <p:ext uri="{BB962C8B-B14F-4D97-AF65-F5344CB8AC3E}">
        <p14:creationId xmlns:p14="http://schemas.microsoft.com/office/powerpoint/2010/main" val="4012928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C0949-B027-B5A6-8F05-50F6FEC6B04E}"/>
              </a:ext>
            </a:extLst>
          </p:cNvPr>
          <p:cNvSpPr>
            <a:spLocks noGrp="1"/>
          </p:cNvSpPr>
          <p:nvPr>
            <p:ph type="title"/>
          </p:nvPr>
        </p:nvSpPr>
        <p:spPr>
          <a:xfrm>
            <a:off x="838200" y="774106"/>
            <a:ext cx="10515600" cy="1325563"/>
          </a:xfrm>
        </p:spPr>
        <p:txBody>
          <a:bodyPr>
            <a:noAutofit/>
          </a:bodyPr>
          <a:lstStyle/>
          <a:p>
            <a:pPr algn="ctr"/>
            <a:r>
              <a:rPr lang="en-US" sz="3600">
                <a:latin typeface="Times New Roman"/>
                <a:ea typeface="+mj-lt"/>
                <a:cs typeface="+mj-lt"/>
              </a:rPr>
              <a:t>Radiation Absorbing Materials Minimize Radar Detection by Converting Electromagnetic Waves into Heat or Destructive Interference</a:t>
            </a:r>
            <a:endParaRPr lang="en-US" sz="3600">
              <a:latin typeface="Times New Roman"/>
              <a:cs typeface="Times New Roman"/>
            </a:endParaRPr>
          </a:p>
        </p:txBody>
      </p:sp>
      <p:pic>
        <p:nvPicPr>
          <p:cNvPr id="6" name="Content Placeholder 5" descr="Radar Absorbing Material - an overview | ScienceDirect Topics">
            <a:extLst>
              <a:ext uri="{FF2B5EF4-FFF2-40B4-BE49-F238E27FC236}">
                <a16:creationId xmlns:a16="http://schemas.microsoft.com/office/drawing/2014/main" id="{375AF442-8420-3700-5FCE-C9A01935F058}"/>
              </a:ext>
            </a:extLst>
          </p:cNvPr>
          <p:cNvPicPr>
            <a:picLocks noGrp="1" noChangeAspect="1"/>
          </p:cNvPicPr>
          <p:nvPr>
            <p:ph idx="1"/>
          </p:nvPr>
        </p:nvPicPr>
        <p:blipFill>
          <a:blip r:embed="rId3"/>
          <a:stretch>
            <a:fillRect/>
          </a:stretch>
        </p:blipFill>
        <p:spPr>
          <a:xfrm>
            <a:off x="6463075" y="2699621"/>
            <a:ext cx="4343585" cy="2867305"/>
          </a:xfrm>
        </p:spPr>
      </p:pic>
      <p:pic>
        <p:nvPicPr>
          <p:cNvPr id="7" name="Picture 6" descr="NGAD and F/A-XX: How the US Military Could Build a Revolutionary Fighter -  19FortyFive">
            <a:extLst>
              <a:ext uri="{FF2B5EF4-FFF2-40B4-BE49-F238E27FC236}">
                <a16:creationId xmlns:a16="http://schemas.microsoft.com/office/drawing/2014/main" id="{81EA80F8-0D6A-7025-E986-B23DBAF07A32}"/>
              </a:ext>
            </a:extLst>
          </p:cNvPr>
          <p:cNvPicPr>
            <a:picLocks noChangeAspect="1"/>
          </p:cNvPicPr>
          <p:nvPr/>
        </p:nvPicPr>
        <p:blipFill>
          <a:blip r:embed="rId4"/>
          <a:stretch>
            <a:fillRect/>
          </a:stretch>
        </p:blipFill>
        <p:spPr>
          <a:xfrm>
            <a:off x="1006763" y="2857597"/>
            <a:ext cx="4813685" cy="2712989"/>
          </a:xfrm>
          <a:prstGeom prst="rect">
            <a:avLst/>
          </a:prstGeom>
        </p:spPr>
      </p:pic>
      <p:sp>
        <p:nvSpPr>
          <p:cNvPr id="8" name="TextBox 7">
            <a:extLst>
              <a:ext uri="{FF2B5EF4-FFF2-40B4-BE49-F238E27FC236}">
                <a16:creationId xmlns:a16="http://schemas.microsoft.com/office/drawing/2014/main" id="{4AD2EFC5-0A72-4D97-41F8-84BE1934548F}"/>
              </a:ext>
            </a:extLst>
          </p:cNvPr>
          <p:cNvSpPr txBox="1"/>
          <p:nvPr/>
        </p:nvSpPr>
        <p:spPr>
          <a:xfrm>
            <a:off x="3506612" y="4560136"/>
            <a:ext cx="399840" cy="383329"/>
          </a:xfrm>
          <a:prstGeom prst="rect">
            <a:avLst/>
          </a:prstGeom>
          <a:noFill/>
          <a:ln w="28575">
            <a:solidFill>
              <a:srgbClr val="A11515"/>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B03333"/>
              </a:solidFill>
            </a:endParaRPr>
          </a:p>
        </p:txBody>
      </p:sp>
      <p:sp>
        <p:nvSpPr>
          <p:cNvPr id="10" name="Arrow: Right 9">
            <a:extLst>
              <a:ext uri="{FF2B5EF4-FFF2-40B4-BE49-F238E27FC236}">
                <a16:creationId xmlns:a16="http://schemas.microsoft.com/office/drawing/2014/main" id="{D999CCCE-704E-84E3-7DBD-A8F68314A6A7}"/>
              </a:ext>
            </a:extLst>
          </p:cNvPr>
          <p:cNvSpPr/>
          <p:nvPr/>
        </p:nvSpPr>
        <p:spPr>
          <a:xfrm rot="20520000">
            <a:off x="3862064" y="4201478"/>
            <a:ext cx="2644348" cy="148457"/>
          </a:xfrm>
          <a:prstGeom prst="rightArrow">
            <a:avLst/>
          </a:prstGeom>
          <a:solidFill>
            <a:srgbClr val="A11515"/>
          </a:solidFill>
          <a:ln>
            <a:solidFill>
              <a:srgbClr val="A115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F8343F8-7E3B-E498-578A-E1B0F0A2552D}"/>
              </a:ext>
            </a:extLst>
          </p:cNvPr>
          <p:cNvSpPr txBox="1"/>
          <p:nvPr/>
        </p:nvSpPr>
        <p:spPr>
          <a:xfrm>
            <a:off x="1005790" y="5574146"/>
            <a:ext cx="10094766"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latin typeface="Times New Roman"/>
                <a:ea typeface="+mn-lt"/>
                <a:cs typeface="+mn-lt"/>
              </a:rPr>
              <a:t>Wang, X. (2024). </a:t>
            </a:r>
            <a:r>
              <a:rPr lang="en-US" sz="1600" i="1">
                <a:latin typeface="Times New Roman"/>
                <a:ea typeface="+mn-lt"/>
                <a:cs typeface="+mn-lt"/>
              </a:rPr>
              <a:t>Radar absorbing material</a:t>
            </a:r>
            <a:r>
              <a:rPr lang="en-US" sz="1600">
                <a:latin typeface="Times New Roman"/>
                <a:ea typeface="+mn-lt"/>
                <a:cs typeface="+mn-lt"/>
              </a:rPr>
              <a:t>. Radar Absorbing Material - an overview | ScienceDirect Topics. </a:t>
            </a:r>
            <a:r>
              <a:rPr lang="en-US" sz="1600">
                <a:latin typeface="Times New Roman"/>
                <a:ea typeface="+mn-lt"/>
                <a:cs typeface="+mn-lt"/>
                <a:hlinkClick r:id="rId5"/>
              </a:rPr>
              <a:t>https://www.sciencedirect.com/topics/materials-science/radar-absorbing-material</a:t>
            </a:r>
            <a:r>
              <a:rPr lang="en-US" sz="1600">
                <a:latin typeface="Times New Roman"/>
                <a:ea typeface="+mn-lt"/>
                <a:cs typeface="+mn-lt"/>
              </a:rPr>
              <a:t> </a:t>
            </a:r>
            <a:endParaRPr lang="en-US"/>
          </a:p>
          <a:p>
            <a:pPr algn="l"/>
            <a:endParaRPr lang="en-US"/>
          </a:p>
        </p:txBody>
      </p:sp>
    </p:spTree>
    <p:extLst>
      <p:ext uri="{BB962C8B-B14F-4D97-AF65-F5344CB8AC3E}">
        <p14:creationId xmlns:p14="http://schemas.microsoft.com/office/powerpoint/2010/main" val="3931669829"/>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1B18E-D5AB-FCFD-ADF9-66CB33DBDAF7}"/>
              </a:ext>
            </a:extLst>
          </p:cNvPr>
          <p:cNvSpPr>
            <a:spLocks noGrp="1"/>
          </p:cNvSpPr>
          <p:nvPr>
            <p:ph type="title"/>
          </p:nvPr>
        </p:nvSpPr>
        <p:spPr>
          <a:xfrm>
            <a:off x="838200" y="843243"/>
            <a:ext cx="10515600" cy="1325563"/>
          </a:xfrm>
        </p:spPr>
        <p:txBody>
          <a:bodyPr>
            <a:noAutofit/>
          </a:bodyPr>
          <a:lstStyle/>
          <a:p>
            <a:pPr algn="ctr"/>
            <a:r>
              <a:rPr lang="en-US" sz="3600">
                <a:latin typeface="Times New Roman"/>
                <a:ea typeface="+mj-lt"/>
                <a:cs typeface="+mj-lt"/>
              </a:rPr>
              <a:t>RAM Advancements use Nanomaterials, Optimized Structures, and Algorithm-driven Simulations to Enhance Absorption and Stealth Performance</a:t>
            </a:r>
            <a:endParaRPr lang="en-US" sz="3600">
              <a:latin typeface="Times New Roman"/>
              <a:cs typeface="Times New Roman"/>
            </a:endParaRPr>
          </a:p>
        </p:txBody>
      </p:sp>
      <p:pic>
        <p:nvPicPr>
          <p:cNvPr id="5" name="Picture 4">
            <a:extLst>
              <a:ext uri="{FF2B5EF4-FFF2-40B4-BE49-F238E27FC236}">
                <a16:creationId xmlns:a16="http://schemas.microsoft.com/office/drawing/2014/main" id="{6E3CEEB8-8814-5613-B4E2-C7763A289958}"/>
              </a:ext>
            </a:extLst>
          </p:cNvPr>
          <p:cNvPicPr>
            <a:picLocks noChangeAspect="1"/>
          </p:cNvPicPr>
          <p:nvPr/>
        </p:nvPicPr>
        <p:blipFill>
          <a:blip r:embed="rId3"/>
          <a:stretch>
            <a:fillRect/>
          </a:stretch>
        </p:blipFill>
        <p:spPr>
          <a:xfrm>
            <a:off x="4217601" y="2502109"/>
            <a:ext cx="3756799" cy="4114800"/>
          </a:xfrm>
          <a:prstGeom prst="rect">
            <a:avLst/>
          </a:prstGeom>
        </p:spPr>
      </p:pic>
    </p:spTree>
    <p:extLst>
      <p:ext uri="{BB962C8B-B14F-4D97-AF65-F5344CB8AC3E}">
        <p14:creationId xmlns:p14="http://schemas.microsoft.com/office/powerpoint/2010/main" val="836474848"/>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B000B-7CB8-0EB8-8BF2-B1B86DB9A9DD}"/>
              </a:ext>
            </a:extLst>
          </p:cNvPr>
          <p:cNvSpPr>
            <a:spLocks noGrp="1"/>
          </p:cNvSpPr>
          <p:nvPr>
            <p:ph type="title"/>
          </p:nvPr>
        </p:nvSpPr>
        <p:spPr>
          <a:xfrm>
            <a:off x="838200" y="650786"/>
            <a:ext cx="10515600" cy="1325563"/>
          </a:xfrm>
        </p:spPr>
        <p:txBody>
          <a:bodyPr vert="horz" lIns="91440" tIns="45720" rIns="91440" bIns="45720" rtlCol="0" anchor="ctr">
            <a:noAutofit/>
          </a:bodyPr>
          <a:lstStyle/>
          <a:p>
            <a:pPr algn="ctr"/>
            <a:r>
              <a:rPr lang="en-US" sz="3600">
                <a:latin typeface="Times New Roman"/>
                <a:ea typeface="+mj-lt"/>
                <a:cs typeface="+mj-lt"/>
              </a:rPr>
              <a:t>Building on Existing Work: Advancing the Project Through Prior Foundations</a:t>
            </a:r>
          </a:p>
        </p:txBody>
      </p:sp>
      <p:sp>
        <p:nvSpPr>
          <p:cNvPr id="3" name="Content Placeholder 2">
            <a:extLst>
              <a:ext uri="{FF2B5EF4-FFF2-40B4-BE49-F238E27FC236}">
                <a16:creationId xmlns:a16="http://schemas.microsoft.com/office/drawing/2014/main" id="{FF5DDDEF-1246-B16E-D62C-816E489534DF}"/>
              </a:ext>
            </a:extLst>
          </p:cNvPr>
          <p:cNvSpPr>
            <a:spLocks noGrp="1"/>
          </p:cNvSpPr>
          <p:nvPr>
            <p:ph idx="1"/>
          </p:nvPr>
        </p:nvSpPr>
        <p:spPr>
          <a:xfrm>
            <a:off x="838200" y="2309435"/>
            <a:ext cx="5793510" cy="4351338"/>
          </a:xfrm>
        </p:spPr>
        <p:txBody>
          <a:bodyPr vert="horz" lIns="91440" tIns="45720" rIns="91440" bIns="45720" rtlCol="0" anchor="t">
            <a:noAutofit/>
          </a:bodyPr>
          <a:lstStyle/>
          <a:p>
            <a:pPr marL="0" indent="0">
              <a:buNone/>
            </a:pPr>
            <a:endParaRPr lang="en-US" sz="2600">
              <a:latin typeface="Times New Roman"/>
              <a:ea typeface="+mn-lt"/>
              <a:cs typeface="+mn-lt"/>
            </a:endParaRPr>
          </a:p>
          <a:p>
            <a:r>
              <a:rPr lang="en-US" sz="2600">
                <a:latin typeface="Times New Roman"/>
                <a:ea typeface="+mn-lt"/>
                <a:cs typeface="+mn-lt"/>
              </a:rPr>
              <a:t>Existing Python Codebase in </a:t>
            </a:r>
            <a:r>
              <a:rPr lang="en-US" sz="2600" b="1">
                <a:solidFill>
                  <a:schemeClr val="tx2">
                    <a:lumMod val="90000"/>
                    <a:lumOff val="10000"/>
                  </a:schemeClr>
                </a:solidFill>
                <a:latin typeface="Times New Roman"/>
                <a:ea typeface="+mn-lt"/>
                <a:cs typeface="+mn-lt"/>
              </a:rPr>
              <a:t>GitHub</a:t>
            </a:r>
            <a:endParaRPr lang="en-US" sz="2600" b="1">
              <a:solidFill>
                <a:schemeClr val="tx2">
                  <a:lumMod val="90000"/>
                  <a:lumOff val="10000"/>
                </a:schemeClr>
              </a:solidFill>
              <a:latin typeface="Times New Roman"/>
              <a:cs typeface="Times New Roman"/>
            </a:endParaRPr>
          </a:p>
          <a:p>
            <a:r>
              <a:rPr lang="en-US" sz="2600" b="1">
                <a:solidFill>
                  <a:schemeClr val="tx2">
                    <a:lumMod val="90000"/>
                    <a:lumOff val="10000"/>
                  </a:schemeClr>
                </a:solidFill>
                <a:latin typeface="Times New Roman"/>
                <a:ea typeface="+mn-lt"/>
                <a:cs typeface="+mn-lt"/>
              </a:rPr>
              <a:t>MATLAB </a:t>
            </a:r>
            <a:r>
              <a:rPr lang="en-US" sz="2600">
                <a:latin typeface="Times New Roman"/>
                <a:ea typeface="+mn-lt"/>
                <a:cs typeface="+mn-lt"/>
              </a:rPr>
              <a:t>Contributions by Sponsor</a:t>
            </a:r>
            <a:endParaRPr lang="en-US">
              <a:latin typeface="Times New Roman"/>
              <a:cs typeface="Times New Roman"/>
            </a:endParaRPr>
          </a:p>
          <a:p>
            <a:r>
              <a:rPr lang="en-US" sz="2600">
                <a:latin typeface="Times New Roman"/>
                <a:ea typeface="+mn-lt"/>
                <a:cs typeface="+mn-lt"/>
              </a:rPr>
              <a:t>Published Research on Genetic Algorithms</a:t>
            </a:r>
            <a:endParaRPr lang="en-US">
              <a:latin typeface="Times New Roman"/>
            </a:endParaRPr>
          </a:p>
          <a:p>
            <a:endParaRPr lang="en-US" sz="2200">
              <a:latin typeface="Times New Roman"/>
              <a:cs typeface="Times New Roman"/>
            </a:endParaRPr>
          </a:p>
        </p:txBody>
      </p:sp>
      <p:pic>
        <p:nvPicPr>
          <p:cNvPr id="4" name="Picture 3" descr="GitHub Logo and symbol, meaning, history, PNG, brand">
            <a:extLst>
              <a:ext uri="{FF2B5EF4-FFF2-40B4-BE49-F238E27FC236}">
                <a16:creationId xmlns:a16="http://schemas.microsoft.com/office/drawing/2014/main" id="{852F1E22-5EC0-080D-B05B-A9481842C393}"/>
              </a:ext>
            </a:extLst>
          </p:cNvPr>
          <p:cNvPicPr>
            <a:picLocks noChangeAspect="1"/>
          </p:cNvPicPr>
          <p:nvPr/>
        </p:nvPicPr>
        <p:blipFill>
          <a:blip r:embed="rId2"/>
          <a:stretch>
            <a:fillRect/>
          </a:stretch>
        </p:blipFill>
        <p:spPr>
          <a:xfrm>
            <a:off x="7784232" y="2678166"/>
            <a:ext cx="2679523" cy="1505698"/>
          </a:xfrm>
          <a:prstGeom prst="rect">
            <a:avLst/>
          </a:prstGeom>
        </p:spPr>
      </p:pic>
      <p:pic>
        <p:nvPicPr>
          <p:cNvPr id="6" name="Picture 5" descr="File:Matlab Logo.png">
            <a:extLst>
              <a:ext uri="{FF2B5EF4-FFF2-40B4-BE49-F238E27FC236}">
                <a16:creationId xmlns:a16="http://schemas.microsoft.com/office/drawing/2014/main" id="{121E1893-F923-A12E-DB84-72A37DBFBE78}"/>
              </a:ext>
            </a:extLst>
          </p:cNvPr>
          <p:cNvPicPr>
            <a:picLocks noChangeAspect="1"/>
          </p:cNvPicPr>
          <p:nvPr/>
        </p:nvPicPr>
        <p:blipFill>
          <a:blip r:embed="rId3"/>
          <a:stretch>
            <a:fillRect/>
          </a:stretch>
        </p:blipFill>
        <p:spPr>
          <a:xfrm>
            <a:off x="6436428" y="4486151"/>
            <a:ext cx="1750291" cy="1554403"/>
          </a:xfrm>
          <a:prstGeom prst="rect">
            <a:avLst/>
          </a:prstGeom>
        </p:spPr>
      </p:pic>
      <p:pic>
        <p:nvPicPr>
          <p:cNvPr id="7" name="Picture 6" descr="A logo with pink letters&#10;&#10;Description automatically generated">
            <a:extLst>
              <a:ext uri="{FF2B5EF4-FFF2-40B4-BE49-F238E27FC236}">
                <a16:creationId xmlns:a16="http://schemas.microsoft.com/office/drawing/2014/main" id="{7FABBCDA-5CC9-6505-0A20-B07362E33180}"/>
              </a:ext>
            </a:extLst>
          </p:cNvPr>
          <p:cNvPicPr>
            <a:picLocks noChangeAspect="1"/>
          </p:cNvPicPr>
          <p:nvPr/>
        </p:nvPicPr>
        <p:blipFill>
          <a:blip r:embed="rId4"/>
          <a:stretch>
            <a:fillRect/>
          </a:stretch>
        </p:blipFill>
        <p:spPr>
          <a:xfrm>
            <a:off x="9124270" y="5062263"/>
            <a:ext cx="2729001" cy="678721"/>
          </a:xfrm>
          <a:prstGeom prst="rect">
            <a:avLst/>
          </a:prstGeom>
        </p:spPr>
      </p:pic>
    </p:spTree>
    <p:extLst>
      <p:ext uri="{BB962C8B-B14F-4D97-AF65-F5344CB8AC3E}">
        <p14:creationId xmlns:p14="http://schemas.microsoft.com/office/powerpoint/2010/main" val="3393607243"/>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B0B6-F98E-51B4-53CA-D19A01F390D9}"/>
              </a:ext>
            </a:extLst>
          </p:cNvPr>
          <p:cNvSpPr>
            <a:spLocks noGrp="1"/>
          </p:cNvSpPr>
          <p:nvPr>
            <p:ph type="title"/>
          </p:nvPr>
        </p:nvSpPr>
        <p:spPr>
          <a:xfrm>
            <a:off x="748145" y="1936558"/>
            <a:ext cx="10515600" cy="2988108"/>
          </a:xfrm>
        </p:spPr>
        <p:txBody>
          <a:bodyPr>
            <a:noAutofit/>
          </a:bodyPr>
          <a:lstStyle/>
          <a:p>
            <a:pPr algn="ctr"/>
            <a:r>
              <a:rPr lang="en-US" sz="4800" b="1">
                <a:latin typeface="Times New Roman"/>
                <a:cs typeface="Times New Roman"/>
              </a:rPr>
              <a:t>Objective: Optimize Mutli-Layer Radiation Absorbing Materials </a:t>
            </a:r>
            <a:br>
              <a:rPr lang="en-US" sz="4800" b="1">
                <a:latin typeface="Times New Roman"/>
                <a:cs typeface="Times New Roman"/>
              </a:rPr>
            </a:br>
            <a:r>
              <a:rPr lang="en-US" sz="4800" b="1">
                <a:latin typeface="Times New Roman"/>
                <a:cs typeface="Times New Roman"/>
              </a:rPr>
              <a:t>Using Algorithms</a:t>
            </a:r>
          </a:p>
        </p:txBody>
      </p:sp>
    </p:spTree>
    <p:extLst>
      <p:ext uri="{BB962C8B-B14F-4D97-AF65-F5344CB8AC3E}">
        <p14:creationId xmlns:p14="http://schemas.microsoft.com/office/powerpoint/2010/main" val="1904619650"/>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A1FB42E-407A-04D9-D628-1700BF1889E5}"/>
              </a:ext>
            </a:extLst>
          </p:cNvPr>
          <p:cNvSpPr/>
          <p:nvPr/>
        </p:nvSpPr>
        <p:spPr>
          <a:xfrm>
            <a:off x="404797" y="324546"/>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Rectangle 3">
            <a:extLst>
              <a:ext uri="{FF2B5EF4-FFF2-40B4-BE49-F238E27FC236}">
                <a16:creationId xmlns:a16="http://schemas.microsoft.com/office/drawing/2014/main" id="{89F3BEB2-6BE9-C9BB-C9F1-F0B8112B7ADD}"/>
              </a:ext>
            </a:extLst>
          </p:cNvPr>
          <p:cNvSpPr/>
          <p:nvPr/>
        </p:nvSpPr>
        <p:spPr>
          <a:xfrm>
            <a:off x="412694" y="3686280"/>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 name="Rectangle 3">
            <a:extLst>
              <a:ext uri="{FF2B5EF4-FFF2-40B4-BE49-F238E27FC236}">
                <a16:creationId xmlns:a16="http://schemas.microsoft.com/office/drawing/2014/main" id="{E6F1A5CB-68E0-D19C-6F71-2C5EEDBA0B6B}"/>
              </a:ext>
            </a:extLst>
          </p:cNvPr>
          <p:cNvSpPr/>
          <p:nvPr/>
        </p:nvSpPr>
        <p:spPr>
          <a:xfrm>
            <a:off x="6877400" y="327076"/>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7" name="Rectangle 3">
            <a:extLst>
              <a:ext uri="{FF2B5EF4-FFF2-40B4-BE49-F238E27FC236}">
                <a16:creationId xmlns:a16="http://schemas.microsoft.com/office/drawing/2014/main" id="{CE1F2267-065C-D229-D662-CF045D4E616F}"/>
              </a:ext>
            </a:extLst>
          </p:cNvPr>
          <p:cNvSpPr/>
          <p:nvPr/>
        </p:nvSpPr>
        <p:spPr>
          <a:xfrm>
            <a:off x="6889496" y="3686282"/>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 name="TextBox 1">
            <a:extLst>
              <a:ext uri="{FF2B5EF4-FFF2-40B4-BE49-F238E27FC236}">
                <a16:creationId xmlns:a16="http://schemas.microsoft.com/office/drawing/2014/main" id="{EFC1A7A7-DE9A-F855-28A4-9214BE88ACC4}"/>
              </a:ext>
            </a:extLst>
          </p:cNvPr>
          <p:cNvSpPr txBox="1"/>
          <p:nvPr/>
        </p:nvSpPr>
        <p:spPr>
          <a:xfrm>
            <a:off x="5143287" y="3012217"/>
            <a:ext cx="19011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Requirements </a:t>
            </a:r>
          </a:p>
          <a:p>
            <a:pPr algn="ctr"/>
            <a:r>
              <a:rPr lang="en-US" sz="2000" b="1">
                <a:latin typeface="Times New Roman"/>
                <a:cs typeface="Times New Roman"/>
              </a:rPr>
              <a:t>&amp;</a:t>
            </a:r>
          </a:p>
          <a:p>
            <a:pPr algn="ctr"/>
            <a:r>
              <a:rPr lang="en-US" sz="2000" b="1">
                <a:latin typeface="Times New Roman"/>
                <a:cs typeface="Times New Roman"/>
              </a:rPr>
              <a:t>Specifications</a:t>
            </a:r>
          </a:p>
        </p:txBody>
      </p:sp>
      <p:sp>
        <p:nvSpPr>
          <p:cNvPr id="5" name="TextBox 4">
            <a:extLst>
              <a:ext uri="{FF2B5EF4-FFF2-40B4-BE49-F238E27FC236}">
                <a16:creationId xmlns:a16="http://schemas.microsoft.com/office/drawing/2014/main" id="{FD120BF7-EF2B-796B-35A9-4BBBB39F1206}"/>
              </a:ext>
            </a:extLst>
          </p:cNvPr>
          <p:cNvSpPr txBox="1"/>
          <p:nvPr/>
        </p:nvSpPr>
        <p:spPr>
          <a:xfrm>
            <a:off x="6956257" y="3877249"/>
            <a:ext cx="4878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Efficiently Execute </a:t>
            </a:r>
            <a:endParaRPr lang="en-US"/>
          </a:p>
          <a:p>
            <a:pPr algn="ctr"/>
            <a:r>
              <a:rPr lang="en-US" sz="2000" b="1">
                <a:latin typeface="Times New Roman"/>
                <a:cs typeface="Times New Roman"/>
              </a:rPr>
              <a:t>MATLAB &amp; Python Scripts </a:t>
            </a:r>
            <a:endParaRPr lang="en-US"/>
          </a:p>
        </p:txBody>
      </p:sp>
      <p:sp>
        <p:nvSpPr>
          <p:cNvPr id="6" name="TextBox 5">
            <a:extLst>
              <a:ext uri="{FF2B5EF4-FFF2-40B4-BE49-F238E27FC236}">
                <a16:creationId xmlns:a16="http://schemas.microsoft.com/office/drawing/2014/main" id="{C4762174-CFA1-2FF4-9DE7-5E05237D1F5E}"/>
              </a:ext>
            </a:extLst>
          </p:cNvPr>
          <p:cNvSpPr txBox="1"/>
          <p:nvPr/>
        </p:nvSpPr>
        <p:spPr>
          <a:xfrm>
            <a:off x="6723654" y="4736372"/>
            <a:ext cx="524083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Vectorize FOR Loops</a:t>
            </a:r>
          </a:p>
          <a:p>
            <a:pPr marL="285750" indent="-285750" algn="ctr">
              <a:buFont typeface="Arial"/>
              <a:buChar char="•"/>
            </a:pPr>
            <a:r>
              <a:rPr lang="en-US" sz="2000">
                <a:latin typeface="Times New Roman"/>
                <a:cs typeface="Times New Roman"/>
              </a:rPr>
              <a:t>Genetic </a:t>
            </a:r>
            <a:r>
              <a:rPr lang="en-US" sz="2000">
                <a:solidFill>
                  <a:srgbClr val="000000"/>
                </a:solidFill>
                <a:latin typeface="Times New Roman"/>
                <a:cs typeface="Times New Roman"/>
              </a:rPr>
              <a:t>Algorithm</a:t>
            </a:r>
            <a:r>
              <a:rPr lang="en-US" sz="2000">
                <a:latin typeface="Times New Roman"/>
                <a:cs typeface="Times New Roman"/>
              </a:rPr>
              <a:t> (GA)</a:t>
            </a:r>
          </a:p>
          <a:p>
            <a:pPr marL="285750" indent="-285750" algn="ctr">
              <a:buFont typeface="Arial"/>
              <a:buChar char="•"/>
            </a:pPr>
            <a:r>
              <a:rPr lang="en-US" sz="2000">
                <a:latin typeface="Times New Roman"/>
                <a:cs typeface="Times New Roman"/>
              </a:rPr>
              <a:t>Bayesian Optimization</a:t>
            </a:r>
          </a:p>
        </p:txBody>
      </p:sp>
      <p:sp>
        <p:nvSpPr>
          <p:cNvPr id="7" name="TextBox 6">
            <a:extLst>
              <a:ext uri="{FF2B5EF4-FFF2-40B4-BE49-F238E27FC236}">
                <a16:creationId xmlns:a16="http://schemas.microsoft.com/office/drawing/2014/main" id="{124843C7-243F-BCFC-CBED-C1C3041DE355}"/>
              </a:ext>
            </a:extLst>
          </p:cNvPr>
          <p:cNvSpPr txBox="1"/>
          <p:nvPr/>
        </p:nvSpPr>
        <p:spPr>
          <a:xfrm>
            <a:off x="6871478" y="641871"/>
            <a:ext cx="4878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ea typeface="+mn-lt"/>
                <a:cs typeface="+mn-lt"/>
              </a:rPr>
              <a:t>The Material Must be Thin and Easy to Manufacture</a:t>
            </a:r>
            <a:endParaRPr lang="en-US" b="1">
              <a:latin typeface="Times New Roman"/>
              <a:ea typeface="+mn-lt"/>
              <a:cs typeface="+mn-lt"/>
            </a:endParaRPr>
          </a:p>
        </p:txBody>
      </p:sp>
      <p:sp>
        <p:nvSpPr>
          <p:cNvPr id="9" name="TextBox 8">
            <a:extLst>
              <a:ext uri="{FF2B5EF4-FFF2-40B4-BE49-F238E27FC236}">
                <a16:creationId xmlns:a16="http://schemas.microsoft.com/office/drawing/2014/main" id="{71247ECD-D568-0E66-6B78-B68DEF161D74}"/>
              </a:ext>
            </a:extLst>
          </p:cNvPr>
          <p:cNvSpPr txBox="1"/>
          <p:nvPr/>
        </p:nvSpPr>
        <p:spPr>
          <a:xfrm>
            <a:off x="6713071" y="1399473"/>
            <a:ext cx="524083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Maximum of 5 material thick </a:t>
            </a:r>
          </a:p>
          <a:p>
            <a:pPr marL="285750" indent="-285750" algn="ctr">
              <a:buFont typeface="Arial"/>
              <a:buChar char="•"/>
            </a:pPr>
            <a:r>
              <a:rPr lang="en-US" sz="2000">
                <a:latin typeface="Times New Roman"/>
                <a:cs typeface="Times New Roman"/>
              </a:rPr>
              <a:t>Total material thickness &lt; 7 mm</a:t>
            </a:r>
          </a:p>
        </p:txBody>
      </p:sp>
      <p:sp>
        <p:nvSpPr>
          <p:cNvPr id="12" name="TextBox 11">
            <a:extLst>
              <a:ext uri="{FF2B5EF4-FFF2-40B4-BE49-F238E27FC236}">
                <a16:creationId xmlns:a16="http://schemas.microsoft.com/office/drawing/2014/main" id="{B0A309AE-28BD-4D4A-3E5E-31232AA0734F}"/>
              </a:ext>
            </a:extLst>
          </p:cNvPr>
          <p:cNvSpPr txBox="1"/>
          <p:nvPr/>
        </p:nvSpPr>
        <p:spPr>
          <a:xfrm>
            <a:off x="370288" y="3830477"/>
            <a:ext cx="487826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Minimize Total Radar Reflection</a:t>
            </a:r>
          </a:p>
        </p:txBody>
      </p:sp>
      <p:sp>
        <p:nvSpPr>
          <p:cNvPr id="13" name="TextBox 12">
            <a:extLst>
              <a:ext uri="{FF2B5EF4-FFF2-40B4-BE49-F238E27FC236}">
                <a16:creationId xmlns:a16="http://schemas.microsoft.com/office/drawing/2014/main" id="{820B1F84-F390-1A2C-43CF-B6BCD9367E7A}"/>
              </a:ext>
            </a:extLst>
          </p:cNvPr>
          <p:cNvSpPr txBox="1"/>
          <p:nvPr/>
        </p:nvSpPr>
        <p:spPr>
          <a:xfrm>
            <a:off x="532686" y="4558822"/>
            <a:ext cx="465527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Keep reflection of broad-band frequencies under –30 dB</a:t>
            </a:r>
          </a:p>
        </p:txBody>
      </p:sp>
      <p:sp>
        <p:nvSpPr>
          <p:cNvPr id="14" name="TextBox 13">
            <a:extLst>
              <a:ext uri="{FF2B5EF4-FFF2-40B4-BE49-F238E27FC236}">
                <a16:creationId xmlns:a16="http://schemas.microsoft.com/office/drawing/2014/main" id="{5CBB8035-FE3B-2464-41A9-7804F3082068}"/>
              </a:ext>
            </a:extLst>
          </p:cNvPr>
          <p:cNvSpPr txBox="1"/>
          <p:nvPr/>
        </p:nvSpPr>
        <p:spPr>
          <a:xfrm>
            <a:off x="307716" y="632574"/>
            <a:ext cx="4878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Make a Template for ARL to Import Materials</a:t>
            </a:r>
          </a:p>
        </p:txBody>
      </p:sp>
      <p:sp>
        <p:nvSpPr>
          <p:cNvPr id="16" name="TextBox 15">
            <a:extLst>
              <a:ext uri="{FF2B5EF4-FFF2-40B4-BE49-F238E27FC236}">
                <a16:creationId xmlns:a16="http://schemas.microsoft.com/office/drawing/2014/main" id="{910AD002-451E-B0D4-C960-C4AA6B7AE61D}"/>
              </a:ext>
            </a:extLst>
          </p:cNvPr>
          <p:cNvSpPr txBox="1"/>
          <p:nvPr/>
        </p:nvSpPr>
        <p:spPr>
          <a:xfrm>
            <a:off x="408069" y="1260042"/>
            <a:ext cx="492031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Import 16 fictious materials </a:t>
            </a:r>
          </a:p>
          <a:p>
            <a:pPr marL="285750" indent="-285750" algn="ctr">
              <a:buFont typeface="Arial"/>
              <a:buChar char="•"/>
            </a:pPr>
            <a:r>
              <a:rPr lang="en-US" sz="2000">
                <a:latin typeface="Times New Roman"/>
                <a:cs typeface="Times New Roman"/>
              </a:rPr>
              <a:t>Create air and PEC layers surrounding material</a:t>
            </a:r>
          </a:p>
        </p:txBody>
      </p:sp>
      <p:pic>
        <p:nvPicPr>
          <p:cNvPr id="20" name="Picture 19" descr="Circle - Free arrows icons">
            <a:extLst>
              <a:ext uri="{FF2B5EF4-FFF2-40B4-BE49-F238E27FC236}">
                <a16:creationId xmlns:a16="http://schemas.microsoft.com/office/drawing/2014/main" id="{6F3903F9-A74B-CDAF-8D4A-5486FF0B5169}"/>
              </a:ext>
            </a:extLst>
          </p:cNvPr>
          <p:cNvPicPr>
            <a:picLocks noChangeAspect="1"/>
          </p:cNvPicPr>
          <p:nvPr/>
        </p:nvPicPr>
        <p:blipFill>
          <a:blip r:embed="rId2">
            <a:alphaModFix/>
            <a:extLst>
              <a:ext uri="{BEBA8EAE-BF5A-486C-A8C5-ECC9F3942E4B}">
                <a14:imgProps xmlns:a14="http://schemas.microsoft.com/office/drawing/2010/main">
                  <a14:imgLayer r:embed="rId3">
                    <a14:imgEffect>
                      <a14:saturation sat="73000"/>
                    </a14:imgEffect>
                    <a14:imgEffect>
                      <a14:brightnessContrast contrast="-29000"/>
                    </a14:imgEffect>
                  </a14:imgLayer>
                </a14:imgProps>
              </a:ext>
            </a:extLst>
          </a:blip>
          <a:stretch>
            <a:fillRect/>
          </a:stretch>
        </p:blipFill>
        <p:spPr>
          <a:xfrm rot="1980000">
            <a:off x="4268735" y="1607453"/>
            <a:ext cx="3650672" cy="3643745"/>
          </a:xfrm>
          <a:prstGeom prst="rect">
            <a:avLst/>
          </a:prstGeom>
        </p:spPr>
      </p:pic>
    </p:spTree>
    <p:extLst>
      <p:ext uri="{BB962C8B-B14F-4D97-AF65-F5344CB8AC3E}">
        <p14:creationId xmlns:p14="http://schemas.microsoft.com/office/powerpoint/2010/main" val="1660423480"/>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diagram of layers of material&#10;&#10;Description automatically generated">
            <a:extLst>
              <a:ext uri="{FF2B5EF4-FFF2-40B4-BE49-F238E27FC236}">
                <a16:creationId xmlns:a16="http://schemas.microsoft.com/office/drawing/2014/main" id="{28505E47-6041-7A43-7DC6-D8BB11D15E78}"/>
              </a:ext>
            </a:extLst>
          </p:cNvPr>
          <p:cNvPicPr>
            <a:picLocks noChangeAspect="1"/>
          </p:cNvPicPr>
          <p:nvPr/>
        </p:nvPicPr>
        <p:blipFill>
          <a:blip r:embed="rId2"/>
          <a:srcRect t="523" r="2545" b="1715"/>
          <a:stretch/>
        </p:blipFill>
        <p:spPr>
          <a:xfrm>
            <a:off x="5812207" y="3178827"/>
            <a:ext cx="4923388" cy="2670511"/>
          </a:xfrm>
          <a:prstGeom prst="rect">
            <a:avLst/>
          </a:prstGeom>
          <a:ln>
            <a:solidFill>
              <a:schemeClr val="tx2">
                <a:lumMod val="10000"/>
                <a:lumOff val="90000"/>
              </a:schemeClr>
            </a:solidFill>
          </a:ln>
        </p:spPr>
      </p:pic>
      <p:pic>
        <p:nvPicPr>
          <p:cNvPr id="5" name="Picture 4" descr="A table with numbers and symbols&#10;&#10;Description automatically generated">
            <a:extLst>
              <a:ext uri="{FF2B5EF4-FFF2-40B4-BE49-F238E27FC236}">
                <a16:creationId xmlns:a16="http://schemas.microsoft.com/office/drawing/2014/main" id="{5B6A1230-AC17-12DD-7253-7687B6A3B10D}"/>
              </a:ext>
            </a:extLst>
          </p:cNvPr>
          <p:cNvPicPr>
            <a:picLocks noChangeAspect="1"/>
          </p:cNvPicPr>
          <p:nvPr/>
        </p:nvPicPr>
        <p:blipFill>
          <a:blip r:embed="rId3"/>
          <a:stretch>
            <a:fillRect/>
          </a:stretch>
        </p:blipFill>
        <p:spPr>
          <a:xfrm>
            <a:off x="1967691" y="3590925"/>
            <a:ext cx="3560795" cy="2505075"/>
          </a:xfrm>
          <a:prstGeom prst="rect">
            <a:avLst/>
          </a:prstGeom>
        </p:spPr>
      </p:pic>
      <p:sp>
        <p:nvSpPr>
          <p:cNvPr id="14" name="TextBox 13">
            <a:extLst>
              <a:ext uri="{FF2B5EF4-FFF2-40B4-BE49-F238E27FC236}">
                <a16:creationId xmlns:a16="http://schemas.microsoft.com/office/drawing/2014/main" id="{A98D5572-A305-FF64-7BD6-9DE152E0C485}"/>
              </a:ext>
            </a:extLst>
          </p:cNvPr>
          <p:cNvSpPr txBox="1"/>
          <p:nvPr/>
        </p:nvSpPr>
        <p:spPr>
          <a:xfrm>
            <a:off x="1969041" y="3170203"/>
            <a:ext cx="3570273"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300" b="1">
                <a:latin typeface="Times New Roman"/>
                <a:cs typeface="Times New Roman"/>
              </a:rPr>
              <a:t>Relative </a:t>
            </a:r>
            <a:r>
              <a:rPr lang="en-US" sz="1300" b="1" err="1">
                <a:latin typeface="Times New Roman"/>
                <a:cs typeface="Times New Roman"/>
              </a:rPr>
              <a:t>Permitivities</a:t>
            </a:r>
            <a:r>
              <a:rPr lang="en-US" sz="1300" b="1">
                <a:latin typeface="Times New Roman"/>
                <a:cs typeface="Times New Roman"/>
              </a:rPr>
              <a:t> and Permeabilities </a:t>
            </a:r>
            <a:endParaRPr lang="en-US" sz="1300" b="1">
              <a:latin typeface="Aptos" panose="020B0004020202020204"/>
              <a:cs typeface="Times New Roman"/>
            </a:endParaRPr>
          </a:p>
          <a:p>
            <a:pPr algn="ctr"/>
            <a:r>
              <a:rPr lang="en-US" sz="1300" b="1">
                <a:latin typeface="Times New Roman"/>
                <a:cs typeface="Times New Roman"/>
              </a:rPr>
              <a:t>of the Materials in the Database</a:t>
            </a:r>
            <a:endParaRPr lang="en-US" sz="1300" b="1"/>
          </a:p>
        </p:txBody>
      </p:sp>
    </p:spTree>
    <p:extLst>
      <p:ext uri="{BB962C8B-B14F-4D97-AF65-F5344CB8AC3E}">
        <p14:creationId xmlns:p14="http://schemas.microsoft.com/office/powerpoint/2010/main" val="34103948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The Material Must be Thin and Easy to Manufacture</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buFont typeface="Arial"/>
              <a:buChar char="•"/>
            </a:pPr>
            <a:r>
              <a:rPr lang="en-US" sz="2600">
                <a:latin typeface="Times New Roman"/>
                <a:cs typeface="Times New Roman"/>
              </a:rPr>
              <a:t>   Maximum of 5 materials thick</a:t>
            </a:r>
          </a:p>
          <a:p>
            <a:pPr marL="285750" indent="-285750" algn="ctr">
              <a:buFont typeface="Arial,Sans-Serif"/>
              <a:buChar char="•"/>
            </a:pPr>
            <a:r>
              <a:rPr lang="en-US" sz="2600">
                <a:latin typeface="Times New Roman"/>
                <a:cs typeface="Times New Roman"/>
              </a:rPr>
              <a:t>Total material thickness &lt; 7 mm</a:t>
            </a:r>
          </a:p>
          <a:p>
            <a:pPr marL="285750" indent="-285750" algn="ctr">
              <a:buFont typeface="Arial"/>
              <a:buChar char="•"/>
            </a:pPr>
            <a:endParaRPr lang="en-US" sz="2600">
              <a:latin typeface="Times New Roman"/>
              <a:cs typeface="Times New Roman"/>
            </a:endParaRPr>
          </a:p>
        </p:txBody>
      </p:sp>
      <p:pic>
        <p:nvPicPr>
          <p:cNvPr id="3" name="Picture 2" descr="A diagram of layers of material&#10;&#10;Description automatically generated">
            <a:extLst>
              <a:ext uri="{FF2B5EF4-FFF2-40B4-BE49-F238E27FC236}">
                <a16:creationId xmlns:a16="http://schemas.microsoft.com/office/drawing/2014/main" id="{303FA355-9512-FF1D-203B-6C99CF4E246A}"/>
              </a:ext>
            </a:extLst>
          </p:cNvPr>
          <p:cNvPicPr>
            <a:picLocks noChangeAspect="1"/>
          </p:cNvPicPr>
          <p:nvPr/>
        </p:nvPicPr>
        <p:blipFill>
          <a:blip r:embed="rId2"/>
          <a:srcRect t="436" r="1413" b="-199"/>
          <a:stretch/>
        </p:blipFill>
        <p:spPr>
          <a:xfrm>
            <a:off x="3386996" y="3078816"/>
            <a:ext cx="5459009" cy="3018221"/>
          </a:xfrm>
          <a:prstGeom prst="rect">
            <a:avLst/>
          </a:prstGeom>
          <a:ln>
            <a:solidFill>
              <a:schemeClr val="tx2">
                <a:lumMod val="10000"/>
                <a:lumOff val="90000"/>
              </a:schemeClr>
            </a:solidFill>
          </a:ln>
        </p:spPr>
      </p:pic>
    </p:spTree>
    <p:extLst>
      <p:ext uri="{BB962C8B-B14F-4D97-AF65-F5344CB8AC3E}">
        <p14:creationId xmlns:p14="http://schemas.microsoft.com/office/powerpoint/2010/main" val="1981213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Minimize Total Radar Reflection</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2386" y="1860024"/>
            <a:ext cx="969008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Sans-Serif"/>
              <a:buChar char="•"/>
            </a:pPr>
            <a:r>
              <a:rPr lang="en-US" sz="2600">
                <a:latin typeface="Times New Roman"/>
                <a:cs typeface="Times New Roman"/>
              </a:rPr>
              <a:t>Keep reflection of broad-band frequencies under –30 dB</a:t>
            </a:r>
            <a:endParaRPr lang="en-US" sz="2600"/>
          </a:p>
          <a:p>
            <a:pPr algn="ctr">
              <a:buFont typeface="Arial,Sans-Serif"/>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pic>
        <p:nvPicPr>
          <p:cNvPr id="5" name="Picture 4" descr="A diagram of a ram structure&#10;&#10;Description automatically generated">
            <a:extLst>
              <a:ext uri="{FF2B5EF4-FFF2-40B4-BE49-F238E27FC236}">
                <a16:creationId xmlns:a16="http://schemas.microsoft.com/office/drawing/2014/main" id="{B530CC8E-FAC0-28EA-B191-B097A48C777D}"/>
              </a:ext>
            </a:extLst>
          </p:cNvPr>
          <p:cNvPicPr>
            <a:picLocks noChangeAspect="1"/>
          </p:cNvPicPr>
          <p:nvPr/>
        </p:nvPicPr>
        <p:blipFill>
          <a:blip r:embed="rId2"/>
          <a:stretch>
            <a:fillRect/>
          </a:stretch>
        </p:blipFill>
        <p:spPr>
          <a:xfrm>
            <a:off x="3838240" y="2589589"/>
            <a:ext cx="4542098" cy="3532722"/>
          </a:xfrm>
          <a:prstGeom prst="rect">
            <a:avLst/>
          </a:prstGeom>
        </p:spPr>
      </p:pic>
      <p:sp>
        <p:nvSpPr>
          <p:cNvPr id="7" name="Oval 6">
            <a:extLst>
              <a:ext uri="{FF2B5EF4-FFF2-40B4-BE49-F238E27FC236}">
                <a16:creationId xmlns:a16="http://schemas.microsoft.com/office/drawing/2014/main" id="{237AF5E3-0A91-E51F-AC92-B4C7AFB59281}"/>
              </a:ext>
            </a:extLst>
          </p:cNvPr>
          <p:cNvSpPr/>
          <p:nvPr/>
        </p:nvSpPr>
        <p:spPr>
          <a:xfrm>
            <a:off x="3970527" y="2944128"/>
            <a:ext cx="454572" cy="415159"/>
          </a:xfrm>
          <a:prstGeom prst="ellipse">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34E41A85-BB87-A10A-8844-D753AC81BABF}"/>
              </a:ext>
            </a:extLst>
          </p:cNvPr>
          <p:cNvSpPr/>
          <p:nvPr/>
        </p:nvSpPr>
        <p:spPr>
          <a:xfrm>
            <a:off x="2866532" y="2947411"/>
            <a:ext cx="814182" cy="445220"/>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7993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Efficiently Execute </a:t>
            </a:r>
            <a:endParaRPr lang="en-US" sz="3600">
              <a:latin typeface="Times New Roman"/>
              <a:cs typeface="Times New Roman"/>
            </a:endParaRPr>
          </a:p>
          <a:p>
            <a:pPr algn="ctr"/>
            <a:r>
              <a:rPr lang="en-US" sz="3600" b="1">
                <a:latin typeface="Times New Roman"/>
                <a:cs typeface="Times New Roman"/>
              </a:rPr>
              <a:t>MATLAB &amp; Python Scripts</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Font typeface="Arial"/>
              <a:buChar char="•"/>
            </a:pPr>
            <a:r>
              <a:rPr lang="en-US" sz="2600">
                <a:latin typeface="Times New Roman"/>
                <a:cs typeface="Times New Roman"/>
              </a:rPr>
              <a:t>Vectorize FOR Loops</a:t>
            </a:r>
          </a:p>
          <a:p>
            <a:pPr marL="285750" indent="-285750" algn="ctr">
              <a:buFont typeface="Arial"/>
              <a:buChar char="•"/>
            </a:pPr>
            <a:r>
              <a:rPr lang="en-US" sz="2600">
                <a:latin typeface="Times New Roman"/>
                <a:cs typeface="Times New Roman"/>
              </a:rPr>
              <a:t>Genetic Algorithm (GA)</a:t>
            </a:r>
          </a:p>
          <a:p>
            <a:pPr marL="285750" indent="-285750" algn="ctr">
              <a:buFont typeface="Arial"/>
              <a:buChar char="•"/>
            </a:pPr>
            <a:r>
              <a:rPr lang="en-US" sz="2600">
                <a:latin typeface="Times New Roman"/>
                <a:cs typeface="Times New Roman"/>
              </a:rPr>
              <a:t>Bayesian Optimization</a:t>
            </a:r>
          </a:p>
          <a:p>
            <a:pPr algn="ctr"/>
            <a:endParaRPr lang="en-US">
              <a:latin typeface="Times New Roman"/>
              <a:cs typeface="Times New Roman"/>
            </a:endParaRPr>
          </a:p>
          <a:p>
            <a:pPr algn="ctr">
              <a:buFont typeface="Arial"/>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pic>
        <p:nvPicPr>
          <p:cNvPr id="4" name="Picture 3" descr="File:Matlab Logo.png">
            <a:extLst>
              <a:ext uri="{FF2B5EF4-FFF2-40B4-BE49-F238E27FC236}">
                <a16:creationId xmlns:a16="http://schemas.microsoft.com/office/drawing/2014/main" id="{C8D2FFBB-2288-2D81-A914-A5FE0DD934CF}"/>
              </a:ext>
            </a:extLst>
          </p:cNvPr>
          <p:cNvPicPr>
            <a:picLocks noChangeAspect="1"/>
          </p:cNvPicPr>
          <p:nvPr/>
        </p:nvPicPr>
        <p:blipFill>
          <a:blip r:embed="rId2"/>
          <a:stretch>
            <a:fillRect/>
          </a:stretch>
        </p:blipFill>
        <p:spPr>
          <a:xfrm>
            <a:off x="3624910" y="3921220"/>
            <a:ext cx="1921084" cy="1672644"/>
          </a:xfrm>
          <a:prstGeom prst="rect">
            <a:avLst/>
          </a:prstGeom>
        </p:spPr>
      </p:pic>
      <p:pic>
        <p:nvPicPr>
          <p:cNvPr id="5" name="Picture 4" descr="A blue and yellow snake logo&#10;&#10;Description automatically generated">
            <a:extLst>
              <a:ext uri="{FF2B5EF4-FFF2-40B4-BE49-F238E27FC236}">
                <a16:creationId xmlns:a16="http://schemas.microsoft.com/office/drawing/2014/main" id="{74BA84D4-58D1-480E-C83E-8915A486C17B}"/>
              </a:ext>
            </a:extLst>
          </p:cNvPr>
          <p:cNvPicPr>
            <a:picLocks noChangeAspect="1"/>
          </p:cNvPicPr>
          <p:nvPr/>
        </p:nvPicPr>
        <p:blipFill>
          <a:blip r:embed="rId3"/>
          <a:stretch>
            <a:fillRect/>
          </a:stretch>
        </p:blipFill>
        <p:spPr>
          <a:xfrm>
            <a:off x="7014516" y="3922191"/>
            <a:ext cx="1930062" cy="2058716"/>
          </a:xfrm>
          <a:prstGeom prst="rect">
            <a:avLst/>
          </a:prstGeom>
        </p:spPr>
      </p:pic>
    </p:spTree>
    <p:extLst>
      <p:ext uri="{BB962C8B-B14F-4D97-AF65-F5344CB8AC3E}">
        <p14:creationId xmlns:p14="http://schemas.microsoft.com/office/powerpoint/2010/main" val="3092417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8B0B6-F98E-51B4-53CA-D19A01F390D9}"/>
              </a:ext>
            </a:extLst>
          </p:cNvPr>
          <p:cNvSpPr>
            <a:spLocks noGrp="1"/>
          </p:cNvSpPr>
          <p:nvPr>
            <p:ph type="title"/>
          </p:nvPr>
        </p:nvSpPr>
        <p:spPr>
          <a:xfrm>
            <a:off x="748145" y="1936558"/>
            <a:ext cx="10515600" cy="2988108"/>
          </a:xfrm>
        </p:spPr>
        <p:txBody>
          <a:bodyPr>
            <a:noAutofit/>
          </a:bodyPr>
          <a:lstStyle/>
          <a:p>
            <a:pPr algn="ctr"/>
            <a:r>
              <a:rPr lang="en-US" sz="4800" b="1">
                <a:latin typeface="Times New Roman"/>
                <a:cs typeface="Times New Roman"/>
              </a:rPr>
              <a:t>What is the Best Method to Optimize a Multi-Layer Radiation Absorbing Material?</a:t>
            </a:r>
            <a:endParaRPr lang="en-US" sz="4800">
              <a:latin typeface="Times New Roman"/>
              <a:cs typeface="Times New Roman"/>
            </a:endParaRPr>
          </a:p>
          <a:p>
            <a:pPr algn="ctr"/>
            <a:endParaRPr lang="en-US" sz="4800">
              <a:latin typeface="Times New Roman"/>
              <a:cs typeface="Times New Roman"/>
            </a:endParaRPr>
          </a:p>
        </p:txBody>
      </p:sp>
    </p:spTree>
    <p:extLst>
      <p:ext uri="{BB962C8B-B14F-4D97-AF65-F5344CB8AC3E}">
        <p14:creationId xmlns:p14="http://schemas.microsoft.com/office/powerpoint/2010/main" val="1599786444"/>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4AF6-801F-D4B6-8F9E-498C48D5C029}"/>
              </a:ext>
            </a:extLst>
          </p:cNvPr>
          <p:cNvSpPr>
            <a:spLocks noGrp="1"/>
          </p:cNvSpPr>
          <p:nvPr>
            <p:ph type="title"/>
          </p:nvPr>
        </p:nvSpPr>
        <p:spPr/>
        <p:txBody>
          <a:bodyPr>
            <a:normAutofit/>
          </a:bodyPr>
          <a:lstStyle/>
          <a:p>
            <a:pPr algn="ctr"/>
            <a:r>
              <a:rPr lang="en-US" sz="3600">
                <a:latin typeface="Times New Roman"/>
                <a:cs typeface="Times New Roman"/>
              </a:rPr>
              <a:t>A Pugh Chart was Used to Down Select Design Criteria</a:t>
            </a:r>
            <a:endParaRPr lang="en-US"/>
          </a:p>
        </p:txBody>
      </p:sp>
      <p:pic>
        <p:nvPicPr>
          <p:cNvPr id="4" name="Picture 3" descr="A blue and white chart with black text&#10;&#10;Description automatically generated">
            <a:extLst>
              <a:ext uri="{FF2B5EF4-FFF2-40B4-BE49-F238E27FC236}">
                <a16:creationId xmlns:a16="http://schemas.microsoft.com/office/drawing/2014/main" id="{D0FA0EE3-EC44-485A-0102-374740CACB7B}"/>
              </a:ext>
            </a:extLst>
          </p:cNvPr>
          <p:cNvPicPr>
            <a:picLocks noChangeAspect="1"/>
          </p:cNvPicPr>
          <p:nvPr/>
        </p:nvPicPr>
        <p:blipFill>
          <a:blip r:embed="rId2"/>
          <a:srcRect l="6414" t="11065" r="7269" b="7933"/>
          <a:stretch/>
        </p:blipFill>
        <p:spPr>
          <a:xfrm>
            <a:off x="1359799" y="2632767"/>
            <a:ext cx="9950122" cy="2345178"/>
          </a:xfrm>
          <a:prstGeom prst="rect">
            <a:avLst/>
          </a:prstGeom>
        </p:spPr>
      </p:pic>
      <p:sp>
        <p:nvSpPr>
          <p:cNvPr id="3" name="TextBox 2">
            <a:extLst>
              <a:ext uri="{FF2B5EF4-FFF2-40B4-BE49-F238E27FC236}">
                <a16:creationId xmlns:a16="http://schemas.microsoft.com/office/drawing/2014/main" id="{4C05C8A9-B69C-AE74-95D6-B0CA35768A3B}"/>
              </a:ext>
            </a:extLst>
          </p:cNvPr>
          <p:cNvSpPr txBox="1"/>
          <p:nvPr/>
        </p:nvSpPr>
        <p:spPr>
          <a:xfrm>
            <a:off x="1356935" y="2137080"/>
            <a:ext cx="9945911" cy="4924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600" b="1">
                <a:solidFill>
                  <a:schemeClr val="tx2">
                    <a:lumMod val="90000"/>
                    <a:lumOff val="10000"/>
                  </a:schemeClr>
                </a:solidFill>
                <a:latin typeface="Times New Roman"/>
                <a:cs typeface="Times New Roman"/>
              </a:rPr>
              <a:t>Pugh Chart of Preliminary Designs:</a:t>
            </a:r>
            <a:endParaRPr lang="en-US"/>
          </a:p>
        </p:txBody>
      </p:sp>
      <p:sp>
        <p:nvSpPr>
          <p:cNvPr id="6" name="Rectangle: Rounded Corners 5">
            <a:extLst>
              <a:ext uri="{FF2B5EF4-FFF2-40B4-BE49-F238E27FC236}">
                <a16:creationId xmlns:a16="http://schemas.microsoft.com/office/drawing/2014/main" id="{482B499C-C7D1-C3C9-6E05-914A4EA965D5}"/>
              </a:ext>
            </a:extLst>
          </p:cNvPr>
          <p:cNvSpPr/>
          <p:nvPr/>
        </p:nvSpPr>
        <p:spPr>
          <a:xfrm>
            <a:off x="5017170" y="2624458"/>
            <a:ext cx="1916472" cy="2354379"/>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40567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B2911-507E-7C20-E43E-48DB52B6601F}"/>
              </a:ext>
            </a:extLst>
          </p:cNvPr>
          <p:cNvSpPr>
            <a:spLocks noGrp="1"/>
          </p:cNvSpPr>
          <p:nvPr>
            <p:ph type="title"/>
          </p:nvPr>
        </p:nvSpPr>
        <p:spPr>
          <a:xfrm>
            <a:off x="541224" y="732341"/>
            <a:ext cx="10876946" cy="1331611"/>
          </a:xfrm>
        </p:spPr>
        <p:txBody>
          <a:bodyPr>
            <a:normAutofit/>
          </a:bodyPr>
          <a:lstStyle/>
          <a:p>
            <a:pPr algn="ctr"/>
            <a:r>
              <a:rPr lang="en-US" sz="3600">
                <a:latin typeface="Times New Roman"/>
                <a:cs typeface="Times New Roman"/>
              </a:rPr>
              <a:t>A Genetic Algorithm Mimics the Process of </a:t>
            </a:r>
            <a:br>
              <a:rPr lang="en-US" sz="3600">
                <a:latin typeface="Times New Roman"/>
                <a:cs typeface="Times New Roman"/>
              </a:rPr>
            </a:br>
            <a:r>
              <a:rPr lang="en-US" sz="3600">
                <a:latin typeface="Times New Roman"/>
                <a:cs typeface="Times New Roman"/>
              </a:rPr>
              <a:t>Natural Selection to Evolve Solutions</a:t>
            </a:r>
            <a:endParaRPr lang="en-US"/>
          </a:p>
          <a:p>
            <a:endParaRPr lang="en-US" b="1">
              <a:latin typeface="Times New Roman"/>
              <a:cs typeface="Times New Roman"/>
            </a:endParaRPr>
          </a:p>
        </p:txBody>
      </p:sp>
      <p:pic>
        <p:nvPicPr>
          <p:cNvPr id="7" name="Content Placeholder 6" descr="A diagram of different stages of development&#10;&#10;Description automatically generated">
            <a:extLst>
              <a:ext uri="{FF2B5EF4-FFF2-40B4-BE49-F238E27FC236}">
                <a16:creationId xmlns:a16="http://schemas.microsoft.com/office/drawing/2014/main" id="{8263D1A2-AB1F-2F62-1032-D27D8B33C203}"/>
              </a:ext>
            </a:extLst>
          </p:cNvPr>
          <p:cNvPicPr>
            <a:picLocks noGrp="1" noChangeAspect="1"/>
          </p:cNvPicPr>
          <p:nvPr>
            <p:ph idx="1"/>
          </p:nvPr>
        </p:nvPicPr>
        <p:blipFill>
          <a:blip r:embed="rId2"/>
          <a:stretch>
            <a:fillRect/>
          </a:stretch>
        </p:blipFill>
        <p:spPr>
          <a:xfrm>
            <a:off x="1696551" y="2056343"/>
            <a:ext cx="3519162" cy="4652282"/>
          </a:xfrm>
          <a:ln>
            <a:solidFill>
              <a:schemeClr val="bg1"/>
            </a:solidFill>
          </a:ln>
        </p:spPr>
      </p:pic>
      <p:pic>
        <p:nvPicPr>
          <p:cNvPr id="3" name="Picture 2" descr="A diagram of a diagram&#10;&#10;Description automatically generated">
            <a:extLst>
              <a:ext uri="{FF2B5EF4-FFF2-40B4-BE49-F238E27FC236}">
                <a16:creationId xmlns:a16="http://schemas.microsoft.com/office/drawing/2014/main" id="{19C4913E-73B5-FEA3-B764-D4A914CE2C85}"/>
              </a:ext>
            </a:extLst>
          </p:cNvPr>
          <p:cNvPicPr>
            <a:picLocks noChangeAspect="1"/>
          </p:cNvPicPr>
          <p:nvPr/>
        </p:nvPicPr>
        <p:blipFill>
          <a:blip r:embed="rId3"/>
          <a:srcRect l="20894" t="53" r="1752" b="378"/>
          <a:stretch/>
        </p:blipFill>
        <p:spPr>
          <a:xfrm>
            <a:off x="7660236" y="1921978"/>
            <a:ext cx="2336318" cy="4783873"/>
          </a:xfrm>
          <a:prstGeom prst="rect">
            <a:avLst/>
          </a:prstGeom>
          <a:ln>
            <a:solidFill>
              <a:schemeClr val="bg1"/>
            </a:solidFill>
          </a:ln>
        </p:spPr>
      </p:pic>
      <p:sp>
        <p:nvSpPr>
          <p:cNvPr id="8" name="TextBox 7">
            <a:extLst>
              <a:ext uri="{FF2B5EF4-FFF2-40B4-BE49-F238E27FC236}">
                <a16:creationId xmlns:a16="http://schemas.microsoft.com/office/drawing/2014/main" id="{6434620F-C27C-3B1C-AF2C-B9CD21F4D8BD}"/>
              </a:ext>
            </a:extLst>
          </p:cNvPr>
          <p:cNvSpPr txBox="1"/>
          <p:nvPr/>
        </p:nvSpPr>
        <p:spPr>
          <a:xfrm>
            <a:off x="2089452" y="1696356"/>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solidFill>
                  <a:srgbClr val="182B57"/>
                </a:solidFill>
                <a:latin typeface="Times New Roman"/>
                <a:cs typeface="Times New Roman"/>
              </a:rPr>
              <a:t>Natural Selection:</a:t>
            </a:r>
            <a:endParaRPr lang="en-US" u="sng">
              <a:solidFill>
                <a:srgbClr val="182B57"/>
              </a:solidFill>
              <a:latin typeface="Neue Haas Grotesk Text Pro"/>
              <a:cs typeface="Times New Roman"/>
            </a:endParaRPr>
          </a:p>
        </p:txBody>
      </p:sp>
      <p:sp>
        <p:nvSpPr>
          <p:cNvPr id="10" name="TextBox 9">
            <a:extLst>
              <a:ext uri="{FF2B5EF4-FFF2-40B4-BE49-F238E27FC236}">
                <a16:creationId xmlns:a16="http://schemas.microsoft.com/office/drawing/2014/main" id="{65466573-2571-64D9-2843-99F8C3E88CAC}"/>
              </a:ext>
            </a:extLst>
          </p:cNvPr>
          <p:cNvSpPr txBox="1"/>
          <p:nvPr/>
        </p:nvSpPr>
        <p:spPr>
          <a:xfrm>
            <a:off x="7248071" y="150926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solidFill>
                  <a:srgbClr val="182B57"/>
                </a:solidFill>
                <a:latin typeface="Times New Roman"/>
                <a:cs typeface="Times New Roman"/>
              </a:rPr>
              <a:t>Genetic Algorithm:</a:t>
            </a:r>
            <a:endParaRPr lang="en-US" u="sng">
              <a:solidFill>
                <a:srgbClr val="182B57"/>
              </a:solidFill>
              <a:latin typeface="Neue Haas Grotesk Text Pro"/>
              <a:cs typeface="Times New Roman"/>
            </a:endParaRPr>
          </a:p>
        </p:txBody>
      </p:sp>
    </p:spTree>
    <p:extLst>
      <p:ext uri="{BB962C8B-B14F-4D97-AF65-F5344CB8AC3E}">
        <p14:creationId xmlns:p14="http://schemas.microsoft.com/office/powerpoint/2010/main" val="3037738189"/>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6F79-47F7-3816-9660-6C78791B8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E066D-516B-ABA5-7F9B-A743C12CC7E8}"/>
              </a:ext>
            </a:extLst>
          </p:cNvPr>
          <p:cNvSpPr>
            <a:spLocks noGrp="1"/>
          </p:cNvSpPr>
          <p:nvPr>
            <p:ph type="title"/>
          </p:nvPr>
        </p:nvSpPr>
        <p:spPr>
          <a:xfrm>
            <a:off x="480411" y="303990"/>
            <a:ext cx="11224553" cy="1622321"/>
          </a:xfrm>
        </p:spPr>
        <p:txBody>
          <a:bodyPr>
            <a:normAutofit/>
          </a:bodyPr>
          <a:lstStyle/>
          <a:p>
            <a:pPr algn="ctr"/>
            <a:r>
              <a:rPr lang="en-US" sz="3600">
                <a:latin typeface="Times New Roman"/>
                <a:cs typeface="Times New Roman"/>
              </a:rPr>
              <a:t>A Random Initial Population Allows for More Exploration of the Solution Space</a:t>
            </a:r>
            <a:endParaRPr lang="en-US"/>
          </a:p>
        </p:txBody>
      </p:sp>
      <p:pic>
        <p:nvPicPr>
          <p:cNvPr id="6" name="Picture 5" descr="A diagram of a diagram&#10;&#10;Description automatically generated">
            <a:extLst>
              <a:ext uri="{FF2B5EF4-FFF2-40B4-BE49-F238E27FC236}">
                <a16:creationId xmlns:a16="http://schemas.microsoft.com/office/drawing/2014/main" id="{916EBA94-4BDD-EB51-67C9-825C462520E6}"/>
              </a:ext>
            </a:extLst>
          </p:cNvPr>
          <p:cNvPicPr>
            <a:picLocks noChangeAspect="1"/>
          </p:cNvPicPr>
          <p:nvPr/>
        </p:nvPicPr>
        <p:blipFill>
          <a:blip r:embed="rId2"/>
          <a:srcRect l="25254" t="-562" r="32542" b="94"/>
          <a:stretch/>
        </p:blipFill>
        <p:spPr>
          <a:xfrm>
            <a:off x="876447" y="4660715"/>
            <a:ext cx="2177573" cy="8018984"/>
          </a:xfrm>
          <a:prstGeom prst="rect">
            <a:avLst/>
          </a:prstGeom>
          <a:ln>
            <a:solidFill>
              <a:schemeClr val="bg1"/>
            </a:solidFill>
          </a:ln>
        </p:spPr>
      </p:pic>
      <p:sp>
        <p:nvSpPr>
          <p:cNvPr id="7" name="Right Brace 6">
            <a:extLst>
              <a:ext uri="{FF2B5EF4-FFF2-40B4-BE49-F238E27FC236}">
                <a16:creationId xmlns:a16="http://schemas.microsoft.com/office/drawing/2014/main" id="{A0A1B81A-6402-8497-577B-63CDAF90C6A4}"/>
              </a:ext>
            </a:extLst>
          </p:cNvPr>
          <p:cNvSpPr/>
          <p:nvPr/>
        </p:nvSpPr>
        <p:spPr>
          <a:xfrm rot="5400000">
            <a:off x="5867424" y="2684564"/>
            <a:ext cx="313098" cy="350938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63E0CCA-663A-5270-076D-31C5D9ADADC9}"/>
              </a:ext>
            </a:extLst>
          </p:cNvPr>
          <p:cNvSpPr txBox="1"/>
          <p:nvPr/>
        </p:nvSpPr>
        <p:spPr>
          <a:xfrm>
            <a:off x="5122313" y="459318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cs typeface="Times New Roman"/>
              </a:rPr>
              <a:t>1st Generation</a:t>
            </a:r>
          </a:p>
        </p:txBody>
      </p:sp>
      <p:sp>
        <p:nvSpPr>
          <p:cNvPr id="10" name="TextBox 9">
            <a:extLst>
              <a:ext uri="{FF2B5EF4-FFF2-40B4-BE49-F238E27FC236}">
                <a16:creationId xmlns:a16="http://schemas.microsoft.com/office/drawing/2014/main" id="{DE4C33CE-13E4-C2D2-8CA4-3C1B3596D4EC}"/>
              </a:ext>
            </a:extLst>
          </p:cNvPr>
          <p:cNvSpPr txBox="1"/>
          <p:nvPr/>
        </p:nvSpPr>
        <p:spPr>
          <a:xfrm>
            <a:off x="2475074" y="2827296"/>
            <a:ext cx="15475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a:latin typeface="Times New Roman"/>
                <a:cs typeface="Times New Roman"/>
              </a:rPr>
              <a:t>Random</a:t>
            </a:r>
          </a:p>
          <a:p>
            <a:pPr algn="r"/>
            <a:r>
              <a:rPr lang="en-US" sz="2000" b="1">
                <a:latin typeface="Times New Roman"/>
                <a:cs typeface="Times New Roman"/>
              </a:rPr>
              <a:t>Population</a:t>
            </a:r>
            <a:endParaRPr lang="en-US"/>
          </a:p>
          <a:p>
            <a:pPr algn="r"/>
            <a:r>
              <a:rPr lang="en-US" sz="2000" b="1">
                <a:latin typeface="Times New Roman"/>
                <a:cs typeface="Times New Roman"/>
              </a:rPr>
              <a:t>of 4</a:t>
            </a:r>
          </a:p>
        </p:txBody>
      </p:sp>
      <p:sp>
        <p:nvSpPr>
          <p:cNvPr id="11" name="TextBox 10">
            <a:extLst>
              <a:ext uri="{FF2B5EF4-FFF2-40B4-BE49-F238E27FC236}">
                <a16:creationId xmlns:a16="http://schemas.microsoft.com/office/drawing/2014/main" id="{333E55ED-9457-139A-5CA4-47314370C773}"/>
              </a:ext>
            </a:extLst>
          </p:cNvPr>
          <p:cNvSpPr txBox="1"/>
          <p:nvPr/>
        </p:nvSpPr>
        <p:spPr>
          <a:xfrm>
            <a:off x="5122400" y="183445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1 Chromosome</a:t>
            </a:r>
            <a:endParaRPr lang="en-US"/>
          </a:p>
        </p:txBody>
      </p:sp>
      <p:sp>
        <p:nvSpPr>
          <p:cNvPr id="19" name="Right Brace 18">
            <a:extLst>
              <a:ext uri="{FF2B5EF4-FFF2-40B4-BE49-F238E27FC236}">
                <a16:creationId xmlns:a16="http://schemas.microsoft.com/office/drawing/2014/main" id="{DAE45B6F-4EE7-3950-0B91-A7841F963082}"/>
              </a:ext>
            </a:extLst>
          </p:cNvPr>
          <p:cNvSpPr/>
          <p:nvPr/>
        </p:nvSpPr>
        <p:spPr>
          <a:xfrm flipH="1">
            <a:off x="4069898" y="2692028"/>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6F9CE44A-9638-D929-450D-53100DCF55EE}"/>
              </a:ext>
            </a:extLst>
          </p:cNvPr>
          <p:cNvSpPr/>
          <p:nvPr/>
        </p:nvSpPr>
        <p:spPr>
          <a:xfrm flipH="1">
            <a:off x="4069898" y="3512845"/>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312639E2-E17A-0E62-9481-EE5FF918C086}"/>
              </a:ext>
            </a:extLst>
          </p:cNvPr>
          <p:cNvSpPr/>
          <p:nvPr/>
        </p:nvSpPr>
        <p:spPr>
          <a:xfrm flipH="1">
            <a:off x="4069898" y="3113954"/>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DA90FCB-18AC-D865-6D6C-D300E7EC689F}"/>
              </a:ext>
            </a:extLst>
          </p:cNvPr>
          <p:cNvSpPr/>
          <p:nvPr/>
        </p:nvSpPr>
        <p:spPr>
          <a:xfrm flipH="1">
            <a:off x="4069897" y="3890250"/>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row: Down 22">
            <a:extLst>
              <a:ext uri="{FF2B5EF4-FFF2-40B4-BE49-F238E27FC236}">
                <a16:creationId xmlns:a16="http://schemas.microsoft.com/office/drawing/2014/main" id="{2940F85A-6F72-F0DB-6EE4-66E4DCDF5512}"/>
              </a:ext>
            </a:extLst>
          </p:cNvPr>
          <p:cNvSpPr/>
          <p:nvPr/>
        </p:nvSpPr>
        <p:spPr>
          <a:xfrm>
            <a:off x="6356234" y="2224394"/>
            <a:ext cx="139575" cy="3422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4">
            <a:extLst>
              <a:ext uri="{FF2B5EF4-FFF2-40B4-BE49-F238E27FC236}">
                <a16:creationId xmlns:a16="http://schemas.microsoft.com/office/drawing/2014/main" id="{990D3DB8-D521-E4F3-66F3-2AC8522A0E7D}"/>
              </a:ext>
            </a:extLst>
          </p:cNvPr>
          <p:cNvSpPr txBox="1"/>
          <p:nvPr/>
        </p:nvSpPr>
        <p:spPr>
          <a:xfrm>
            <a:off x="4142137" y="2601920"/>
            <a:ext cx="3959966" cy="169277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rgbClr val="FF0000"/>
                </a:solidFill>
                <a:latin typeface="Times New Roman"/>
                <a:cs typeface="Times New Roman"/>
              </a:rPr>
              <a:t>0.10   2.56  4.89</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1  14 13</a:t>
            </a:r>
          </a:p>
          <a:p>
            <a:r>
              <a:rPr lang="en-US" sz="2600" b="1">
                <a:solidFill>
                  <a:srgbClr val="FF0000"/>
                </a:solidFill>
                <a:latin typeface="Times New Roman"/>
                <a:cs typeface="Times New Roman"/>
              </a:rPr>
              <a:t>3.45   1.32  0.78</a:t>
            </a:r>
            <a:r>
              <a:rPr lang="en-US" sz="2600" b="1">
                <a:solidFill>
                  <a:srgbClr val="002060"/>
                </a:solidFill>
                <a:latin typeface="Times New Roman"/>
                <a:cs typeface="Times New Roman"/>
              </a:rPr>
              <a:t>  </a:t>
            </a:r>
            <a:r>
              <a:rPr lang="en-US" sz="2600" b="1">
                <a:latin typeface="Times New Roman"/>
                <a:cs typeface="Times New Roman"/>
              </a:rPr>
              <a:t> </a:t>
            </a:r>
            <a:r>
              <a:rPr lang="en-US" sz="2600" b="1">
                <a:solidFill>
                  <a:schemeClr val="accent3"/>
                </a:solidFill>
                <a:latin typeface="Times New Roman"/>
                <a:cs typeface="Times New Roman"/>
              </a:rPr>
              <a:t>4   8  15</a:t>
            </a:r>
          </a:p>
          <a:p>
            <a:r>
              <a:rPr lang="en-US" sz="2600" b="1">
                <a:solidFill>
                  <a:srgbClr val="FF0000"/>
                </a:solidFill>
                <a:latin typeface="Times New Roman"/>
                <a:cs typeface="Times New Roman"/>
              </a:rPr>
              <a:t>2.17   2.01  1.64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5  12  9  </a:t>
            </a:r>
          </a:p>
          <a:p>
            <a:r>
              <a:rPr lang="en-US" sz="2600" b="1">
                <a:solidFill>
                  <a:srgbClr val="FF0000"/>
                </a:solidFill>
                <a:latin typeface="Times New Roman"/>
                <a:cs typeface="Times New Roman"/>
              </a:rPr>
              <a:t>3.00   0.24  0.74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2  10  2  </a:t>
            </a:r>
            <a:r>
              <a:rPr lang="en-US" sz="2600" b="1">
                <a:solidFill>
                  <a:schemeClr val="accent6">
                    <a:lumMod val="76000"/>
                  </a:schemeClr>
                </a:solidFill>
                <a:latin typeface="Times New Roman"/>
                <a:cs typeface="Times New Roman"/>
              </a:rPr>
              <a:t>  </a:t>
            </a:r>
          </a:p>
        </p:txBody>
      </p:sp>
      <p:sp>
        <p:nvSpPr>
          <p:cNvPr id="13" name="TextBox 12">
            <a:extLst>
              <a:ext uri="{FF2B5EF4-FFF2-40B4-BE49-F238E27FC236}">
                <a16:creationId xmlns:a16="http://schemas.microsoft.com/office/drawing/2014/main" id="{0E95894C-C7D7-E991-50EE-47AB63BB4871}"/>
              </a:ext>
            </a:extLst>
          </p:cNvPr>
          <p:cNvSpPr txBox="1"/>
          <p:nvPr/>
        </p:nvSpPr>
        <p:spPr>
          <a:xfrm>
            <a:off x="4023816" y="4991610"/>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FF0000"/>
                </a:solidFill>
                <a:latin typeface="Times New Roman"/>
                <a:cs typeface="Times New Roman"/>
              </a:rPr>
              <a:t>Thickness</a:t>
            </a:r>
          </a:p>
        </p:txBody>
      </p:sp>
      <p:sp>
        <p:nvSpPr>
          <p:cNvPr id="14" name="TextBox 13">
            <a:extLst>
              <a:ext uri="{FF2B5EF4-FFF2-40B4-BE49-F238E27FC236}">
                <a16:creationId xmlns:a16="http://schemas.microsoft.com/office/drawing/2014/main" id="{D998B72B-6034-C7D9-F0C3-18CD4D862D3B}"/>
              </a:ext>
            </a:extLst>
          </p:cNvPr>
          <p:cNvSpPr txBox="1"/>
          <p:nvPr/>
        </p:nvSpPr>
        <p:spPr>
          <a:xfrm>
            <a:off x="6024066" y="4991610"/>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accent3"/>
                </a:solidFill>
                <a:latin typeface="Times New Roman"/>
                <a:cs typeface="Times New Roman"/>
              </a:rPr>
              <a:t>Material</a:t>
            </a:r>
          </a:p>
        </p:txBody>
      </p:sp>
      <p:sp>
        <p:nvSpPr>
          <p:cNvPr id="17" name="Rectangle: Rounded Corners 16">
            <a:extLst>
              <a:ext uri="{FF2B5EF4-FFF2-40B4-BE49-F238E27FC236}">
                <a16:creationId xmlns:a16="http://schemas.microsoft.com/office/drawing/2014/main" id="{291268A4-902D-B164-A6EB-A957A96DE456}"/>
              </a:ext>
            </a:extLst>
          </p:cNvPr>
          <p:cNvSpPr/>
          <p:nvPr/>
        </p:nvSpPr>
        <p:spPr>
          <a:xfrm>
            <a:off x="4212341" y="2621168"/>
            <a:ext cx="3620762" cy="42157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96591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6F79-47F7-3816-9660-6C78791B8B6E}"/>
            </a:ext>
          </a:extLst>
        </p:cNvPr>
        <p:cNvGrpSpPr/>
        <p:nvPr/>
      </p:nvGrpSpPr>
      <p:grpSpPr>
        <a:xfrm>
          <a:off x="0" y="0"/>
          <a:ext cx="0" cy="0"/>
          <a:chOff x="0" y="0"/>
          <a:chExt cx="0" cy="0"/>
        </a:xfrm>
      </p:grpSpPr>
      <p:sp>
        <p:nvSpPr>
          <p:cNvPr id="7" name="Right Brace 6">
            <a:extLst>
              <a:ext uri="{FF2B5EF4-FFF2-40B4-BE49-F238E27FC236}">
                <a16:creationId xmlns:a16="http://schemas.microsoft.com/office/drawing/2014/main" id="{A0A1B81A-6402-8497-577B-63CDAF90C6A4}"/>
              </a:ext>
            </a:extLst>
          </p:cNvPr>
          <p:cNvSpPr/>
          <p:nvPr/>
        </p:nvSpPr>
        <p:spPr>
          <a:xfrm rot="5400000">
            <a:off x="5867424" y="2684564"/>
            <a:ext cx="313098" cy="350938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63E0CCA-663A-5270-076D-31C5D9ADADC9}"/>
              </a:ext>
            </a:extLst>
          </p:cNvPr>
          <p:cNvSpPr txBox="1"/>
          <p:nvPr/>
        </p:nvSpPr>
        <p:spPr>
          <a:xfrm>
            <a:off x="5122313" y="459318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cs typeface="Times New Roman"/>
              </a:rPr>
              <a:t>1st Generation</a:t>
            </a:r>
          </a:p>
        </p:txBody>
      </p:sp>
      <p:sp>
        <p:nvSpPr>
          <p:cNvPr id="10" name="TextBox 9">
            <a:extLst>
              <a:ext uri="{FF2B5EF4-FFF2-40B4-BE49-F238E27FC236}">
                <a16:creationId xmlns:a16="http://schemas.microsoft.com/office/drawing/2014/main" id="{DE4C33CE-13E4-C2D2-8CA4-3C1B3596D4EC}"/>
              </a:ext>
            </a:extLst>
          </p:cNvPr>
          <p:cNvSpPr txBox="1"/>
          <p:nvPr/>
        </p:nvSpPr>
        <p:spPr>
          <a:xfrm>
            <a:off x="2475074" y="2827296"/>
            <a:ext cx="15475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a:latin typeface="Times New Roman"/>
                <a:cs typeface="Times New Roman"/>
              </a:rPr>
              <a:t>Random</a:t>
            </a:r>
          </a:p>
          <a:p>
            <a:pPr algn="r"/>
            <a:r>
              <a:rPr lang="en-US" sz="2000" b="1">
                <a:latin typeface="Times New Roman"/>
                <a:cs typeface="Times New Roman"/>
              </a:rPr>
              <a:t>Population</a:t>
            </a:r>
            <a:endParaRPr lang="en-US"/>
          </a:p>
          <a:p>
            <a:pPr algn="r"/>
            <a:r>
              <a:rPr lang="en-US" sz="2000" b="1">
                <a:latin typeface="Times New Roman"/>
                <a:cs typeface="Times New Roman"/>
              </a:rPr>
              <a:t>of 4</a:t>
            </a:r>
          </a:p>
        </p:txBody>
      </p:sp>
      <p:sp>
        <p:nvSpPr>
          <p:cNvPr id="11" name="TextBox 10">
            <a:extLst>
              <a:ext uri="{FF2B5EF4-FFF2-40B4-BE49-F238E27FC236}">
                <a16:creationId xmlns:a16="http://schemas.microsoft.com/office/drawing/2014/main" id="{333E55ED-9457-139A-5CA4-47314370C773}"/>
              </a:ext>
            </a:extLst>
          </p:cNvPr>
          <p:cNvSpPr txBox="1"/>
          <p:nvPr/>
        </p:nvSpPr>
        <p:spPr>
          <a:xfrm>
            <a:off x="5122400" y="183445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1 Chromosome</a:t>
            </a:r>
            <a:endParaRPr lang="en-US"/>
          </a:p>
        </p:txBody>
      </p:sp>
      <p:sp>
        <p:nvSpPr>
          <p:cNvPr id="19" name="Right Brace 18">
            <a:extLst>
              <a:ext uri="{FF2B5EF4-FFF2-40B4-BE49-F238E27FC236}">
                <a16:creationId xmlns:a16="http://schemas.microsoft.com/office/drawing/2014/main" id="{DAE45B6F-4EE7-3950-0B91-A7841F963082}"/>
              </a:ext>
            </a:extLst>
          </p:cNvPr>
          <p:cNvSpPr/>
          <p:nvPr/>
        </p:nvSpPr>
        <p:spPr>
          <a:xfrm flipH="1">
            <a:off x="4069898" y="2692028"/>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6F9CE44A-9638-D929-450D-53100DCF55EE}"/>
              </a:ext>
            </a:extLst>
          </p:cNvPr>
          <p:cNvSpPr/>
          <p:nvPr/>
        </p:nvSpPr>
        <p:spPr>
          <a:xfrm flipH="1">
            <a:off x="4069898" y="3512845"/>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312639E2-E17A-0E62-9481-EE5FF918C086}"/>
              </a:ext>
            </a:extLst>
          </p:cNvPr>
          <p:cNvSpPr/>
          <p:nvPr/>
        </p:nvSpPr>
        <p:spPr>
          <a:xfrm flipH="1">
            <a:off x="4069898" y="3113954"/>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DA90FCB-18AC-D865-6D6C-D300E7EC689F}"/>
              </a:ext>
            </a:extLst>
          </p:cNvPr>
          <p:cNvSpPr/>
          <p:nvPr/>
        </p:nvSpPr>
        <p:spPr>
          <a:xfrm flipH="1">
            <a:off x="4069897" y="3890250"/>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row: Down 22">
            <a:extLst>
              <a:ext uri="{FF2B5EF4-FFF2-40B4-BE49-F238E27FC236}">
                <a16:creationId xmlns:a16="http://schemas.microsoft.com/office/drawing/2014/main" id="{2940F85A-6F72-F0DB-6EE4-66E4DCDF5512}"/>
              </a:ext>
            </a:extLst>
          </p:cNvPr>
          <p:cNvSpPr/>
          <p:nvPr/>
        </p:nvSpPr>
        <p:spPr>
          <a:xfrm>
            <a:off x="6356234" y="2224394"/>
            <a:ext cx="139575" cy="3422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4">
            <a:extLst>
              <a:ext uri="{FF2B5EF4-FFF2-40B4-BE49-F238E27FC236}">
                <a16:creationId xmlns:a16="http://schemas.microsoft.com/office/drawing/2014/main" id="{990D3DB8-D521-E4F3-66F3-2AC8522A0E7D}"/>
              </a:ext>
            </a:extLst>
          </p:cNvPr>
          <p:cNvSpPr txBox="1"/>
          <p:nvPr/>
        </p:nvSpPr>
        <p:spPr>
          <a:xfrm>
            <a:off x="4142137" y="2601920"/>
            <a:ext cx="3959966" cy="169277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rgbClr val="FF0000"/>
                </a:solidFill>
                <a:latin typeface="Times New Roman"/>
                <a:cs typeface="Times New Roman"/>
              </a:rPr>
              <a:t>0.10   2.56  4.89</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1  14 13</a:t>
            </a:r>
          </a:p>
          <a:p>
            <a:r>
              <a:rPr lang="en-US" sz="2600" b="1">
                <a:solidFill>
                  <a:srgbClr val="FF0000"/>
                </a:solidFill>
                <a:latin typeface="Times New Roman"/>
                <a:cs typeface="Times New Roman"/>
              </a:rPr>
              <a:t>3.45   1.32  0.78</a:t>
            </a:r>
            <a:r>
              <a:rPr lang="en-US" sz="2600" b="1">
                <a:solidFill>
                  <a:srgbClr val="002060"/>
                </a:solidFill>
                <a:latin typeface="Times New Roman"/>
                <a:cs typeface="Times New Roman"/>
              </a:rPr>
              <a:t>  </a:t>
            </a:r>
            <a:r>
              <a:rPr lang="en-US" sz="2600" b="1">
                <a:latin typeface="Times New Roman"/>
                <a:cs typeface="Times New Roman"/>
              </a:rPr>
              <a:t> </a:t>
            </a:r>
            <a:r>
              <a:rPr lang="en-US" sz="2600" b="1">
                <a:solidFill>
                  <a:schemeClr val="accent3"/>
                </a:solidFill>
                <a:latin typeface="Times New Roman"/>
                <a:cs typeface="Times New Roman"/>
              </a:rPr>
              <a:t>4   8  15</a:t>
            </a:r>
          </a:p>
          <a:p>
            <a:r>
              <a:rPr lang="en-US" sz="2600" b="1">
                <a:solidFill>
                  <a:srgbClr val="FF0000"/>
                </a:solidFill>
                <a:latin typeface="Times New Roman"/>
                <a:cs typeface="Times New Roman"/>
              </a:rPr>
              <a:t>2.17   2.01  1.64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5  12  9  </a:t>
            </a:r>
          </a:p>
          <a:p>
            <a:r>
              <a:rPr lang="en-US" sz="2600" b="1">
                <a:solidFill>
                  <a:srgbClr val="FF0000"/>
                </a:solidFill>
                <a:latin typeface="Times New Roman"/>
                <a:cs typeface="Times New Roman"/>
              </a:rPr>
              <a:t>3.00   0.24  0.74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2  10  2  </a:t>
            </a:r>
            <a:r>
              <a:rPr lang="en-US" sz="2600" b="1">
                <a:solidFill>
                  <a:schemeClr val="accent6">
                    <a:lumMod val="76000"/>
                  </a:schemeClr>
                </a:solidFill>
                <a:latin typeface="Times New Roman"/>
                <a:cs typeface="Times New Roman"/>
              </a:rPr>
              <a:t>  </a:t>
            </a:r>
          </a:p>
        </p:txBody>
      </p:sp>
      <p:sp>
        <p:nvSpPr>
          <p:cNvPr id="13" name="TextBox 12">
            <a:extLst>
              <a:ext uri="{FF2B5EF4-FFF2-40B4-BE49-F238E27FC236}">
                <a16:creationId xmlns:a16="http://schemas.microsoft.com/office/drawing/2014/main" id="{0E95894C-C7D7-E991-50EE-47AB63BB4871}"/>
              </a:ext>
            </a:extLst>
          </p:cNvPr>
          <p:cNvSpPr txBox="1"/>
          <p:nvPr/>
        </p:nvSpPr>
        <p:spPr>
          <a:xfrm>
            <a:off x="4023816" y="4991610"/>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FF0000"/>
                </a:solidFill>
                <a:latin typeface="Times New Roman"/>
                <a:cs typeface="Times New Roman"/>
              </a:rPr>
              <a:t>Thickness</a:t>
            </a:r>
          </a:p>
        </p:txBody>
      </p:sp>
      <p:sp>
        <p:nvSpPr>
          <p:cNvPr id="14" name="TextBox 13">
            <a:extLst>
              <a:ext uri="{FF2B5EF4-FFF2-40B4-BE49-F238E27FC236}">
                <a16:creationId xmlns:a16="http://schemas.microsoft.com/office/drawing/2014/main" id="{D998B72B-6034-C7D9-F0C3-18CD4D862D3B}"/>
              </a:ext>
            </a:extLst>
          </p:cNvPr>
          <p:cNvSpPr txBox="1"/>
          <p:nvPr/>
        </p:nvSpPr>
        <p:spPr>
          <a:xfrm>
            <a:off x="6024066" y="4991610"/>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accent3"/>
                </a:solidFill>
                <a:latin typeface="Times New Roman"/>
                <a:cs typeface="Times New Roman"/>
              </a:rPr>
              <a:t>Material</a:t>
            </a:r>
          </a:p>
        </p:txBody>
      </p:sp>
      <p:sp>
        <p:nvSpPr>
          <p:cNvPr id="17" name="Rectangle: Rounded Corners 16">
            <a:extLst>
              <a:ext uri="{FF2B5EF4-FFF2-40B4-BE49-F238E27FC236}">
                <a16:creationId xmlns:a16="http://schemas.microsoft.com/office/drawing/2014/main" id="{291268A4-902D-B164-A6EB-A957A96DE456}"/>
              </a:ext>
            </a:extLst>
          </p:cNvPr>
          <p:cNvSpPr/>
          <p:nvPr/>
        </p:nvSpPr>
        <p:spPr>
          <a:xfrm>
            <a:off x="4212341" y="2621168"/>
            <a:ext cx="3620762" cy="42157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DE5C1D7-8A20-266E-C18D-9331267793E1}"/>
              </a:ext>
            </a:extLst>
          </p:cNvPr>
          <p:cNvSpPr txBox="1"/>
          <p:nvPr/>
        </p:nvSpPr>
        <p:spPr>
          <a:xfrm>
            <a:off x="8104833" y="2636906"/>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-20.45 [dB]</a:t>
            </a:r>
          </a:p>
        </p:txBody>
      </p:sp>
      <p:sp>
        <p:nvSpPr>
          <p:cNvPr id="15" name="TextBox 14">
            <a:extLst>
              <a:ext uri="{FF2B5EF4-FFF2-40B4-BE49-F238E27FC236}">
                <a16:creationId xmlns:a16="http://schemas.microsoft.com/office/drawing/2014/main" id="{FB32644B-0F4F-CE8D-A539-61916BA988AE}"/>
              </a:ext>
            </a:extLst>
          </p:cNvPr>
          <p:cNvSpPr txBox="1"/>
          <p:nvPr/>
        </p:nvSpPr>
        <p:spPr>
          <a:xfrm>
            <a:off x="8104833" y="3039886"/>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-31.01 [dB]</a:t>
            </a:r>
          </a:p>
        </p:txBody>
      </p:sp>
      <p:sp>
        <p:nvSpPr>
          <p:cNvPr id="18" name="TextBox 17">
            <a:extLst>
              <a:ext uri="{FF2B5EF4-FFF2-40B4-BE49-F238E27FC236}">
                <a16:creationId xmlns:a16="http://schemas.microsoft.com/office/drawing/2014/main" id="{A16CD776-494D-B45F-DF4B-367558DED1A3}"/>
              </a:ext>
            </a:extLst>
          </p:cNvPr>
          <p:cNvSpPr txBox="1"/>
          <p:nvPr/>
        </p:nvSpPr>
        <p:spPr>
          <a:xfrm>
            <a:off x="8104832" y="3428213"/>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-30.30 [dB]</a:t>
            </a:r>
          </a:p>
        </p:txBody>
      </p:sp>
      <p:sp>
        <p:nvSpPr>
          <p:cNvPr id="25" name="TextBox 24">
            <a:extLst>
              <a:ext uri="{FF2B5EF4-FFF2-40B4-BE49-F238E27FC236}">
                <a16:creationId xmlns:a16="http://schemas.microsoft.com/office/drawing/2014/main" id="{5554F563-0E25-01FD-4A0A-2B9FBFE3FB92}"/>
              </a:ext>
            </a:extLst>
          </p:cNvPr>
          <p:cNvSpPr txBox="1"/>
          <p:nvPr/>
        </p:nvSpPr>
        <p:spPr>
          <a:xfrm>
            <a:off x="8104833" y="3838521"/>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-27.19 [dB]</a:t>
            </a:r>
          </a:p>
        </p:txBody>
      </p:sp>
      <p:pic>
        <p:nvPicPr>
          <p:cNvPr id="27" name="Picture 26" descr="A diagram of a diagram&#10;&#10;Description automatically generated">
            <a:extLst>
              <a:ext uri="{FF2B5EF4-FFF2-40B4-BE49-F238E27FC236}">
                <a16:creationId xmlns:a16="http://schemas.microsoft.com/office/drawing/2014/main" id="{F697679F-1159-D189-9332-603DD47BDF24}"/>
              </a:ext>
            </a:extLst>
          </p:cNvPr>
          <p:cNvPicPr>
            <a:picLocks noChangeAspect="1"/>
          </p:cNvPicPr>
          <p:nvPr/>
        </p:nvPicPr>
        <p:blipFill>
          <a:blip r:embed="rId2"/>
          <a:srcRect t="23550" r="32206" b="46573"/>
          <a:stretch/>
        </p:blipFill>
        <p:spPr>
          <a:xfrm>
            <a:off x="-589060" y="4366699"/>
            <a:ext cx="3647344" cy="2492268"/>
          </a:xfrm>
          <a:prstGeom prst="rect">
            <a:avLst/>
          </a:prstGeom>
          <a:ln>
            <a:solidFill>
              <a:schemeClr val="bg1"/>
            </a:solidFill>
          </a:ln>
        </p:spPr>
      </p:pic>
      <p:sp>
        <p:nvSpPr>
          <p:cNvPr id="35" name="Title 1">
            <a:extLst>
              <a:ext uri="{FF2B5EF4-FFF2-40B4-BE49-F238E27FC236}">
                <a16:creationId xmlns:a16="http://schemas.microsoft.com/office/drawing/2014/main" id="{FBF2C471-0C0F-20B7-701E-10C185343EA3}"/>
              </a:ext>
            </a:extLst>
          </p:cNvPr>
          <p:cNvSpPr>
            <a:spLocks noGrp="1"/>
          </p:cNvSpPr>
          <p:nvPr>
            <p:ph type="title"/>
          </p:nvPr>
        </p:nvSpPr>
        <p:spPr>
          <a:xfrm>
            <a:off x="480411" y="303990"/>
            <a:ext cx="11224553" cy="1622321"/>
          </a:xfrm>
        </p:spPr>
        <p:txBody>
          <a:bodyPr>
            <a:normAutofit/>
          </a:bodyPr>
          <a:lstStyle/>
          <a:p>
            <a:pPr algn="ctr"/>
            <a:r>
              <a:rPr lang="en-US" sz="3600">
                <a:latin typeface="Times New Roman"/>
                <a:cs typeface="Times New Roman"/>
              </a:rPr>
              <a:t>A Fitness </a:t>
            </a:r>
            <a:r>
              <a:rPr lang="en-US" sz="3600" err="1">
                <a:latin typeface="Times New Roman"/>
                <a:cs typeface="Times New Roman"/>
              </a:rPr>
              <a:t>Functio</a:t>
            </a:r>
            <a:r>
              <a:rPr lang="en-US" sz="3600">
                <a:latin typeface="Times New Roman"/>
                <a:cs typeface="Times New Roman"/>
              </a:rPr>
              <a:t>​n Guides the Algorithm Toward Selecting an Optimal Solution</a:t>
            </a:r>
          </a:p>
        </p:txBody>
      </p:sp>
      <p:sp>
        <p:nvSpPr>
          <p:cNvPr id="36" name="TextBox 35">
            <a:extLst>
              <a:ext uri="{FF2B5EF4-FFF2-40B4-BE49-F238E27FC236}">
                <a16:creationId xmlns:a16="http://schemas.microsoft.com/office/drawing/2014/main" id="{B1E277D5-8054-BD36-F5F7-D7D0B7AC2560}"/>
              </a:ext>
            </a:extLst>
          </p:cNvPr>
          <p:cNvSpPr txBox="1"/>
          <p:nvPr/>
        </p:nvSpPr>
        <p:spPr>
          <a:xfrm>
            <a:off x="8104780" y="3010432"/>
            <a:ext cx="1626139" cy="398638"/>
          </a:xfrm>
          <a:prstGeom prst="rect">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latin typeface="Times New Roman"/>
              <a:cs typeface="Times New Roman"/>
            </a:endParaRPr>
          </a:p>
        </p:txBody>
      </p:sp>
      <p:pic>
        <p:nvPicPr>
          <p:cNvPr id="38" name="Picture 37" descr="Green text on a white background&#10;&#10;Description automatically generated">
            <a:extLst>
              <a:ext uri="{FF2B5EF4-FFF2-40B4-BE49-F238E27FC236}">
                <a16:creationId xmlns:a16="http://schemas.microsoft.com/office/drawing/2014/main" id="{BC87B85A-E6AA-7D9B-AE74-6FD5786DE6B8}"/>
              </a:ext>
            </a:extLst>
          </p:cNvPr>
          <p:cNvPicPr>
            <a:picLocks noChangeAspect="1"/>
          </p:cNvPicPr>
          <p:nvPr/>
        </p:nvPicPr>
        <p:blipFill>
          <a:blip r:embed="rId3"/>
          <a:stretch>
            <a:fillRect/>
          </a:stretch>
        </p:blipFill>
        <p:spPr>
          <a:xfrm>
            <a:off x="2963656" y="5749603"/>
            <a:ext cx="7482568" cy="847725"/>
          </a:xfrm>
          <a:prstGeom prst="rect">
            <a:avLst/>
          </a:prstGeom>
        </p:spPr>
      </p:pic>
      <p:sp>
        <p:nvSpPr>
          <p:cNvPr id="2" name="Oval 1">
            <a:extLst>
              <a:ext uri="{FF2B5EF4-FFF2-40B4-BE49-F238E27FC236}">
                <a16:creationId xmlns:a16="http://schemas.microsoft.com/office/drawing/2014/main" id="{3B352BD3-A0E3-9C5C-99AE-6DC8217AD124}"/>
              </a:ext>
            </a:extLst>
          </p:cNvPr>
          <p:cNvSpPr/>
          <p:nvPr/>
        </p:nvSpPr>
        <p:spPr>
          <a:xfrm>
            <a:off x="4699000" y="6311900"/>
            <a:ext cx="1651000" cy="4191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1735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6F79-47F7-3816-9660-6C78791B8B6E}"/>
            </a:ext>
          </a:extLst>
        </p:cNvPr>
        <p:cNvGrpSpPr/>
        <p:nvPr/>
      </p:nvGrpSpPr>
      <p:grpSpPr>
        <a:xfrm>
          <a:off x="0" y="0"/>
          <a:ext cx="0" cy="0"/>
          <a:chOff x="0" y="0"/>
          <a:chExt cx="0" cy="0"/>
        </a:xfrm>
      </p:grpSpPr>
      <p:sp>
        <p:nvSpPr>
          <p:cNvPr id="40" name="TextBox 39">
            <a:extLst>
              <a:ext uri="{FF2B5EF4-FFF2-40B4-BE49-F238E27FC236}">
                <a16:creationId xmlns:a16="http://schemas.microsoft.com/office/drawing/2014/main" id="{79660932-E622-A427-93AB-149A268D22A4}"/>
              </a:ext>
            </a:extLst>
          </p:cNvPr>
          <p:cNvSpPr txBox="1"/>
          <p:nvPr/>
        </p:nvSpPr>
        <p:spPr>
          <a:xfrm>
            <a:off x="8104780" y="3010432"/>
            <a:ext cx="1626139" cy="398638"/>
          </a:xfrm>
          <a:prstGeom prst="rect">
            <a:avLst/>
          </a:prstGeom>
          <a:noFill/>
          <a:ln w="28575"/>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latin typeface="Times New Roman"/>
              <a:cs typeface="Times New Roman"/>
            </a:endParaRPr>
          </a:p>
        </p:txBody>
      </p:sp>
      <p:sp>
        <p:nvSpPr>
          <p:cNvPr id="7" name="Right Brace 6">
            <a:extLst>
              <a:ext uri="{FF2B5EF4-FFF2-40B4-BE49-F238E27FC236}">
                <a16:creationId xmlns:a16="http://schemas.microsoft.com/office/drawing/2014/main" id="{A0A1B81A-6402-8497-577B-63CDAF90C6A4}"/>
              </a:ext>
            </a:extLst>
          </p:cNvPr>
          <p:cNvSpPr/>
          <p:nvPr/>
        </p:nvSpPr>
        <p:spPr>
          <a:xfrm rot="5400000">
            <a:off x="5867424" y="2684564"/>
            <a:ext cx="313098" cy="350938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63E0CCA-663A-5270-076D-31C5D9ADADC9}"/>
              </a:ext>
            </a:extLst>
          </p:cNvPr>
          <p:cNvSpPr txBox="1"/>
          <p:nvPr/>
        </p:nvSpPr>
        <p:spPr>
          <a:xfrm>
            <a:off x="5122313" y="459318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cs typeface="Times New Roman"/>
              </a:rPr>
              <a:t>2nd Generation</a:t>
            </a:r>
          </a:p>
        </p:txBody>
      </p:sp>
      <p:sp>
        <p:nvSpPr>
          <p:cNvPr id="10" name="TextBox 9">
            <a:extLst>
              <a:ext uri="{FF2B5EF4-FFF2-40B4-BE49-F238E27FC236}">
                <a16:creationId xmlns:a16="http://schemas.microsoft.com/office/drawing/2014/main" id="{DE4C33CE-13E4-C2D2-8CA4-3C1B3596D4EC}"/>
              </a:ext>
            </a:extLst>
          </p:cNvPr>
          <p:cNvSpPr txBox="1"/>
          <p:nvPr/>
        </p:nvSpPr>
        <p:spPr>
          <a:xfrm>
            <a:off x="2475074" y="2827296"/>
            <a:ext cx="15475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a:latin typeface="Times New Roman"/>
                <a:cs typeface="Times New Roman"/>
              </a:rPr>
              <a:t>Random</a:t>
            </a:r>
          </a:p>
          <a:p>
            <a:pPr algn="r"/>
            <a:r>
              <a:rPr lang="en-US" sz="2000" b="1">
                <a:latin typeface="Times New Roman"/>
                <a:cs typeface="Times New Roman"/>
              </a:rPr>
              <a:t>Population</a:t>
            </a:r>
            <a:endParaRPr lang="en-US"/>
          </a:p>
          <a:p>
            <a:pPr algn="r"/>
            <a:r>
              <a:rPr lang="en-US" sz="2000" b="1">
                <a:latin typeface="Times New Roman"/>
                <a:cs typeface="Times New Roman"/>
              </a:rPr>
              <a:t>of 4</a:t>
            </a:r>
          </a:p>
        </p:txBody>
      </p:sp>
      <p:sp>
        <p:nvSpPr>
          <p:cNvPr id="11" name="TextBox 10">
            <a:extLst>
              <a:ext uri="{FF2B5EF4-FFF2-40B4-BE49-F238E27FC236}">
                <a16:creationId xmlns:a16="http://schemas.microsoft.com/office/drawing/2014/main" id="{333E55ED-9457-139A-5CA4-47314370C773}"/>
              </a:ext>
            </a:extLst>
          </p:cNvPr>
          <p:cNvSpPr txBox="1"/>
          <p:nvPr/>
        </p:nvSpPr>
        <p:spPr>
          <a:xfrm>
            <a:off x="5122400" y="183445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1 Chromosome</a:t>
            </a:r>
            <a:endParaRPr lang="en-US"/>
          </a:p>
        </p:txBody>
      </p:sp>
      <p:sp>
        <p:nvSpPr>
          <p:cNvPr id="19" name="Right Brace 18">
            <a:extLst>
              <a:ext uri="{FF2B5EF4-FFF2-40B4-BE49-F238E27FC236}">
                <a16:creationId xmlns:a16="http://schemas.microsoft.com/office/drawing/2014/main" id="{DAE45B6F-4EE7-3950-0B91-A7841F963082}"/>
              </a:ext>
            </a:extLst>
          </p:cNvPr>
          <p:cNvSpPr/>
          <p:nvPr/>
        </p:nvSpPr>
        <p:spPr>
          <a:xfrm flipH="1">
            <a:off x="4069898" y="2692028"/>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6F9CE44A-9638-D929-450D-53100DCF55EE}"/>
              </a:ext>
            </a:extLst>
          </p:cNvPr>
          <p:cNvSpPr/>
          <p:nvPr/>
        </p:nvSpPr>
        <p:spPr>
          <a:xfrm flipH="1">
            <a:off x="4069898" y="3512845"/>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312639E2-E17A-0E62-9481-EE5FF918C086}"/>
              </a:ext>
            </a:extLst>
          </p:cNvPr>
          <p:cNvSpPr/>
          <p:nvPr/>
        </p:nvSpPr>
        <p:spPr>
          <a:xfrm flipH="1">
            <a:off x="4069898" y="3113954"/>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DA90FCB-18AC-D865-6D6C-D300E7EC689F}"/>
              </a:ext>
            </a:extLst>
          </p:cNvPr>
          <p:cNvSpPr/>
          <p:nvPr/>
        </p:nvSpPr>
        <p:spPr>
          <a:xfrm flipH="1">
            <a:off x="4069897" y="3890250"/>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row: Down 22">
            <a:extLst>
              <a:ext uri="{FF2B5EF4-FFF2-40B4-BE49-F238E27FC236}">
                <a16:creationId xmlns:a16="http://schemas.microsoft.com/office/drawing/2014/main" id="{2940F85A-6F72-F0DB-6EE4-66E4DCDF5512}"/>
              </a:ext>
            </a:extLst>
          </p:cNvPr>
          <p:cNvSpPr/>
          <p:nvPr/>
        </p:nvSpPr>
        <p:spPr>
          <a:xfrm>
            <a:off x="6356234" y="2224394"/>
            <a:ext cx="139575" cy="3422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4">
            <a:extLst>
              <a:ext uri="{FF2B5EF4-FFF2-40B4-BE49-F238E27FC236}">
                <a16:creationId xmlns:a16="http://schemas.microsoft.com/office/drawing/2014/main" id="{990D3DB8-D521-E4F3-66F3-2AC8522A0E7D}"/>
              </a:ext>
            </a:extLst>
          </p:cNvPr>
          <p:cNvSpPr txBox="1"/>
          <p:nvPr/>
        </p:nvSpPr>
        <p:spPr>
          <a:xfrm>
            <a:off x="4142137" y="2601920"/>
            <a:ext cx="3959966" cy="169277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rgbClr val="FF0000"/>
                </a:solidFill>
                <a:latin typeface="Times New Roman"/>
                <a:cs typeface="Times New Roman"/>
              </a:rPr>
              <a:t>0.10   2.56  4.89</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1  </a:t>
            </a:r>
            <a:r>
              <a:rPr lang="en-US" sz="2600" b="1">
                <a:solidFill>
                  <a:schemeClr val="accent3"/>
                </a:solidFill>
                <a:highlight>
                  <a:srgbClr val="FFFF00"/>
                </a:highlight>
                <a:latin typeface="Times New Roman"/>
                <a:cs typeface="Times New Roman"/>
              </a:rPr>
              <a:t> 8 </a:t>
            </a:r>
            <a:r>
              <a:rPr lang="en-US" sz="2600" b="1">
                <a:solidFill>
                  <a:schemeClr val="accent3"/>
                </a:solidFill>
                <a:latin typeface="Times New Roman"/>
                <a:cs typeface="Times New Roman"/>
              </a:rPr>
              <a:t> 13</a:t>
            </a:r>
          </a:p>
          <a:p>
            <a:r>
              <a:rPr lang="en-US" sz="2600" b="1">
                <a:solidFill>
                  <a:srgbClr val="FF0000"/>
                </a:solidFill>
                <a:latin typeface="Times New Roman"/>
                <a:cs typeface="Times New Roman"/>
              </a:rPr>
              <a:t>3.45   1.32  0.78</a:t>
            </a:r>
            <a:r>
              <a:rPr lang="en-US" sz="2600" b="1">
                <a:solidFill>
                  <a:srgbClr val="002060"/>
                </a:solidFill>
                <a:latin typeface="Times New Roman"/>
                <a:cs typeface="Times New Roman"/>
              </a:rPr>
              <a:t>  </a:t>
            </a:r>
            <a:r>
              <a:rPr lang="en-US" sz="2600" b="1">
                <a:latin typeface="Times New Roman"/>
                <a:cs typeface="Times New Roman"/>
              </a:rPr>
              <a:t> </a:t>
            </a:r>
            <a:r>
              <a:rPr lang="en-US" sz="2600" b="1">
                <a:solidFill>
                  <a:schemeClr val="accent3"/>
                </a:solidFill>
                <a:latin typeface="Times New Roman"/>
                <a:cs typeface="Times New Roman"/>
              </a:rPr>
              <a:t>4  </a:t>
            </a:r>
            <a:r>
              <a:rPr lang="en-US" sz="2600" b="1">
                <a:solidFill>
                  <a:schemeClr val="accent3"/>
                </a:solidFill>
                <a:highlight>
                  <a:srgbClr val="FFFF00"/>
                </a:highlight>
                <a:latin typeface="Times New Roman"/>
                <a:cs typeface="Times New Roman"/>
              </a:rPr>
              <a:t>14</a:t>
            </a:r>
            <a:r>
              <a:rPr lang="en-US" sz="2600" b="1">
                <a:solidFill>
                  <a:schemeClr val="accent3"/>
                </a:solidFill>
                <a:latin typeface="Times New Roman"/>
                <a:cs typeface="Times New Roman"/>
              </a:rPr>
              <a:t> 15</a:t>
            </a:r>
          </a:p>
          <a:p>
            <a:r>
              <a:rPr lang="en-US" sz="2600" b="1">
                <a:solidFill>
                  <a:srgbClr val="FF0000"/>
                </a:solidFill>
                <a:latin typeface="Times New Roman"/>
                <a:cs typeface="Times New Roman"/>
              </a:rPr>
              <a:t>2.17   2.01  1.64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5  12  9  </a:t>
            </a:r>
          </a:p>
          <a:p>
            <a:r>
              <a:rPr lang="en-US" sz="2600" b="1">
                <a:solidFill>
                  <a:srgbClr val="FF0000"/>
                </a:solidFill>
                <a:latin typeface="Times New Roman"/>
                <a:cs typeface="Times New Roman"/>
              </a:rPr>
              <a:t>3.00   0.24  0.74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2  10  2  </a:t>
            </a:r>
            <a:r>
              <a:rPr lang="en-US" sz="2600" b="1">
                <a:solidFill>
                  <a:schemeClr val="accent6">
                    <a:lumMod val="76000"/>
                  </a:schemeClr>
                </a:solidFill>
                <a:latin typeface="Times New Roman"/>
                <a:cs typeface="Times New Roman"/>
              </a:rPr>
              <a:t>  </a:t>
            </a:r>
          </a:p>
        </p:txBody>
      </p:sp>
      <p:sp>
        <p:nvSpPr>
          <p:cNvPr id="13" name="TextBox 12">
            <a:extLst>
              <a:ext uri="{FF2B5EF4-FFF2-40B4-BE49-F238E27FC236}">
                <a16:creationId xmlns:a16="http://schemas.microsoft.com/office/drawing/2014/main" id="{0E95894C-C7D7-E991-50EE-47AB63BB4871}"/>
              </a:ext>
            </a:extLst>
          </p:cNvPr>
          <p:cNvSpPr txBox="1"/>
          <p:nvPr/>
        </p:nvSpPr>
        <p:spPr>
          <a:xfrm>
            <a:off x="4023816" y="4998937"/>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FF0000"/>
                </a:solidFill>
                <a:latin typeface="Times New Roman"/>
                <a:cs typeface="Times New Roman"/>
              </a:rPr>
              <a:t>Thickness</a:t>
            </a:r>
          </a:p>
        </p:txBody>
      </p:sp>
      <p:sp>
        <p:nvSpPr>
          <p:cNvPr id="14" name="TextBox 13">
            <a:extLst>
              <a:ext uri="{FF2B5EF4-FFF2-40B4-BE49-F238E27FC236}">
                <a16:creationId xmlns:a16="http://schemas.microsoft.com/office/drawing/2014/main" id="{D998B72B-6034-C7D9-F0C3-18CD4D862D3B}"/>
              </a:ext>
            </a:extLst>
          </p:cNvPr>
          <p:cNvSpPr txBox="1"/>
          <p:nvPr/>
        </p:nvSpPr>
        <p:spPr>
          <a:xfrm>
            <a:off x="6024066" y="4998937"/>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accent3"/>
                </a:solidFill>
                <a:latin typeface="Times New Roman"/>
                <a:cs typeface="Times New Roman"/>
              </a:rPr>
              <a:t>Material</a:t>
            </a:r>
          </a:p>
        </p:txBody>
      </p:sp>
      <p:sp>
        <p:nvSpPr>
          <p:cNvPr id="17" name="Rectangle: Rounded Corners 16">
            <a:extLst>
              <a:ext uri="{FF2B5EF4-FFF2-40B4-BE49-F238E27FC236}">
                <a16:creationId xmlns:a16="http://schemas.microsoft.com/office/drawing/2014/main" id="{291268A4-902D-B164-A6EB-A957A96DE456}"/>
              </a:ext>
            </a:extLst>
          </p:cNvPr>
          <p:cNvSpPr/>
          <p:nvPr/>
        </p:nvSpPr>
        <p:spPr>
          <a:xfrm>
            <a:off x="4212341" y="2621168"/>
            <a:ext cx="3620762" cy="42157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1">
            <a:extLst>
              <a:ext uri="{FF2B5EF4-FFF2-40B4-BE49-F238E27FC236}">
                <a16:creationId xmlns:a16="http://schemas.microsoft.com/office/drawing/2014/main" id="{FBF2C471-0C0F-20B7-701E-10C185343EA3}"/>
              </a:ext>
            </a:extLst>
          </p:cNvPr>
          <p:cNvSpPr>
            <a:spLocks noGrp="1"/>
          </p:cNvSpPr>
          <p:nvPr>
            <p:ph type="title"/>
          </p:nvPr>
        </p:nvSpPr>
        <p:spPr>
          <a:xfrm>
            <a:off x="480411" y="303990"/>
            <a:ext cx="11224553" cy="1622321"/>
          </a:xfrm>
        </p:spPr>
        <p:txBody>
          <a:bodyPr>
            <a:normAutofit/>
          </a:bodyPr>
          <a:lstStyle/>
          <a:p>
            <a:pPr algn="ctr"/>
            <a:r>
              <a:rPr lang="en-US" sz="3600">
                <a:latin typeface="Times New Roman"/>
                <a:cs typeface="Times New Roman"/>
              </a:rPr>
              <a:t>Crossover and Mutation Allow the Solution to Evolve Over Generations</a:t>
            </a:r>
          </a:p>
        </p:txBody>
      </p:sp>
      <p:pic>
        <p:nvPicPr>
          <p:cNvPr id="3" name="Picture 2" descr="A diagram of a diagram&#10;&#10;Description automatically generated">
            <a:extLst>
              <a:ext uri="{FF2B5EF4-FFF2-40B4-BE49-F238E27FC236}">
                <a16:creationId xmlns:a16="http://schemas.microsoft.com/office/drawing/2014/main" id="{5E7375C8-E5AA-3D3F-C4E0-768610D42B75}"/>
              </a:ext>
            </a:extLst>
          </p:cNvPr>
          <p:cNvPicPr>
            <a:picLocks noChangeAspect="1"/>
          </p:cNvPicPr>
          <p:nvPr/>
        </p:nvPicPr>
        <p:blipFill>
          <a:blip r:embed="rId2"/>
          <a:srcRect l="-186" t="49483" r="36842" b="20586"/>
          <a:stretch/>
        </p:blipFill>
        <p:spPr>
          <a:xfrm>
            <a:off x="-781709" y="4289418"/>
            <a:ext cx="3530253" cy="2574993"/>
          </a:xfrm>
          <a:prstGeom prst="rect">
            <a:avLst/>
          </a:prstGeom>
          <a:ln>
            <a:solidFill>
              <a:schemeClr val="bg1"/>
            </a:solidFill>
          </a:ln>
        </p:spPr>
      </p:pic>
      <p:sp>
        <p:nvSpPr>
          <p:cNvPr id="6" name="TextBox 5">
            <a:extLst>
              <a:ext uri="{FF2B5EF4-FFF2-40B4-BE49-F238E27FC236}">
                <a16:creationId xmlns:a16="http://schemas.microsoft.com/office/drawing/2014/main" id="{9C7897DB-B355-238B-89D2-D9D8D1E8BE12}"/>
              </a:ext>
            </a:extLst>
          </p:cNvPr>
          <p:cNvSpPr txBox="1"/>
          <p:nvPr/>
        </p:nvSpPr>
        <p:spPr>
          <a:xfrm>
            <a:off x="8104833" y="2636906"/>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highlight>
                  <a:srgbClr val="FFFF00"/>
                </a:highlight>
                <a:latin typeface="Times New Roman"/>
                <a:cs typeface="Times New Roman"/>
              </a:rPr>
              <a:t>R = -19.82 [dB]</a:t>
            </a:r>
          </a:p>
        </p:txBody>
      </p:sp>
      <p:sp>
        <p:nvSpPr>
          <p:cNvPr id="24" name="TextBox 23">
            <a:extLst>
              <a:ext uri="{FF2B5EF4-FFF2-40B4-BE49-F238E27FC236}">
                <a16:creationId xmlns:a16="http://schemas.microsoft.com/office/drawing/2014/main" id="{DBFEF395-4021-C09D-D9DD-429522A10F15}"/>
              </a:ext>
            </a:extLst>
          </p:cNvPr>
          <p:cNvSpPr txBox="1"/>
          <p:nvPr/>
        </p:nvSpPr>
        <p:spPr>
          <a:xfrm>
            <a:off x="8104834" y="3061868"/>
            <a:ext cx="26151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highlight>
                  <a:srgbClr val="FFFF00"/>
                </a:highlight>
                <a:latin typeface="Times New Roman"/>
                <a:cs typeface="Times New Roman"/>
              </a:rPr>
              <a:t>R = -36.90 [dB]</a:t>
            </a:r>
          </a:p>
        </p:txBody>
      </p:sp>
      <p:sp>
        <p:nvSpPr>
          <p:cNvPr id="28" name="TextBox 27">
            <a:extLst>
              <a:ext uri="{FF2B5EF4-FFF2-40B4-BE49-F238E27FC236}">
                <a16:creationId xmlns:a16="http://schemas.microsoft.com/office/drawing/2014/main" id="{E6C7DEEE-4883-F1F2-9953-19F1583033AB}"/>
              </a:ext>
            </a:extLst>
          </p:cNvPr>
          <p:cNvSpPr txBox="1"/>
          <p:nvPr/>
        </p:nvSpPr>
        <p:spPr>
          <a:xfrm>
            <a:off x="8104832" y="3428213"/>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-30.30 [dB]</a:t>
            </a:r>
          </a:p>
        </p:txBody>
      </p:sp>
      <p:sp>
        <p:nvSpPr>
          <p:cNvPr id="30" name="TextBox 29">
            <a:extLst>
              <a:ext uri="{FF2B5EF4-FFF2-40B4-BE49-F238E27FC236}">
                <a16:creationId xmlns:a16="http://schemas.microsoft.com/office/drawing/2014/main" id="{CCBD4E8A-7E7D-18AA-8568-0C4B41F205CB}"/>
              </a:ext>
            </a:extLst>
          </p:cNvPr>
          <p:cNvSpPr txBox="1"/>
          <p:nvPr/>
        </p:nvSpPr>
        <p:spPr>
          <a:xfrm>
            <a:off x="8104833" y="3838521"/>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-27.19 [dB]</a:t>
            </a:r>
          </a:p>
        </p:txBody>
      </p:sp>
      <p:pic>
        <p:nvPicPr>
          <p:cNvPr id="38" name="Picture 37" descr="A screenshot of a computer&#10;&#10;Description automatically generated">
            <a:extLst>
              <a:ext uri="{FF2B5EF4-FFF2-40B4-BE49-F238E27FC236}">
                <a16:creationId xmlns:a16="http://schemas.microsoft.com/office/drawing/2014/main" id="{2C027B78-1EEE-F8CC-3D17-27E7C0F8C217}"/>
              </a:ext>
            </a:extLst>
          </p:cNvPr>
          <p:cNvPicPr>
            <a:picLocks noChangeAspect="1"/>
          </p:cNvPicPr>
          <p:nvPr/>
        </p:nvPicPr>
        <p:blipFill>
          <a:blip r:embed="rId3"/>
          <a:stretch>
            <a:fillRect/>
          </a:stretch>
        </p:blipFill>
        <p:spPr>
          <a:xfrm>
            <a:off x="3246270" y="5424180"/>
            <a:ext cx="6169946" cy="1442199"/>
          </a:xfrm>
          <a:prstGeom prst="rect">
            <a:avLst/>
          </a:prstGeom>
        </p:spPr>
      </p:pic>
    </p:spTree>
    <p:extLst>
      <p:ext uri="{BB962C8B-B14F-4D97-AF65-F5344CB8AC3E}">
        <p14:creationId xmlns:p14="http://schemas.microsoft.com/office/powerpoint/2010/main" val="17709198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6F79-47F7-3816-9660-6C78791B8B6E}"/>
            </a:ext>
          </a:extLst>
        </p:cNvPr>
        <p:cNvGrpSpPr/>
        <p:nvPr/>
      </p:nvGrpSpPr>
      <p:grpSpPr>
        <a:xfrm>
          <a:off x="0" y="0"/>
          <a:ext cx="0" cy="0"/>
          <a:chOff x="0" y="0"/>
          <a:chExt cx="0" cy="0"/>
        </a:xfrm>
      </p:grpSpPr>
      <p:sp>
        <p:nvSpPr>
          <p:cNvPr id="7" name="Right Brace 6">
            <a:extLst>
              <a:ext uri="{FF2B5EF4-FFF2-40B4-BE49-F238E27FC236}">
                <a16:creationId xmlns:a16="http://schemas.microsoft.com/office/drawing/2014/main" id="{A0A1B81A-6402-8497-577B-63CDAF90C6A4}"/>
              </a:ext>
            </a:extLst>
          </p:cNvPr>
          <p:cNvSpPr/>
          <p:nvPr/>
        </p:nvSpPr>
        <p:spPr>
          <a:xfrm rot="5400000">
            <a:off x="5867424" y="2684564"/>
            <a:ext cx="313098" cy="350938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63E0CCA-663A-5270-076D-31C5D9ADADC9}"/>
              </a:ext>
            </a:extLst>
          </p:cNvPr>
          <p:cNvSpPr txBox="1"/>
          <p:nvPr/>
        </p:nvSpPr>
        <p:spPr>
          <a:xfrm>
            <a:off x="5122313" y="459318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cs typeface="Times New Roman"/>
              </a:rPr>
              <a:t>2nd Generation</a:t>
            </a:r>
          </a:p>
        </p:txBody>
      </p:sp>
      <p:sp>
        <p:nvSpPr>
          <p:cNvPr id="10" name="TextBox 9">
            <a:extLst>
              <a:ext uri="{FF2B5EF4-FFF2-40B4-BE49-F238E27FC236}">
                <a16:creationId xmlns:a16="http://schemas.microsoft.com/office/drawing/2014/main" id="{DE4C33CE-13E4-C2D2-8CA4-3C1B3596D4EC}"/>
              </a:ext>
            </a:extLst>
          </p:cNvPr>
          <p:cNvSpPr txBox="1"/>
          <p:nvPr/>
        </p:nvSpPr>
        <p:spPr>
          <a:xfrm>
            <a:off x="2475074" y="2827296"/>
            <a:ext cx="15475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a:latin typeface="Times New Roman"/>
                <a:cs typeface="Times New Roman"/>
              </a:rPr>
              <a:t>Random</a:t>
            </a:r>
          </a:p>
          <a:p>
            <a:pPr algn="r"/>
            <a:r>
              <a:rPr lang="en-US" sz="2000" b="1">
                <a:latin typeface="Times New Roman"/>
                <a:cs typeface="Times New Roman"/>
              </a:rPr>
              <a:t>Population</a:t>
            </a:r>
            <a:endParaRPr lang="en-US"/>
          </a:p>
          <a:p>
            <a:pPr algn="r"/>
            <a:r>
              <a:rPr lang="en-US" sz="2000" b="1">
                <a:latin typeface="Times New Roman"/>
                <a:cs typeface="Times New Roman"/>
              </a:rPr>
              <a:t>of 4</a:t>
            </a:r>
          </a:p>
        </p:txBody>
      </p:sp>
      <p:sp>
        <p:nvSpPr>
          <p:cNvPr id="11" name="TextBox 10">
            <a:extLst>
              <a:ext uri="{FF2B5EF4-FFF2-40B4-BE49-F238E27FC236}">
                <a16:creationId xmlns:a16="http://schemas.microsoft.com/office/drawing/2014/main" id="{333E55ED-9457-139A-5CA4-47314370C773}"/>
              </a:ext>
            </a:extLst>
          </p:cNvPr>
          <p:cNvSpPr txBox="1"/>
          <p:nvPr/>
        </p:nvSpPr>
        <p:spPr>
          <a:xfrm>
            <a:off x="5122400" y="183445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1 Chromosome</a:t>
            </a:r>
            <a:endParaRPr lang="en-US"/>
          </a:p>
        </p:txBody>
      </p:sp>
      <p:sp>
        <p:nvSpPr>
          <p:cNvPr id="19" name="Right Brace 18">
            <a:extLst>
              <a:ext uri="{FF2B5EF4-FFF2-40B4-BE49-F238E27FC236}">
                <a16:creationId xmlns:a16="http://schemas.microsoft.com/office/drawing/2014/main" id="{DAE45B6F-4EE7-3950-0B91-A7841F963082}"/>
              </a:ext>
            </a:extLst>
          </p:cNvPr>
          <p:cNvSpPr/>
          <p:nvPr/>
        </p:nvSpPr>
        <p:spPr>
          <a:xfrm flipH="1">
            <a:off x="4069898" y="2692028"/>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6F9CE44A-9638-D929-450D-53100DCF55EE}"/>
              </a:ext>
            </a:extLst>
          </p:cNvPr>
          <p:cNvSpPr/>
          <p:nvPr/>
        </p:nvSpPr>
        <p:spPr>
          <a:xfrm flipH="1">
            <a:off x="4069898" y="3512845"/>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312639E2-E17A-0E62-9481-EE5FF918C086}"/>
              </a:ext>
            </a:extLst>
          </p:cNvPr>
          <p:cNvSpPr/>
          <p:nvPr/>
        </p:nvSpPr>
        <p:spPr>
          <a:xfrm flipH="1">
            <a:off x="4069898" y="3113954"/>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DA90FCB-18AC-D865-6D6C-D300E7EC689F}"/>
              </a:ext>
            </a:extLst>
          </p:cNvPr>
          <p:cNvSpPr/>
          <p:nvPr/>
        </p:nvSpPr>
        <p:spPr>
          <a:xfrm flipH="1">
            <a:off x="4069897" y="3890250"/>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row: Down 22">
            <a:extLst>
              <a:ext uri="{FF2B5EF4-FFF2-40B4-BE49-F238E27FC236}">
                <a16:creationId xmlns:a16="http://schemas.microsoft.com/office/drawing/2014/main" id="{2940F85A-6F72-F0DB-6EE4-66E4DCDF5512}"/>
              </a:ext>
            </a:extLst>
          </p:cNvPr>
          <p:cNvSpPr/>
          <p:nvPr/>
        </p:nvSpPr>
        <p:spPr>
          <a:xfrm>
            <a:off x="6356234" y="2224394"/>
            <a:ext cx="139575" cy="3422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4">
            <a:extLst>
              <a:ext uri="{FF2B5EF4-FFF2-40B4-BE49-F238E27FC236}">
                <a16:creationId xmlns:a16="http://schemas.microsoft.com/office/drawing/2014/main" id="{990D3DB8-D521-E4F3-66F3-2AC8522A0E7D}"/>
              </a:ext>
            </a:extLst>
          </p:cNvPr>
          <p:cNvSpPr txBox="1"/>
          <p:nvPr/>
        </p:nvSpPr>
        <p:spPr>
          <a:xfrm>
            <a:off x="4142137" y="2601920"/>
            <a:ext cx="3959966" cy="169277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rgbClr val="FF0000"/>
                </a:solidFill>
                <a:latin typeface="Times New Roman"/>
                <a:cs typeface="Times New Roman"/>
              </a:rPr>
              <a:t>0.10   2.56  4.89</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1   8  13</a:t>
            </a:r>
          </a:p>
          <a:p>
            <a:r>
              <a:rPr lang="en-US" sz="2600" b="1">
                <a:solidFill>
                  <a:srgbClr val="FF0000"/>
                </a:solidFill>
                <a:latin typeface="Times New Roman"/>
                <a:cs typeface="Times New Roman"/>
              </a:rPr>
              <a:t>3.45   1.32  0.78</a:t>
            </a:r>
            <a:r>
              <a:rPr lang="en-US" sz="2600" b="1">
                <a:solidFill>
                  <a:srgbClr val="002060"/>
                </a:solidFill>
                <a:latin typeface="Times New Roman"/>
                <a:cs typeface="Times New Roman"/>
              </a:rPr>
              <a:t>  </a:t>
            </a:r>
            <a:r>
              <a:rPr lang="en-US" sz="2600" b="1">
                <a:latin typeface="Times New Roman"/>
                <a:cs typeface="Times New Roman"/>
              </a:rPr>
              <a:t> </a:t>
            </a:r>
            <a:r>
              <a:rPr lang="en-US" sz="2600" b="1">
                <a:solidFill>
                  <a:schemeClr val="accent3"/>
                </a:solidFill>
                <a:latin typeface="Times New Roman"/>
                <a:cs typeface="Times New Roman"/>
              </a:rPr>
              <a:t>4  14 15</a:t>
            </a:r>
          </a:p>
          <a:p>
            <a:r>
              <a:rPr lang="en-US" sz="2600" b="1">
                <a:solidFill>
                  <a:srgbClr val="FF0000"/>
                </a:solidFill>
                <a:highlight>
                  <a:srgbClr val="FFFF00"/>
                </a:highlight>
                <a:latin typeface="Times New Roman"/>
                <a:cs typeface="Times New Roman"/>
              </a:rPr>
              <a:t>1.25</a:t>
            </a:r>
            <a:r>
              <a:rPr lang="en-US" sz="2600" b="1">
                <a:solidFill>
                  <a:srgbClr val="FF0000"/>
                </a:solidFill>
                <a:latin typeface="Times New Roman"/>
                <a:cs typeface="Times New Roman"/>
              </a:rPr>
              <a:t>   2.01  1.64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5  12  9  </a:t>
            </a:r>
          </a:p>
          <a:p>
            <a:r>
              <a:rPr lang="en-US" sz="2600" b="1">
                <a:solidFill>
                  <a:srgbClr val="FF0000"/>
                </a:solidFill>
                <a:latin typeface="Times New Roman"/>
                <a:cs typeface="Times New Roman"/>
              </a:rPr>
              <a:t>3.00   0.24  0.74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2  10  2  </a:t>
            </a:r>
            <a:r>
              <a:rPr lang="en-US" sz="2600" b="1">
                <a:solidFill>
                  <a:schemeClr val="accent6">
                    <a:lumMod val="76000"/>
                  </a:schemeClr>
                </a:solidFill>
                <a:latin typeface="Times New Roman"/>
                <a:cs typeface="Times New Roman"/>
              </a:rPr>
              <a:t>  </a:t>
            </a:r>
          </a:p>
        </p:txBody>
      </p:sp>
      <p:sp>
        <p:nvSpPr>
          <p:cNvPr id="13" name="TextBox 12">
            <a:extLst>
              <a:ext uri="{FF2B5EF4-FFF2-40B4-BE49-F238E27FC236}">
                <a16:creationId xmlns:a16="http://schemas.microsoft.com/office/drawing/2014/main" id="{0E95894C-C7D7-E991-50EE-47AB63BB4871}"/>
              </a:ext>
            </a:extLst>
          </p:cNvPr>
          <p:cNvSpPr txBox="1"/>
          <p:nvPr/>
        </p:nvSpPr>
        <p:spPr>
          <a:xfrm>
            <a:off x="4023816" y="4998937"/>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FF0000"/>
                </a:solidFill>
                <a:latin typeface="Times New Roman"/>
                <a:cs typeface="Times New Roman"/>
              </a:rPr>
              <a:t>Thickness</a:t>
            </a:r>
          </a:p>
        </p:txBody>
      </p:sp>
      <p:sp>
        <p:nvSpPr>
          <p:cNvPr id="14" name="TextBox 13">
            <a:extLst>
              <a:ext uri="{FF2B5EF4-FFF2-40B4-BE49-F238E27FC236}">
                <a16:creationId xmlns:a16="http://schemas.microsoft.com/office/drawing/2014/main" id="{D998B72B-6034-C7D9-F0C3-18CD4D862D3B}"/>
              </a:ext>
            </a:extLst>
          </p:cNvPr>
          <p:cNvSpPr txBox="1"/>
          <p:nvPr/>
        </p:nvSpPr>
        <p:spPr>
          <a:xfrm>
            <a:off x="6024066" y="4998937"/>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accent3"/>
                </a:solidFill>
                <a:latin typeface="Times New Roman"/>
                <a:cs typeface="Times New Roman"/>
              </a:rPr>
              <a:t>Material</a:t>
            </a:r>
          </a:p>
        </p:txBody>
      </p:sp>
      <p:sp>
        <p:nvSpPr>
          <p:cNvPr id="17" name="Rectangle: Rounded Corners 16">
            <a:extLst>
              <a:ext uri="{FF2B5EF4-FFF2-40B4-BE49-F238E27FC236}">
                <a16:creationId xmlns:a16="http://schemas.microsoft.com/office/drawing/2014/main" id="{291268A4-902D-B164-A6EB-A957A96DE456}"/>
              </a:ext>
            </a:extLst>
          </p:cNvPr>
          <p:cNvSpPr/>
          <p:nvPr/>
        </p:nvSpPr>
        <p:spPr>
          <a:xfrm>
            <a:off x="4212341" y="2621168"/>
            <a:ext cx="3620762" cy="42157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1">
            <a:extLst>
              <a:ext uri="{FF2B5EF4-FFF2-40B4-BE49-F238E27FC236}">
                <a16:creationId xmlns:a16="http://schemas.microsoft.com/office/drawing/2014/main" id="{FBF2C471-0C0F-20B7-701E-10C185343EA3}"/>
              </a:ext>
            </a:extLst>
          </p:cNvPr>
          <p:cNvSpPr>
            <a:spLocks noGrp="1"/>
          </p:cNvSpPr>
          <p:nvPr>
            <p:ph type="title"/>
          </p:nvPr>
        </p:nvSpPr>
        <p:spPr>
          <a:xfrm>
            <a:off x="480411" y="303990"/>
            <a:ext cx="11224553" cy="1622321"/>
          </a:xfrm>
        </p:spPr>
        <p:txBody>
          <a:bodyPr>
            <a:normAutofit/>
          </a:bodyPr>
          <a:lstStyle/>
          <a:p>
            <a:pPr algn="ctr"/>
            <a:r>
              <a:rPr lang="en-US" sz="3600">
                <a:latin typeface="Times New Roman"/>
                <a:cs typeface="Times New Roman"/>
              </a:rPr>
              <a:t>Crossover and Mutation Allow the Solution to Evolve Over Generations</a:t>
            </a:r>
          </a:p>
        </p:txBody>
      </p:sp>
      <p:pic>
        <p:nvPicPr>
          <p:cNvPr id="3" name="Picture 2" descr="A diagram of a diagram&#10;&#10;Description automatically generated">
            <a:extLst>
              <a:ext uri="{FF2B5EF4-FFF2-40B4-BE49-F238E27FC236}">
                <a16:creationId xmlns:a16="http://schemas.microsoft.com/office/drawing/2014/main" id="{5E7375C8-E5AA-3D3F-C4E0-768610D42B75}"/>
              </a:ext>
            </a:extLst>
          </p:cNvPr>
          <p:cNvPicPr>
            <a:picLocks noChangeAspect="1"/>
          </p:cNvPicPr>
          <p:nvPr/>
        </p:nvPicPr>
        <p:blipFill>
          <a:blip r:embed="rId2"/>
          <a:srcRect l="-186" t="49483" r="36842" b="20586"/>
          <a:stretch/>
        </p:blipFill>
        <p:spPr>
          <a:xfrm>
            <a:off x="-781709" y="4289418"/>
            <a:ext cx="3530253" cy="2574993"/>
          </a:xfrm>
          <a:prstGeom prst="rect">
            <a:avLst/>
          </a:prstGeom>
          <a:ln>
            <a:solidFill>
              <a:schemeClr val="bg1"/>
            </a:solidFill>
          </a:ln>
        </p:spPr>
      </p:pic>
      <p:sp>
        <p:nvSpPr>
          <p:cNvPr id="6" name="TextBox 5">
            <a:extLst>
              <a:ext uri="{FF2B5EF4-FFF2-40B4-BE49-F238E27FC236}">
                <a16:creationId xmlns:a16="http://schemas.microsoft.com/office/drawing/2014/main" id="{9C7897DB-B355-238B-89D2-D9D8D1E8BE12}"/>
              </a:ext>
            </a:extLst>
          </p:cNvPr>
          <p:cNvSpPr txBox="1"/>
          <p:nvPr/>
        </p:nvSpPr>
        <p:spPr>
          <a:xfrm>
            <a:off x="8104833" y="2636906"/>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-19.82 [dB]</a:t>
            </a:r>
          </a:p>
        </p:txBody>
      </p:sp>
      <p:sp>
        <p:nvSpPr>
          <p:cNvPr id="24" name="TextBox 23">
            <a:extLst>
              <a:ext uri="{FF2B5EF4-FFF2-40B4-BE49-F238E27FC236}">
                <a16:creationId xmlns:a16="http://schemas.microsoft.com/office/drawing/2014/main" id="{DBFEF395-4021-C09D-D9DD-429522A10F15}"/>
              </a:ext>
            </a:extLst>
          </p:cNvPr>
          <p:cNvSpPr txBox="1"/>
          <p:nvPr/>
        </p:nvSpPr>
        <p:spPr>
          <a:xfrm>
            <a:off x="8104834" y="3061868"/>
            <a:ext cx="26151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-36.90 [dB]</a:t>
            </a:r>
          </a:p>
        </p:txBody>
      </p:sp>
      <p:sp>
        <p:nvSpPr>
          <p:cNvPr id="28" name="TextBox 27">
            <a:extLst>
              <a:ext uri="{FF2B5EF4-FFF2-40B4-BE49-F238E27FC236}">
                <a16:creationId xmlns:a16="http://schemas.microsoft.com/office/drawing/2014/main" id="{E6C7DEEE-4883-F1F2-9953-19F1583033AB}"/>
              </a:ext>
            </a:extLst>
          </p:cNvPr>
          <p:cNvSpPr txBox="1"/>
          <p:nvPr/>
        </p:nvSpPr>
        <p:spPr>
          <a:xfrm>
            <a:off x="8104832" y="3428213"/>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highlight>
                  <a:srgbClr val="FFFF00"/>
                </a:highlight>
                <a:latin typeface="Times New Roman"/>
                <a:cs typeface="Times New Roman"/>
              </a:rPr>
              <a:t>R = -21.10 [dB]</a:t>
            </a:r>
          </a:p>
        </p:txBody>
      </p:sp>
      <p:sp>
        <p:nvSpPr>
          <p:cNvPr id="30" name="TextBox 29">
            <a:extLst>
              <a:ext uri="{FF2B5EF4-FFF2-40B4-BE49-F238E27FC236}">
                <a16:creationId xmlns:a16="http://schemas.microsoft.com/office/drawing/2014/main" id="{CCBD4E8A-7E7D-18AA-8568-0C4B41F205CB}"/>
              </a:ext>
            </a:extLst>
          </p:cNvPr>
          <p:cNvSpPr txBox="1"/>
          <p:nvPr/>
        </p:nvSpPr>
        <p:spPr>
          <a:xfrm>
            <a:off x="8104833" y="3838521"/>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-27.19 [dB]</a:t>
            </a:r>
          </a:p>
        </p:txBody>
      </p:sp>
      <p:pic>
        <p:nvPicPr>
          <p:cNvPr id="38" name="Picture 37" descr="A screenshot of a computer&#10;&#10;Description automatically generated">
            <a:extLst>
              <a:ext uri="{FF2B5EF4-FFF2-40B4-BE49-F238E27FC236}">
                <a16:creationId xmlns:a16="http://schemas.microsoft.com/office/drawing/2014/main" id="{2C027B78-1EEE-F8CC-3D17-27E7C0F8C217}"/>
              </a:ext>
            </a:extLst>
          </p:cNvPr>
          <p:cNvPicPr>
            <a:picLocks noChangeAspect="1"/>
          </p:cNvPicPr>
          <p:nvPr/>
        </p:nvPicPr>
        <p:blipFill>
          <a:blip r:embed="rId3"/>
          <a:stretch>
            <a:fillRect/>
          </a:stretch>
        </p:blipFill>
        <p:spPr>
          <a:xfrm>
            <a:off x="3246270" y="5424180"/>
            <a:ext cx="6169946" cy="1442199"/>
          </a:xfrm>
          <a:prstGeom prst="rect">
            <a:avLst/>
          </a:prstGeom>
        </p:spPr>
      </p:pic>
      <p:sp>
        <p:nvSpPr>
          <p:cNvPr id="40" name="TextBox 39">
            <a:extLst>
              <a:ext uri="{FF2B5EF4-FFF2-40B4-BE49-F238E27FC236}">
                <a16:creationId xmlns:a16="http://schemas.microsoft.com/office/drawing/2014/main" id="{79660932-E622-A427-93AB-149A268D22A4}"/>
              </a:ext>
            </a:extLst>
          </p:cNvPr>
          <p:cNvSpPr txBox="1"/>
          <p:nvPr/>
        </p:nvSpPr>
        <p:spPr>
          <a:xfrm>
            <a:off x="8104780" y="3010432"/>
            <a:ext cx="1626139" cy="398638"/>
          </a:xfrm>
          <a:prstGeom prst="rect">
            <a:avLst/>
          </a:prstGeom>
          <a:noFill/>
          <a:ln w="28575"/>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latin typeface="Times New Roman"/>
              <a:cs typeface="Times New Roman"/>
            </a:endParaRPr>
          </a:p>
        </p:txBody>
      </p:sp>
    </p:spTree>
    <p:extLst>
      <p:ext uri="{BB962C8B-B14F-4D97-AF65-F5344CB8AC3E}">
        <p14:creationId xmlns:p14="http://schemas.microsoft.com/office/powerpoint/2010/main" val="285493353"/>
      </p:ext>
    </p:extLst>
  </p:cSld>
  <p:clrMapOvr>
    <a:overrideClrMapping bg1="lt1" tx1="dk1" bg2="lt2" tx2="dk2" accent1="accent1" accent2="accent2" accent3="accent3" accent4="accent4" accent5="accent5" accent6="accent6" hlink="hlink" folHlink="folHlink"/>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16F79-47F7-3816-9660-6C78791B8B6E}"/>
            </a:ext>
          </a:extLst>
        </p:cNvPr>
        <p:cNvGrpSpPr/>
        <p:nvPr/>
      </p:nvGrpSpPr>
      <p:grpSpPr>
        <a:xfrm>
          <a:off x="0" y="0"/>
          <a:ext cx="0" cy="0"/>
          <a:chOff x="0" y="0"/>
          <a:chExt cx="0" cy="0"/>
        </a:xfrm>
      </p:grpSpPr>
      <p:sp>
        <p:nvSpPr>
          <p:cNvPr id="7" name="Right Brace 6">
            <a:extLst>
              <a:ext uri="{FF2B5EF4-FFF2-40B4-BE49-F238E27FC236}">
                <a16:creationId xmlns:a16="http://schemas.microsoft.com/office/drawing/2014/main" id="{A0A1B81A-6402-8497-577B-63CDAF90C6A4}"/>
              </a:ext>
            </a:extLst>
          </p:cNvPr>
          <p:cNvSpPr/>
          <p:nvPr/>
        </p:nvSpPr>
        <p:spPr>
          <a:xfrm rot="5400000">
            <a:off x="5867424" y="2684564"/>
            <a:ext cx="313098" cy="3509382"/>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63E0CCA-663A-5270-076D-31C5D9ADADC9}"/>
              </a:ext>
            </a:extLst>
          </p:cNvPr>
          <p:cNvSpPr txBox="1"/>
          <p:nvPr/>
        </p:nvSpPr>
        <p:spPr>
          <a:xfrm>
            <a:off x="5122313" y="4593188"/>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Times New Roman"/>
                <a:cs typeface="Times New Roman"/>
              </a:rPr>
              <a:t>2nd Generation</a:t>
            </a:r>
          </a:p>
        </p:txBody>
      </p:sp>
      <p:sp>
        <p:nvSpPr>
          <p:cNvPr id="10" name="TextBox 9">
            <a:extLst>
              <a:ext uri="{FF2B5EF4-FFF2-40B4-BE49-F238E27FC236}">
                <a16:creationId xmlns:a16="http://schemas.microsoft.com/office/drawing/2014/main" id="{DE4C33CE-13E4-C2D2-8CA4-3C1B3596D4EC}"/>
              </a:ext>
            </a:extLst>
          </p:cNvPr>
          <p:cNvSpPr txBox="1"/>
          <p:nvPr/>
        </p:nvSpPr>
        <p:spPr>
          <a:xfrm>
            <a:off x="2475074" y="2827296"/>
            <a:ext cx="15475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000" b="1">
                <a:latin typeface="Times New Roman"/>
                <a:cs typeface="Times New Roman"/>
              </a:rPr>
              <a:t>Random</a:t>
            </a:r>
          </a:p>
          <a:p>
            <a:pPr algn="r"/>
            <a:r>
              <a:rPr lang="en-US" sz="2000" b="1">
                <a:latin typeface="Times New Roman"/>
                <a:cs typeface="Times New Roman"/>
              </a:rPr>
              <a:t>Population</a:t>
            </a:r>
            <a:endParaRPr lang="en-US"/>
          </a:p>
          <a:p>
            <a:pPr algn="r"/>
            <a:r>
              <a:rPr lang="en-US" sz="2000" b="1">
                <a:latin typeface="Times New Roman"/>
                <a:cs typeface="Times New Roman"/>
              </a:rPr>
              <a:t>of 4</a:t>
            </a:r>
          </a:p>
        </p:txBody>
      </p:sp>
      <p:sp>
        <p:nvSpPr>
          <p:cNvPr id="11" name="TextBox 10">
            <a:extLst>
              <a:ext uri="{FF2B5EF4-FFF2-40B4-BE49-F238E27FC236}">
                <a16:creationId xmlns:a16="http://schemas.microsoft.com/office/drawing/2014/main" id="{333E55ED-9457-139A-5CA4-47314370C773}"/>
              </a:ext>
            </a:extLst>
          </p:cNvPr>
          <p:cNvSpPr txBox="1"/>
          <p:nvPr/>
        </p:nvSpPr>
        <p:spPr>
          <a:xfrm>
            <a:off x="5122400" y="183445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1 Chromosome</a:t>
            </a:r>
            <a:endParaRPr lang="en-US"/>
          </a:p>
        </p:txBody>
      </p:sp>
      <p:sp>
        <p:nvSpPr>
          <p:cNvPr id="19" name="Right Brace 18">
            <a:extLst>
              <a:ext uri="{FF2B5EF4-FFF2-40B4-BE49-F238E27FC236}">
                <a16:creationId xmlns:a16="http://schemas.microsoft.com/office/drawing/2014/main" id="{DAE45B6F-4EE7-3950-0B91-A7841F963082}"/>
              </a:ext>
            </a:extLst>
          </p:cNvPr>
          <p:cNvSpPr/>
          <p:nvPr/>
        </p:nvSpPr>
        <p:spPr>
          <a:xfrm flipH="1">
            <a:off x="4069898" y="2692028"/>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a:extLst>
              <a:ext uri="{FF2B5EF4-FFF2-40B4-BE49-F238E27FC236}">
                <a16:creationId xmlns:a16="http://schemas.microsoft.com/office/drawing/2014/main" id="{6F9CE44A-9638-D929-450D-53100DCF55EE}"/>
              </a:ext>
            </a:extLst>
          </p:cNvPr>
          <p:cNvSpPr/>
          <p:nvPr/>
        </p:nvSpPr>
        <p:spPr>
          <a:xfrm flipH="1">
            <a:off x="4069898" y="3512845"/>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312639E2-E17A-0E62-9481-EE5FF918C086}"/>
              </a:ext>
            </a:extLst>
          </p:cNvPr>
          <p:cNvSpPr/>
          <p:nvPr/>
        </p:nvSpPr>
        <p:spPr>
          <a:xfrm flipH="1">
            <a:off x="4069898" y="3113954"/>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DA90FCB-18AC-D865-6D6C-D300E7EC689F}"/>
              </a:ext>
            </a:extLst>
          </p:cNvPr>
          <p:cNvSpPr/>
          <p:nvPr/>
        </p:nvSpPr>
        <p:spPr>
          <a:xfrm flipH="1">
            <a:off x="4069897" y="3890250"/>
            <a:ext cx="73363" cy="257400"/>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row: Down 22">
            <a:extLst>
              <a:ext uri="{FF2B5EF4-FFF2-40B4-BE49-F238E27FC236}">
                <a16:creationId xmlns:a16="http://schemas.microsoft.com/office/drawing/2014/main" id="{2940F85A-6F72-F0DB-6EE4-66E4DCDF5512}"/>
              </a:ext>
            </a:extLst>
          </p:cNvPr>
          <p:cNvSpPr/>
          <p:nvPr/>
        </p:nvSpPr>
        <p:spPr>
          <a:xfrm>
            <a:off x="6356234" y="2224394"/>
            <a:ext cx="139575" cy="3422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4">
            <a:extLst>
              <a:ext uri="{FF2B5EF4-FFF2-40B4-BE49-F238E27FC236}">
                <a16:creationId xmlns:a16="http://schemas.microsoft.com/office/drawing/2014/main" id="{990D3DB8-D521-E4F3-66F3-2AC8522A0E7D}"/>
              </a:ext>
            </a:extLst>
          </p:cNvPr>
          <p:cNvSpPr txBox="1"/>
          <p:nvPr/>
        </p:nvSpPr>
        <p:spPr>
          <a:xfrm>
            <a:off x="4142137" y="2601920"/>
            <a:ext cx="3959966" cy="169277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600" b="1">
                <a:solidFill>
                  <a:srgbClr val="FF0000"/>
                </a:solidFill>
                <a:latin typeface="Times New Roman"/>
                <a:cs typeface="Times New Roman"/>
              </a:rPr>
              <a:t>0.10   2.56  4.89</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1   8  13</a:t>
            </a:r>
          </a:p>
          <a:p>
            <a:r>
              <a:rPr lang="en-US" sz="2600" b="1">
                <a:solidFill>
                  <a:srgbClr val="FF0000"/>
                </a:solidFill>
                <a:latin typeface="Times New Roman"/>
                <a:cs typeface="Times New Roman"/>
              </a:rPr>
              <a:t>3.45   1.32  0.78</a:t>
            </a:r>
            <a:r>
              <a:rPr lang="en-US" sz="2600" b="1">
                <a:solidFill>
                  <a:srgbClr val="002060"/>
                </a:solidFill>
                <a:latin typeface="Times New Roman"/>
                <a:cs typeface="Times New Roman"/>
              </a:rPr>
              <a:t>  </a:t>
            </a:r>
            <a:r>
              <a:rPr lang="en-US" sz="2600" b="1">
                <a:latin typeface="Times New Roman"/>
                <a:cs typeface="Times New Roman"/>
              </a:rPr>
              <a:t> </a:t>
            </a:r>
            <a:r>
              <a:rPr lang="en-US" sz="2600" b="1">
                <a:solidFill>
                  <a:schemeClr val="accent3"/>
                </a:solidFill>
                <a:latin typeface="Times New Roman"/>
                <a:cs typeface="Times New Roman"/>
              </a:rPr>
              <a:t>4  14 15</a:t>
            </a:r>
          </a:p>
          <a:p>
            <a:r>
              <a:rPr lang="en-US" sz="2600" b="1">
                <a:solidFill>
                  <a:srgbClr val="FF0000"/>
                </a:solidFill>
                <a:highlight>
                  <a:srgbClr val="FFFF00"/>
                </a:highlight>
                <a:latin typeface="Times New Roman"/>
                <a:cs typeface="Times New Roman"/>
              </a:rPr>
              <a:t>1.25</a:t>
            </a:r>
            <a:r>
              <a:rPr lang="en-US" sz="2600" b="1">
                <a:solidFill>
                  <a:srgbClr val="FF0000"/>
                </a:solidFill>
                <a:latin typeface="Times New Roman"/>
                <a:cs typeface="Times New Roman"/>
              </a:rPr>
              <a:t>   2.01  1.64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5  12  9  </a:t>
            </a:r>
          </a:p>
          <a:p>
            <a:r>
              <a:rPr lang="en-US" sz="2600" b="1">
                <a:solidFill>
                  <a:srgbClr val="FF0000"/>
                </a:solidFill>
                <a:latin typeface="Times New Roman"/>
                <a:cs typeface="Times New Roman"/>
              </a:rPr>
              <a:t>3.00   0.24  0.74</a:t>
            </a:r>
            <a:r>
              <a:rPr lang="en-US" sz="2600" b="1">
                <a:latin typeface="Times New Roman"/>
                <a:cs typeface="Times New Roman"/>
              </a:rPr>
              <a:t> </a:t>
            </a:r>
            <a:r>
              <a:rPr lang="en-US" sz="2600" b="1">
                <a:solidFill>
                  <a:srgbClr val="000000"/>
                </a:solidFill>
                <a:latin typeface="Times New Roman"/>
                <a:cs typeface="Times New Roman"/>
              </a:rPr>
              <a:t>  </a:t>
            </a:r>
            <a:r>
              <a:rPr lang="en-US" sz="2600" b="1">
                <a:solidFill>
                  <a:schemeClr val="accent3"/>
                </a:solidFill>
                <a:latin typeface="Times New Roman"/>
                <a:cs typeface="Times New Roman"/>
              </a:rPr>
              <a:t>2  10  2  </a:t>
            </a:r>
            <a:r>
              <a:rPr lang="en-US" sz="2600" b="1">
                <a:solidFill>
                  <a:schemeClr val="accent6">
                    <a:lumMod val="76000"/>
                  </a:schemeClr>
                </a:solidFill>
                <a:latin typeface="Times New Roman"/>
                <a:cs typeface="Times New Roman"/>
              </a:rPr>
              <a:t>  </a:t>
            </a:r>
          </a:p>
        </p:txBody>
      </p:sp>
      <p:sp>
        <p:nvSpPr>
          <p:cNvPr id="13" name="TextBox 12">
            <a:extLst>
              <a:ext uri="{FF2B5EF4-FFF2-40B4-BE49-F238E27FC236}">
                <a16:creationId xmlns:a16="http://schemas.microsoft.com/office/drawing/2014/main" id="{0E95894C-C7D7-E991-50EE-47AB63BB4871}"/>
              </a:ext>
            </a:extLst>
          </p:cNvPr>
          <p:cNvSpPr txBox="1"/>
          <p:nvPr/>
        </p:nvSpPr>
        <p:spPr>
          <a:xfrm>
            <a:off x="4023816" y="4998937"/>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rgbClr val="FF0000"/>
                </a:solidFill>
                <a:latin typeface="Times New Roman"/>
                <a:cs typeface="Times New Roman"/>
              </a:rPr>
              <a:t>Thickness</a:t>
            </a:r>
          </a:p>
        </p:txBody>
      </p:sp>
      <p:sp>
        <p:nvSpPr>
          <p:cNvPr id="14" name="TextBox 13">
            <a:extLst>
              <a:ext uri="{FF2B5EF4-FFF2-40B4-BE49-F238E27FC236}">
                <a16:creationId xmlns:a16="http://schemas.microsoft.com/office/drawing/2014/main" id="{D998B72B-6034-C7D9-F0C3-18CD4D862D3B}"/>
              </a:ext>
            </a:extLst>
          </p:cNvPr>
          <p:cNvSpPr txBox="1"/>
          <p:nvPr/>
        </p:nvSpPr>
        <p:spPr>
          <a:xfrm>
            <a:off x="6024066" y="4998937"/>
            <a:ext cx="24685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solidFill>
                  <a:schemeClr val="accent3"/>
                </a:solidFill>
                <a:latin typeface="Times New Roman"/>
                <a:cs typeface="Times New Roman"/>
              </a:rPr>
              <a:t>Material</a:t>
            </a:r>
          </a:p>
        </p:txBody>
      </p:sp>
      <p:sp>
        <p:nvSpPr>
          <p:cNvPr id="17" name="Rectangle: Rounded Corners 16">
            <a:extLst>
              <a:ext uri="{FF2B5EF4-FFF2-40B4-BE49-F238E27FC236}">
                <a16:creationId xmlns:a16="http://schemas.microsoft.com/office/drawing/2014/main" id="{291268A4-902D-B164-A6EB-A957A96DE456}"/>
              </a:ext>
            </a:extLst>
          </p:cNvPr>
          <p:cNvSpPr/>
          <p:nvPr/>
        </p:nvSpPr>
        <p:spPr>
          <a:xfrm>
            <a:off x="4212341" y="2621168"/>
            <a:ext cx="3620762" cy="42157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itle 1">
            <a:extLst>
              <a:ext uri="{FF2B5EF4-FFF2-40B4-BE49-F238E27FC236}">
                <a16:creationId xmlns:a16="http://schemas.microsoft.com/office/drawing/2014/main" id="{FBF2C471-0C0F-20B7-701E-10C185343EA3}"/>
              </a:ext>
            </a:extLst>
          </p:cNvPr>
          <p:cNvSpPr>
            <a:spLocks noGrp="1"/>
          </p:cNvSpPr>
          <p:nvPr>
            <p:ph type="title"/>
          </p:nvPr>
        </p:nvSpPr>
        <p:spPr>
          <a:xfrm>
            <a:off x="480411" y="303990"/>
            <a:ext cx="11224553" cy="1622321"/>
          </a:xfrm>
        </p:spPr>
        <p:txBody>
          <a:bodyPr>
            <a:normAutofit/>
          </a:bodyPr>
          <a:lstStyle/>
          <a:p>
            <a:pPr algn="ctr"/>
            <a:r>
              <a:rPr lang="en-US" sz="3600">
                <a:latin typeface="Times New Roman"/>
                <a:cs typeface="Times New Roman"/>
              </a:rPr>
              <a:t>Crossover and Mutation Allow the Solution to Evolve Over Generations</a:t>
            </a:r>
          </a:p>
        </p:txBody>
      </p:sp>
      <p:pic>
        <p:nvPicPr>
          <p:cNvPr id="3" name="Picture 2" descr="A diagram of a diagram&#10;&#10;Description automatically generated">
            <a:extLst>
              <a:ext uri="{FF2B5EF4-FFF2-40B4-BE49-F238E27FC236}">
                <a16:creationId xmlns:a16="http://schemas.microsoft.com/office/drawing/2014/main" id="{5E7375C8-E5AA-3D3F-C4E0-768610D42B75}"/>
              </a:ext>
            </a:extLst>
          </p:cNvPr>
          <p:cNvPicPr>
            <a:picLocks noChangeAspect="1"/>
          </p:cNvPicPr>
          <p:nvPr/>
        </p:nvPicPr>
        <p:blipFill>
          <a:blip r:embed="rId2"/>
          <a:srcRect l="-186" t="49483" r="36842" b="20586"/>
          <a:stretch/>
        </p:blipFill>
        <p:spPr>
          <a:xfrm>
            <a:off x="-781709" y="4289418"/>
            <a:ext cx="3530253" cy="2574993"/>
          </a:xfrm>
          <a:prstGeom prst="rect">
            <a:avLst/>
          </a:prstGeom>
          <a:ln>
            <a:solidFill>
              <a:schemeClr val="bg1"/>
            </a:solidFill>
          </a:ln>
        </p:spPr>
      </p:pic>
      <p:sp>
        <p:nvSpPr>
          <p:cNvPr id="6" name="TextBox 5">
            <a:extLst>
              <a:ext uri="{FF2B5EF4-FFF2-40B4-BE49-F238E27FC236}">
                <a16:creationId xmlns:a16="http://schemas.microsoft.com/office/drawing/2014/main" id="{9C7897DB-B355-238B-89D2-D9D8D1E8BE12}"/>
              </a:ext>
            </a:extLst>
          </p:cNvPr>
          <p:cNvSpPr txBox="1"/>
          <p:nvPr/>
        </p:nvSpPr>
        <p:spPr>
          <a:xfrm>
            <a:off x="8104833" y="2636906"/>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-19.82 [dB]</a:t>
            </a:r>
          </a:p>
        </p:txBody>
      </p:sp>
      <p:sp>
        <p:nvSpPr>
          <p:cNvPr id="24" name="TextBox 23">
            <a:extLst>
              <a:ext uri="{FF2B5EF4-FFF2-40B4-BE49-F238E27FC236}">
                <a16:creationId xmlns:a16="http://schemas.microsoft.com/office/drawing/2014/main" id="{DBFEF395-4021-C09D-D9DD-429522A10F15}"/>
              </a:ext>
            </a:extLst>
          </p:cNvPr>
          <p:cNvSpPr txBox="1"/>
          <p:nvPr/>
        </p:nvSpPr>
        <p:spPr>
          <a:xfrm>
            <a:off x="8104834" y="3061868"/>
            <a:ext cx="26151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-36.90 [dB]</a:t>
            </a:r>
          </a:p>
        </p:txBody>
      </p:sp>
      <p:sp>
        <p:nvSpPr>
          <p:cNvPr id="28" name="TextBox 27">
            <a:extLst>
              <a:ext uri="{FF2B5EF4-FFF2-40B4-BE49-F238E27FC236}">
                <a16:creationId xmlns:a16="http://schemas.microsoft.com/office/drawing/2014/main" id="{E6C7DEEE-4883-F1F2-9953-19F1583033AB}"/>
              </a:ext>
            </a:extLst>
          </p:cNvPr>
          <p:cNvSpPr txBox="1"/>
          <p:nvPr/>
        </p:nvSpPr>
        <p:spPr>
          <a:xfrm>
            <a:off x="8104832" y="3428213"/>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highlight>
                  <a:srgbClr val="FFFF00"/>
                </a:highlight>
                <a:latin typeface="Times New Roman"/>
                <a:cs typeface="Times New Roman"/>
              </a:rPr>
              <a:t>R = -21.10 [dB]</a:t>
            </a:r>
          </a:p>
        </p:txBody>
      </p:sp>
      <p:sp>
        <p:nvSpPr>
          <p:cNvPr id="30" name="TextBox 29">
            <a:extLst>
              <a:ext uri="{FF2B5EF4-FFF2-40B4-BE49-F238E27FC236}">
                <a16:creationId xmlns:a16="http://schemas.microsoft.com/office/drawing/2014/main" id="{CCBD4E8A-7E7D-18AA-8568-0C4B41F205CB}"/>
              </a:ext>
            </a:extLst>
          </p:cNvPr>
          <p:cNvSpPr txBox="1"/>
          <p:nvPr/>
        </p:nvSpPr>
        <p:spPr>
          <a:xfrm>
            <a:off x="8104833" y="3838521"/>
            <a:ext cx="1735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Times New Roman"/>
                <a:cs typeface="Times New Roman"/>
              </a:rPr>
              <a:t>R = -27.19 [dB]</a:t>
            </a:r>
          </a:p>
        </p:txBody>
      </p:sp>
      <p:pic>
        <p:nvPicPr>
          <p:cNvPr id="38" name="Picture 37" descr="A screenshot of a computer&#10;&#10;Description automatically generated">
            <a:extLst>
              <a:ext uri="{FF2B5EF4-FFF2-40B4-BE49-F238E27FC236}">
                <a16:creationId xmlns:a16="http://schemas.microsoft.com/office/drawing/2014/main" id="{2C027B78-1EEE-F8CC-3D17-27E7C0F8C217}"/>
              </a:ext>
            </a:extLst>
          </p:cNvPr>
          <p:cNvPicPr>
            <a:picLocks noChangeAspect="1"/>
          </p:cNvPicPr>
          <p:nvPr/>
        </p:nvPicPr>
        <p:blipFill>
          <a:blip r:embed="rId3"/>
          <a:stretch>
            <a:fillRect/>
          </a:stretch>
        </p:blipFill>
        <p:spPr>
          <a:xfrm>
            <a:off x="3246270" y="5424180"/>
            <a:ext cx="6169946" cy="1442199"/>
          </a:xfrm>
          <a:prstGeom prst="rect">
            <a:avLst/>
          </a:prstGeom>
        </p:spPr>
      </p:pic>
      <p:sp>
        <p:nvSpPr>
          <p:cNvPr id="40" name="TextBox 39">
            <a:extLst>
              <a:ext uri="{FF2B5EF4-FFF2-40B4-BE49-F238E27FC236}">
                <a16:creationId xmlns:a16="http://schemas.microsoft.com/office/drawing/2014/main" id="{79660932-E622-A427-93AB-149A268D22A4}"/>
              </a:ext>
            </a:extLst>
          </p:cNvPr>
          <p:cNvSpPr txBox="1"/>
          <p:nvPr/>
        </p:nvSpPr>
        <p:spPr>
          <a:xfrm>
            <a:off x="8104780" y="3010432"/>
            <a:ext cx="1626139" cy="398638"/>
          </a:xfrm>
          <a:prstGeom prst="rect">
            <a:avLst/>
          </a:prstGeom>
          <a:noFill/>
          <a:ln w="28575"/>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b="1">
              <a:latin typeface="Times New Roman"/>
              <a:cs typeface="Times New Roman"/>
            </a:endParaRPr>
          </a:p>
        </p:txBody>
      </p:sp>
      <p:sp>
        <p:nvSpPr>
          <p:cNvPr id="2" name="Arrow: Right 1">
            <a:extLst>
              <a:ext uri="{FF2B5EF4-FFF2-40B4-BE49-F238E27FC236}">
                <a16:creationId xmlns:a16="http://schemas.microsoft.com/office/drawing/2014/main" id="{1CE7EEFE-D54A-0790-C069-5D805A3730DE}"/>
              </a:ext>
            </a:extLst>
          </p:cNvPr>
          <p:cNvSpPr/>
          <p:nvPr/>
        </p:nvSpPr>
        <p:spPr>
          <a:xfrm flipH="1">
            <a:off x="9735553" y="6097990"/>
            <a:ext cx="592970" cy="41575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B372404E-AC4D-E56C-43EA-BB3788AC4A30}"/>
              </a:ext>
            </a:extLst>
          </p:cNvPr>
          <p:cNvSpPr/>
          <p:nvPr/>
        </p:nvSpPr>
        <p:spPr>
          <a:xfrm>
            <a:off x="3648363" y="6049818"/>
            <a:ext cx="5876635" cy="507998"/>
          </a:xfrm>
          <a:prstGeom prst="round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299579"/>
      </p:ext>
    </p:extLst>
  </p:cSld>
  <p:clrMapOvr>
    <a:overrideClrMapping bg1="lt1" tx1="dk1" bg2="lt2" tx2="dk2" accent1="accent1" accent2="accent2" accent3="accent3" accent4="accent4" accent5="accent5" accent6="accent6" hlink="hlink" folHlink="folHlink"/>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cording 2024-11-14 184353">
            <a:hlinkClick r:id="" action="ppaction://media"/>
            <a:extLst>
              <a:ext uri="{FF2B5EF4-FFF2-40B4-BE49-F238E27FC236}">
                <a16:creationId xmlns:a16="http://schemas.microsoft.com/office/drawing/2014/main" id="{B920EFEE-1A8B-4A90-485C-314A915113E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35390" y="907631"/>
            <a:ext cx="6320536" cy="5581157"/>
          </a:xfrm>
          <a:prstGeom prst="rect">
            <a:avLst/>
          </a:prstGeom>
          <a:ln>
            <a:solidFill>
              <a:schemeClr val="accent1">
                <a:lumMod val="75000"/>
              </a:schemeClr>
            </a:solidFill>
          </a:ln>
          <a:effectLst/>
        </p:spPr>
      </p:pic>
      <p:sp>
        <p:nvSpPr>
          <p:cNvPr id="3" name="Rectangle 2">
            <a:extLst>
              <a:ext uri="{FF2B5EF4-FFF2-40B4-BE49-F238E27FC236}">
                <a16:creationId xmlns:a16="http://schemas.microsoft.com/office/drawing/2014/main" id="{68914797-F234-7282-2385-63FDA6F29F1E}"/>
              </a:ext>
            </a:extLst>
          </p:cNvPr>
          <p:cNvSpPr/>
          <p:nvPr/>
        </p:nvSpPr>
        <p:spPr>
          <a:xfrm>
            <a:off x="2792017" y="666750"/>
            <a:ext cx="6673451" cy="1142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CD6172-D09B-EB9E-78E0-E17B256E8334}"/>
              </a:ext>
            </a:extLst>
          </p:cNvPr>
          <p:cNvSpPr>
            <a:spLocks noGrp="1"/>
          </p:cNvSpPr>
          <p:nvPr>
            <p:ph type="title"/>
          </p:nvPr>
        </p:nvSpPr>
        <p:spPr>
          <a:xfrm>
            <a:off x="375738" y="94819"/>
            <a:ext cx="11435704" cy="1622321"/>
          </a:xfrm>
        </p:spPr>
        <p:txBody>
          <a:bodyPr>
            <a:normAutofit/>
          </a:bodyPr>
          <a:lstStyle/>
          <a:p>
            <a:pPr algn="ctr"/>
            <a:r>
              <a:rPr lang="en-US" sz="3600">
                <a:latin typeface="Times New Roman"/>
                <a:cs typeface="Times New Roman"/>
              </a:rPr>
              <a:t>Genetic Algorithms </a:t>
            </a:r>
            <a:r>
              <a:rPr lang="en-US" sz="3600">
                <a:solidFill>
                  <a:srgbClr val="182B57"/>
                </a:solidFill>
                <a:latin typeface="Times New Roman"/>
                <a:cs typeface="Times New Roman"/>
              </a:rPr>
              <a:t>Converge </a:t>
            </a:r>
            <a:r>
              <a:rPr lang="en-US" sz="3600">
                <a:latin typeface="Times New Roman"/>
                <a:cs typeface="Times New Roman"/>
              </a:rPr>
              <a:t>on an Optimal Solution </a:t>
            </a:r>
            <a:endParaRPr lang="en-US" sz="3600"/>
          </a:p>
        </p:txBody>
      </p:sp>
    </p:spTree>
    <p:extLst>
      <p:ext uri="{BB962C8B-B14F-4D97-AF65-F5344CB8AC3E}">
        <p14:creationId xmlns:p14="http://schemas.microsoft.com/office/powerpoint/2010/main" val="169891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14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7" repeatCount="indefinite"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42C5-D5FC-158D-A55A-5455DFAB32BF}"/>
              </a:ext>
            </a:extLst>
          </p:cNvPr>
          <p:cNvSpPr>
            <a:spLocks noGrp="1"/>
          </p:cNvSpPr>
          <p:nvPr>
            <p:ph type="title"/>
          </p:nvPr>
        </p:nvSpPr>
        <p:spPr/>
        <p:txBody>
          <a:bodyPr>
            <a:normAutofit/>
          </a:bodyPr>
          <a:lstStyle/>
          <a:p>
            <a:pPr algn="ctr"/>
            <a:r>
              <a:rPr lang="en-US" sz="3600">
                <a:latin typeface="Times New Roman"/>
                <a:cs typeface="Times New Roman"/>
              </a:rPr>
              <a:t>Results are Validated by Comparing Values to </a:t>
            </a:r>
            <a:br>
              <a:rPr lang="en-US" sz="3600">
                <a:latin typeface="Times New Roman"/>
                <a:cs typeface="Times New Roman"/>
              </a:rPr>
            </a:br>
            <a:r>
              <a:rPr lang="en-US" sz="3600">
                <a:latin typeface="Times New Roman"/>
                <a:cs typeface="Times New Roman"/>
              </a:rPr>
              <a:t>Proven MATLAB Code</a:t>
            </a:r>
          </a:p>
        </p:txBody>
      </p:sp>
      <p:sp>
        <p:nvSpPr>
          <p:cNvPr id="3" name="Content Placeholder 2">
            <a:extLst>
              <a:ext uri="{FF2B5EF4-FFF2-40B4-BE49-F238E27FC236}">
                <a16:creationId xmlns:a16="http://schemas.microsoft.com/office/drawing/2014/main" id="{FFBC4053-A2C1-2756-C93D-D7FBE43EC6CE}"/>
              </a:ext>
            </a:extLst>
          </p:cNvPr>
          <p:cNvSpPr>
            <a:spLocks noGrp="1"/>
          </p:cNvSpPr>
          <p:nvPr>
            <p:ph idx="1"/>
          </p:nvPr>
        </p:nvSpPr>
        <p:spPr/>
        <p:txBody>
          <a:bodyPr vert="horz" lIns="91440" tIns="45720" rIns="91440" bIns="45720" rtlCol="0" anchor="t">
            <a:normAutofit/>
          </a:bodyPr>
          <a:lstStyle/>
          <a:p>
            <a:endParaRPr lang="en-US" sz="4400">
              <a:latin typeface="Aptos Display"/>
            </a:endParaRPr>
          </a:p>
          <a:p>
            <a:endParaRPr lang="en-US" sz="4400">
              <a:latin typeface="Aptos Display"/>
            </a:endParaRPr>
          </a:p>
          <a:p>
            <a:endParaRPr lang="en-US"/>
          </a:p>
        </p:txBody>
      </p:sp>
      <p:pic>
        <p:nvPicPr>
          <p:cNvPr id="4" name="Picture 3" descr="A diagram of a ram structure reflection&#10;&#10;Description automatically generated">
            <a:extLst>
              <a:ext uri="{FF2B5EF4-FFF2-40B4-BE49-F238E27FC236}">
                <a16:creationId xmlns:a16="http://schemas.microsoft.com/office/drawing/2014/main" id="{653A0BC5-4BCA-6FB8-B7F3-E267358CBA90}"/>
              </a:ext>
            </a:extLst>
          </p:cNvPr>
          <p:cNvPicPr>
            <a:picLocks noChangeAspect="1"/>
          </p:cNvPicPr>
          <p:nvPr/>
        </p:nvPicPr>
        <p:blipFill>
          <a:blip r:embed="rId2"/>
          <a:stretch>
            <a:fillRect/>
          </a:stretch>
        </p:blipFill>
        <p:spPr>
          <a:xfrm>
            <a:off x="380231" y="2499633"/>
            <a:ext cx="5486400" cy="4114800"/>
          </a:xfrm>
          <a:prstGeom prst="rect">
            <a:avLst/>
          </a:prstGeom>
        </p:spPr>
      </p:pic>
      <p:pic>
        <p:nvPicPr>
          <p:cNvPr id="6" name="Picture 5" descr="A diagram of a ram structure&#10;&#10;Description automatically generated">
            <a:extLst>
              <a:ext uri="{FF2B5EF4-FFF2-40B4-BE49-F238E27FC236}">
                <a16:creationId xmlns:a16="http://schemas.microsoft.com/office/drawing/2014/main" id="{8A2F3D75-6464-4AB4-7483-5E4210393637}"/>
              </a:ext>
            </a:extLst>
          </p:cNvPr>
          <p:cNvPicPr>
            <a:picLocks noChangeAspect="1"/>
          </p:cNvPicPr>
          <p:nvPr/>
        </p:nvPicPr>
        <p:blipFill>
          <a:blip r:embed="rId3"/>
          <a:stretch>
            <a:fillRect/>
          </a:stretch>
        </p:blipFill>
        <p:spPr>
          <a:xfrm>
            <a:off x="6298595" y="2502354"/>
            <a:ext cx="5486400" cy="4114800"/>
          </a:xfrm>
          <a:prstGeom prst="rect">
            <a:avLst/>
          </a:prstGeom>
        </p:spPr>
      </p:pic>
      <p:sp>
        <p:nvSpPr>
          <p:cNvPr id="8" name="TextBox 7">
            <a:extLst>
              <a:ext uri="{FF2B5EF4-FFF2-40B4-BE49-F238E27FC236}">
                <a16:creationId xmlns:a16="http://schemas.microsoft.com/office/drawing/2014/main" id="{C6CFC201-1EEA-6997-405B-C6B4A4716414}"/>
              </a:ext>
            </a:extLst>
          </p:cNvPr>
          <p:cNvSpPr txBox="1"/>
          <p:nvPr/>
        </p:nvSpPr>
        <p:spPr>
          <a:xfrm>
            <a:off x="921232" y="2139952"/>
            <a:ext cx="44168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solidFill>
                  <a:schemeClr val="accent1">
                    <a:lumMod val="76000"/>
                  </a:schemeClr>
                </a:solidFill>
                <a:latin typeface="Times New Roman"/>
                <a:cs typeface="Times New Roman"/>
              </a:rPr>
              <a:t>Genetic Algorithm Results </a:t>
            </a:r>
          </a:p>
        </p:txBody>
      </p:sp>
      <p:sp>
        <p:nvSpPr>
          <p:cNvPr id="12" name="TextBox 11">
            <a:extLst>
              <a:ext uri="{FF2B5EF4-FFF2-40B4-BE49-F238E27FC236}">
                <a16:creationId xmlns:a16="http://schemas.microsoft.com/office/drawing/2014/main" id="{7DD4F487-91F5-9490-25D1-E74C5950D6A6}"/>
              </a:ext>
            </a:extLst>
          </p:cNvPr>
          <p:cNvSpPr txBox="1"/>
          <p:nvPr/>
        </p:nvSpPr>
        <p:spPr>
          <a:xfrm>
            <a:off x="6832493" y="2139952"/>
            <a:ext cx="441680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solidFill>
                  <a:schemeClr val="accent1">
                    <a:lumMod val="76000"/>
                  </a:schemeClr>
                </a:solidFill>
                <a:latin typeface="Times New Roman"/>
                <a:cs typeface="Times New Roman"/>
              </a:rPr>
              <a:t>Proven MATLAB Results </a:t>
            </a:r>
          </a:p>
        </p:txBody>
      </p:sp>
    </p:spTree>
    <p:extLst>
      <p:ext uri="{BB962C8B-B14F-4D97-AF65-F5344CB8AC3E}">
        <p14:creationId xmlns:p14="http://schemas.microsoft.com/office/powerpoint/2010/main" val="189408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A5B7355C-853E-78C2-63FF-7B87A858EE8F}"/>
              </a:ext>
            </a:extLst>
          </p:cNvPr>
          <p:cNvSpPr/>
          <p:nvPr/>
        </p:nvSpPr>
        <p:spPr>
          <a:xfrm>
            <a:off x="8327806" y="5552418"/>
            <a:ext cx="3621551" cy="1151620"/>
          </a:xfrm>
          <a:prstGeom prst="roundRect">
            <a:avLst/>
          </a:prstGeom>
          <a:solidFill>
            <a:srgbClr val="A142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50B6409D-5249-25FC-F88A-38338A7EE519}"/>
              </a:ext>
            </a:extLst>
          </p:cNvPr>
          <p:cNvSpPr/>
          <p:nvPr/>
        </p:nvSpPr>
        <p:spPr>
          <a:xfrm>
            <a:off x="8327807" y="4107246"/>
            <a:ext cx="3621551" cy="1151620"/>
          </a:xfrm>
          <a:prstGeom prst="roundRect">
            <a:avLst/>
          </a:prstGeom>
          <a:solidFill>
            <a:srgbClr val="F7F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3FAFF04-7532-4842-6E57-CEB39F614B57}"/>
              </a:ext>
            </a:extLst>
          </p:cNvPr>
          <p:cNvSpPr/>
          <p:nvPr/>
        </p:nvSpPr>
        <p:spPr>
          <a:xfrm>
            <a:off x="8327807" y="2747471"/>
            <a:ext cx="3621551" cy="1151620"/>
          </a:xfrm>
          <a:prstGeom prst="roundRect">
            <a:avLst/>
          </a:prstGeom>
          <a:solidFill>
            <a:srgbClr val="B0333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9FE3AF35-7C99-13CF-1438-A457A088764F}"/>
              </a:ext>
            </a:extLst>
          </p:cNvPr>
          <p:cNvSpPr/>
          <p:nvPr/>
        </p:nvSpPr>
        <p:spPr>
          <a:xfrm>
            <a:off x="8327807" y="1348281"/>
            <a:ext cx="3621551" cy="1151620"/>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AB7D66-5E2F-2937-85D1-A0BF819B0C56}"/>
              </a:ext>
            </a:extLst>
          </p:cNvPr>
          <p:cNvSpPr>
            <a:spLocks noGrp="1"/>
          </p:cNvSpPr>
          <p:nvPr>
            <p:ph type="title"/>
          </p:nvPr>
        </p:nvSpPr>
        <p:spPr/>
        <p:txBody>
          <a:bodyPr>
            <a:normAutofit/>
          </a:bodyPr>
          <a:lstStyle/>
          <a:p>
            <a:pPr algn="ctr"/>
            <a:r>
              <a:rPr lang="en-US" sz="3600">
                <a:latin typeface="Times New Roman"/>
                <a:cs typeface="Times New Roman"/>
              </a:rPr>
              <a:t>Overlaying Data from Multiple Layers Allows us to Compare Results </a:t>
            </a:r>
            <a:endParaRPr lang="en-US"/>
          </a:p>
        </p:txBody>
      </p:sp>
      <p:sp>
        <p:nvSpPr>
          <p:cNvPr id="3" name="Content Placeholder 2">
            <a:extLst>
              <a:ext uri="{FF2B5EF4-FFF2-40B4-BE49-F238E27FC236}">
                <a16:creationId xmlns:a16="http://schemas.microsoft.com/office/drawing/2014/main" id="{9975CBCA-EEF3-9772-861B-A79A2AAED090}"/>
              </a:ext>
            </a:extLst>
          </p:cNvPr>
          <p:cNvSpPr>
            <a:spLocks noGrp="1"/>
          </p:cNvSpPr>
          <p:nvPr>
            <p:ph idx="1"/>
          </p:nvPr>
        </p:nvSpPr>
        <p:spPr/>
        <p:txBody>
          <a:bodyPr vert="horz" lIns="91440" tIns="45720" rIns="91440" bIns="45720" rtlCol="0" anchor="t">
            <a:normAutofit/>
          </a:bodyPr>
          <a:lstStyle/>
          <a:p>
            <a:endParaRPr lang="en-US" sz="2600">
              <a:latin typeface="Times New Roman"/>
              <a:cs typeface="Times New Roman"/>
            </a:endParaRPr>
          </a:p>
          <a:p>
            <a:endParaRPr lang="en-US"/>
          </a:p>
        </p:txBody>
      </p:sp>
      <p:sp>
        <p:nvSpPr>
          <p:cNvPr id="7" name="TextBox 6">
            <a:extLst>
              <a:ext uri="{FF2B5EF4-FFF2-40B4-BE49-F238E27FC236}">
                <a16:creationId xmlns:a16="http://schemas.microsoft.com/office/drawing/2014/main" id="{87BF5766-9E12-1116-64E8-CE506246D38E}"/>
              </a:ext>
            </a:extLst>
          </p:cNvPr>
          <p:cNvSpPr txBox="1"/>
          <p:nvPr/>
        </p:nvSpPr>
        <p:spPr>
          <a:xfrm>
            <a:off x="8328073" y="1348360"/>
            <a:ext cx="3614532"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dirty="0">
                <a:latin typeface="Times New Roman"/>
                <a:cs typeface="Times New Roman"/>
              </a:rPr>
              <a:t>2 Layer:</a:t>
            </a:r>
            <a:endParaRPr lang="en-US" b="1" u="sng" dirty="0"/>
          </a:p>
          <a:p>
            <a:pPr algn="ctr"/>
            <a:r>
              <a:rPr lang="en-US" b="1" dirty="0">
                <a:latin typeface="Times New Roman"/>
                <a:cs typeface="Times New Roman"/>
              </a:rPr>
              <a:t>t = [3.25 0.26] (mm)</a:t>
            </a:r>
          </a:p>
          <a:p>
            <a:pPr algn="ctr"/>
            <a:r>
              <a:rPr lang="en-US" b="1" dirty="0">
                <a:latin typeface="Times New Roman"/>
                <a:cs typeface="Times New Roman"/>
              </a:rPr>
              <a:t>M = [4 6] </a:t>
            </a:r>
          </a:p>
          <a:p>
            <a:pPr algn="ctr"/>
            <a:r>
              <a:rPr lang="en-US" b="1" dirty="0">
                <a:latin typeface="Times New Roman"/>
                <a:cs typeface="Times New Roman"/>
              </a:rPr>
              <a:t>R = -21.13 (dB)</a:t>
            </a:r>
          </a:p>
          <a:p>
            <a:pPr algn="ctr"/>
            <a:endParaRPr lang="en-US" b="1" dirty="0">
              <a:latin typeface="Times New Roman"/>
              <a:cs typeface="Times New Roman"/>
            </a:endParaRPr>
          </a:p>
          <a:p>
            <a:pPr algn="ctr"/>
            <a:r>
              <a:rPr lang="en-US" b="1" u="sng" dirty="0">
                <a:latin typeface="Times New Roman"/>
                <a:cs typeface="Times New Roman"/>
              </a:rPr>
              <a:t>3 Layer:</a:t>
            </a:r>
          </a:p>
          <a:p>
            <a:pPr algn="ctr"/>
            <a:r>
              <a:rPr lang="en-US" b="1" dirty="0">
                <a:latin typeface="Times New Roman"/>
                <a:cs typeface="Times New Roman"/>
              </a:rPr>
              <a:t>t =  [3.81 1.39 1.46] (mm)</a:t>
            </a:r>
          </a:p>
          <a:p>
            <a:pPr algn="ctr"/>
            <a:r>
              <a:rPr lang="en-US" b="1" dirty="0">
                <a:latin typeface="Times New Roman"/>
                <a:cs typeface="Times New Roman"/>
              </a:rPr>
              <a:t>M = [4 8 15]</a:t>
            </a:r>
          </a:p>
          <a:p>
            <a:pPr algn="ctr"/>
            <a:r>
              <a:rPr lang="en-US" b="1" dirty="0">
                <a:latin typeface="Times New Roman"/>
                <a:cs typeface="Times New Roman"/>
              </a:rPr>
              <a:t>R = -37.10 (dB)</a:t>
            </a:r>
          </a:p>
          <a:p>
            <a:pPr algn="ctr"/>
            <a:endParaRPr lang="en-US" b="1" dirty="0">
              <a:latin typeface="Times New Roman"/>
              <a:cs typeface="Times New Roman"/>
            </a:endParaRPr>
          </a:p>
          <a:p>
            <a:pPr algn="ctr"/>
            <a:r>
              <a:rPr lang="en-US" b="1" u="sng" dirty="0">
                <a:latin typeface="Times New Roman"/>
                <a:cs typeface="Times New Roman"/>
              </a:rPr>
              <a:t>4 Layer:</a:t>
            </a:r>
          </a:p>
          <a:p>
            <a:pPr algn="ctr"/>
            <a:r>
              <a:rPr lang="en-US" b="1" dirty="0">
                <a:latin typeface="Times New Roman"/>
                <a:cs typeface="Times New Roman"/>
              </a:rPr>
              <a:t>t = [3.81 0.15 1.42 1.44] (mm)</a:t>
            </a:r>
          </a:p>
          <a:p>
            <a:pPr algn="ctr"/>
            <a:r>
              <a:rPr lang="en-US" b="1" dirty="0">
                <a:latin typeface="Times New Roman"/>
                <a:cs typeface="Times New Roman"/>
              </a:rPr>
              <a:t>M = [4 15 8 15]</a:t>
            </a:r>
          </a:p>
          <a:p>
            <a:pPr algn="ctr"/>
            <a:r>
              <a:rPr lang="en-US" b="1" dirty="0">
                <a:latin typeface="Times New Roman"/>
                <a:cs typeface="Times New Roman"/>
              </a:rPr>
              <a:t>R = -36.46 (dB)</a:t>
            </a:r>
          </a:p>
          <a:p>
            <a:pPr algn="ctr"/>
            <a:endParaRPr lang="en-US" b="1" dirty="0">
              <a:latin typeface="Times New Roman"/>
              <a:cs typeface="Times New Roman"/>
            </a:endParaRPr>
          </a:p>
          <a:p>
            <a:pPr algn="ctr"/>
            <a:r>
              <a:rPr lang="en-US" b="1" u="sng" dirty="0">
                <a:latin typeface="Times New Roman"/>
                <a:cs typeface="Times New Roman"/>
              </a:rPr>
              <a:t>5 Layer:</a:t>
            </a:r>
          </a:p>
          <a:p>
            <a:pPr algn="ctr"/>
            <a:r>
              <a:rPr lang="en-US" b="1" dirty="0">
                <a:latin typeface="Times New Roman"/>
                <a:cs typeface="Times New Roman"/>
              </a:rPr>
              <a:t>t = [3.58 1.61 0.78 0.67 0.24] (mm)</a:t>
            </a:r>
          </a:p>
          <a:p>
            <a:pPr algn="ctr"/>
            <a:r>
              <a:rPr lang="en-US" b="1" dirty="0">
                <a:latin typeface="Times New Roman"/>
                <a:cs typeface="Times New Roman"/>
              </a:rPr>
              <a:t>M = [4 8 15 16 4]</a:t>
            </a:r>
          </a:p>
          <a:p>
            <a:pPr algn="ctr"/>
            <a:r>
              <a:rPr lang="en-US" b="1" dirty="0">
                <a:latin typeface="Times New Roman"/>
                <a:cs typeface="Times New Roman"/>
              </a:rPr>
              <a:t>R = -37.28 (dB)</a:t>
            </a:r>
          </a:p>
        </p:txBody>
      </p:sp>
      <p:pic>
        <p:nvPicPr>
          <p:cNvPr id="6" name="Picture 5" descr="A diagram of different colored lines&#10;&#10;Description automatically generated">
            <a:extLst>
              <a:ext uri="{FF2B5EF4-FFF2-40B4-BE49-F238E27FC236}">
                <a16:creationId xmlns:a16="http://schemas.microsoft.com/office/drawing/2014/main" id="{90191C47-466A-4C73-255A-04284E91D16E}"/>
              </a:ext>
            </a:extLst>
          </p:cNvPr>
          <p:cNvPicPr>
            <a:picLocks noChangeAspect="1"/>
          </p:cNvPicPr>
          <p:nvPr/>
        </p:nvPicPr>
        <p:blipFill>
          <a:blip r:embed="rId2"/>
          <a:srcRect l="6389" t="313" r="7087" b="2768"/>
          <a:stretch/>
        </p:blipFill>
        <p:spPr>
          <a:xfrm>
            <a:off x="835733" y="1637933"/>
            <a:ext cx="7269565" cy="4951913"/>
          </a:xfrm>
          <a:prstGeom prst="rect">
            <a:avLst/>
          </a:prstGeom>
          <a:ln>
            <a:solidFill>
              <a:schemeClr val="bg1"/>
            </a:solidFill>
          </a:ln>
        </p:spPr>
      </p:pic>
    </p:spTree>
    <p:extLst>
      <p:ext uri="{BB962C8B-B14F-4D97-AF65-F5344CB8AC3E}">
        <p14:creationId xmlns:p14="http://schemas.microsoft.com/office/powerpoint/2010/main" val="4169756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898B8EB-E53C-4E72-9817-B4BFCAD73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with blue dots&#10;&#10;Description automatically generated">
            <a:extLst>
              <a:ext uri="{FF2B5EF4-FFF2-40B4-BE49-F238E27FC236}">
                <a16:creationId xmlns:a16="http://schemas.microsoft.com/office/drawing/2014/main" id="{9028687D-C04F-48E2-4959-16427BC6A131}"/>
              </a:ext>
            </a:extLst>
          </p:cNvPr>
          <p:cNvPicPr>
            <a:picLocks noChangeAspect="1"/>
          </p:cNvPicPr>
          <p:nvPr/>
        </p:nvPicPr>
        <p:blipFill>
          <a:blip r:embed="rId2"/>
          <a:stretch>
            <a:fillRect/>
          </a:stretch>
        </p:blipFill>
        <p:spPr>
          <a:xfrm>
            <a:off x="4857491" y="510534"/>
            <a:ext cx="3732878" cy="2821292"/>
          </a:xfrm>
          <a:prstGeom prst="rect">
            <a:avLst/>
          </a:prstGeom>
        </p:spPr>
      </p:pic>
      <p:sp useBgFill="1">
        <p:nvSpPr>
          <p:cNvPr id="23" name="Freeform: Shape 22">
            <a:extLst>
              <a:ext uri="{FF2B5EF4-FFF2-40B4-BE49-F238E27FC236}">
                <a16:creationId xmlns:a16="http://schemas.microsoft.com/office/drawing/2014/main" id="{4E130362-2F35-4AB7-9EA5-DBC0F771A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56BE988C-7A5B-41EC-A46C-AEA93D8D3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47C244-346D-D253-1262-AF9CC8973B6D}"/>
              </a:ext>
            </a:extLst>
          </p:cNvPr>
          <p:cNvSpPr>
            <a:spLocks noGrp="1"/>
          </p:cNvSpPr>
          <p:nvPr>
            <p:ph type="title"/>
          </p:nvPr>
        </p:nvSpPr>
        <p:spPr>
          <a:xfrm>
            <a:off x="475488" y="1354522"/>
            <a:ext cx="4023360" cy="3200400"/>
          </a:xfrm>
        </p:spPr>
        <p:txBody>
          <a:bodyPr vert="horz" lIns="91440" tIns="45720" rIns="91440" bIns="45720" rtlCol="0" anchor="b">
            <a:normAutofit/>
          </a:bodyPr>
          <a:lstStyle/>
          <a:p>
            <a:pPr algn="ctr"/>
            <a:r>
              <a:rPr lang="en-US">
                <a:latin typeface="Times New Roman"/>
                <a:cs typeface="Times New Roman"/>
              </a:rPr>
              <a:t>Total Thickness Also Plays a Role in Optimal Reflection Values </a:t>
            </a:r>
            <a:endParaRPr lang="en-US"/>
          </a:p>
        </p:txBody>
      </p:sp>
      <p:sp>
        <p:nvSpPr>
          <p:cNvPr id="27" name="Rectangle 26">
            <a:extLst>
              <a:ext uri="{FF2B5EF4-FFF2-40B4-BE49-F238E27FC236}">
                <a16:creationId xmlns:a16="http://schemas.microsoft.com/office/drawing/2014/main" id="{E3CB1EC0-40A9-4D5E-B7E2-6E3423CE2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rgbClr val="0070C0"/>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Content Placeholder 2">
            <a:extLst>
              <a:ext uri="{FF2B5EF4-FFF2-40B4-BE49-F238E27FC236}">
                <a16:creationId xmlns:a16="http://schemas.microsoft.com/office/drawing/2014/main" id="{8E9E0719-6FB5-55F8-B134-01C797BC0A97}"/>
              </a:ext>
            </a:extLst>
          </p:cNvPr>
          <p:cNvPicPr>
            <a:picLocks noGrp="1" noChangeAspect="1"/>
          </p:cNvPicPr>
          <p:nvPr>
            <p:ph idx="1"/>
          </p:nvPr>
        </p:nvPicPr>
        <p:blipFill>
          <a:blip r:embed="rId3"/>
          <a:stretch>
            <a:fillRect/>
          </a:stretch>
        </p:blipFill>
        <p:spPr>
          <a:xfrm>
            <a:off x="4959478" y="3586197"/>
            <a:ext cx="3647283" cy="2728716"/>
          </a:xfrm>
          <a:prstGeom prst="rect">
            <a:avLst/>
          </a:prstGeom>
        </p:spPr>
      </p:pic>
      <p:pic>
        <p:nvPicPr>
          <p:cNvPr id="7" name="Picture 6" descr="A graph with blue dots&#10;&#10;Description automatically generated">
            <a:extLst>
              <a:ext uri="{FF2B5EF4-FFF2-40B4-BE49-F238E27FC236}">
                <a16:creationId xmlns:a16="http://schemas.microsoft.com/office/drawing/2014/main" id="{32AC4596-0016-0659-BEA1-E148E42C7164}"/>
              </a:ext>
            </a:extLst>
          </p:cNvPr>
          <p:cNvPicPr>
            <a:picLocks noChangeAspect="1"/>
          </p:cNvPicPr>
          <p:nvPr/>
        </p:nvPicPr>
        <p:blipFill>
          <a:blip r:embed="rId4"/>
          <a:stretch>
            <a:fillRect/>
          </a:stretch>
        </p:blipFill>
        <p:spPr>
          <a:xfrm>
            <a:off x="8515751" y="3556889"/>
            <a:ext cx="3657053" cy="2758025"/>
          </a:xfrm>
          <a:prstGeom prst="rect">
            <a:avLst/>
          </a:prstGeom>
        </p:spPr>
      </p:pic>
      <p:sp>
        <p:nvSpPr>
          <p:cNvPr id="29" name="Rectangle 28">
            <a:extLst>
              <a:ext uri="{FF2B5EF4-FFF2-40B4-BE49-F238E27FC236}">
                <a16:creationId xmlns:a16="http://schemas.microsoft.com/office/drawing/2014/main" id="{DCBE52EF-2889-423F-947C-0E44A760D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7D9823DC-3BF2-F035-6BEC-A9FF8A9ADD1A}"/>
              </a:ext>
            </a:extLst>
          </p:cNvPr>
          <p:cNvPicPr>
            <a:picLocks noChangeAspect="1"/>
          </p:cNvPicPr>
          <p:nvPr/>
        </p:nvPicPr>
        <p:blipFill>
          <a:blip r:embed="rId5"/>
          <a:stretch>
            <a:fillRect/>
          </a:stretch>
        </p:blipFill>
        <p:spPr>
          <a:xfrm>
            <a:off x="8500825" y="512972"/>
            <a:ext cx="3691477" cy="2831060"/>
          </a:xfrm>
          <a:prstGeom prst="rect">
            <a:avLst/>
          </a:prstGeom>
        </p:spPr>
      </p:pic>
      <p:sp>
        <p:nvSpPr>
          <p:cNvPr id="4" name="Rectangle 3">
            <a:extLst>
              <a:ext uri="{FF2B5EF4-FFF2-40B4-BE49-F238E27FC236}">
                <a16:creationId xmlns:a16="http://schemas.microsoft.com/office/drawing/2014/main" id="{6BE4541C-8146-8039-861D-6BD5B897CEDF}"/>
              </a:ext>
            </a:extLst>
          </p:cNvPr>
          <p:cNvSpPr/>
          <p:nvPr/>
        </p:nvSpPr>
        <p:spPr>
          <a:xfrm>
            <a:off x="292100" y="508000"/>
            <a:ext cx="1257300" cy="419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0443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ayesian Optimization">
            <a:hlinkClick r:id="" action="ppaction://media"/>
            <a:extLst>
              <a:ext uri="{FF2B5EF4-FFF2-40B4-BE49-F238E27FC236}">
                <a16:creationId xmlns:a16="http://schemas.microsoft.com/office/drawing/2014/main" id="{56F97933-ACED-61EB-9906-6923D4D9E7C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512481" y="1028306"/>
            <a:ext cx="5945565" cy="5259840"/>
          </a:xfrm>
          <a:prstGeom prst="rect">
            <a:avLst/>
          </a:prstGeom>
        </p:spPr>
      </p:pic>
      <p:sp>
        <p:nvSpPr>
          <p:cNvPr id="4" name="Rectangle 3">
            <a:extLst>
              <a:ext uri="{FF2B5EF4-FFF2-40B4-BE49-F238E27FC236}">
                <a16:creationId xmlns:a16="http://schemas.microsoft.com/office/drawing/2014/main" id="{051E67DE-C9D3-BA24-7923-9D4168B6238C}"/>
              </a:ext>
            </a:extLst>
          </p:cNvPr>
          <p:cNvSpPr/>
          <p:nvPr/>
        </p:nvSpPr>
        <p:spPr>
          <a:xfrm>
            <a:off x="5510211" y="1123950"/>
            <a:ext cx="6210300" cy="8001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44AE19-A932-1E1D-A62B-F23DC8B270B8}"/>
              </a:ext>
            </a:extLst>
          </p:cNvPr>
          <p:cNvSpPr>
            <a:spLocks noGrp="1"/>
          </p:cNvSpPr>
          <p:nvPr>
            <p:ph type="title"/>
          </p:nvPr>
        </p:nvSpPr>
        <p:spPr>
          <a:solidFill>
            <a:schemeClr val="bg1"/>
          </a:solidFill>
        </p:spPr>
        <p:txBody>
          <a:bodyPr>
            <a:normAutofit/>
          </a:bodyPr>
          <a:lstStyle/>
          <a:p>
            <a:pPr algn="ctr"/>
            <a:r>
              <a:rPr lang="en-US" sz="3600">
                <a:latin typeface="Times New Roman"/>
                <a:ea typeface="+mj-lt"/>
                <a:cs typeface="+mj-lt"/>
              </a:rPr>
              <a:t>Bayesian Optimization: Enhancing Solutions </a:t>
            </a:r>
            <a:br>
              <a:rPr lang="en-US" sz="3600">
                <a:latin typeface="Times New Roman"/>
                <a:ea typeface="+mj-lt"/>
                <a:cs typeface="+mj-lt"/>
              </a:rPr>
            </a:br>
            <a:r>
              <a:rPr lang="en-US" sz="3600">
                <a:latin typeface="Times New Roman"/>
                <a:ea typeface="+mj-lt"/>
                <a:cs typeface="+mj-lt"/>
              </a:rPr>
              <a:t>Through Informed Search</a:t>
            </a:r>
            <a:endParaRPr lang="en-US">
              <a:latin typeface="Times New Roman"/>
              <a:ea typeface="+mj-lt"/>
              <a:cs typeface="+mj-lt"/>
            </a:endParaRPr>
          </a:p>
        </p:txBody>
      </p:sp>
      <p:sp>
        <p:nvSpPr>
          <p:cNvPr id="6" name="Rectangle 5">
            <a:extLst>
              <a:ext uri="{FF2B5EF4-FFF2-40B4-BE49-F238E27FC236}">
                <a16:creationId xmlns:a16="http://schemas.microsoft.com/office/drawing/2014/main" id="{CB07B4BB-11B5-8704-D424-BBE578084CC1}"/>
              </a:ext>
            </a:extLst>
          </p:cNvPr>
          <p:cNvSpPr/>
          <p:nvPr/>
        </p:nvSpPr>
        <p:spPr>
          <a:xfrm>
            <a:off x="5406627" y="1826418"/>
            <a:ext cx="581025" cy="48196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43459DC-B18C-3061-B5DC-1F202AE8F376}"/>
              </a:ext>
            </a:extLst>
          </p:cNvPr>
          <p:cNvSpPr>
            <a:spLocks noGrp="1"/>
          </p:cNvSpPr>
          <p:nvPr>
            <p:ph idx="1"/>
          </p:nvPr>
        </p:nvSpPr>
        <p:spPr>
          <a:xfrm>
            <a:off x="838200" y="2705175"/>
            <a:ext cx="4858328" cy="4366731"/>
          </a:xfrm>
        </p:spPr>
        <p:txBody>
          <a:bodyPr vert="horz" lIns="91440" tIns="45720" rIns="91440" bIns="45720" rtlCol="0" anchor="t">
            <a:normAutofit/>
          </a:bodyPr>
          <a:lstStyle/>
          <a:p>
            <a:r>
              <a:rPr lang="en-US">
                <a:latin typeface="Times New Roman"/>
                <a:cs typeface="Times New Roman"/>
              </a:rPr>
              <a:t>Probabilistic Model</a:t>
            </a:r>
          </a:p>
          <a:p>
            <a:r>
              <a:rPr lang="en-US">
                <a:latin typeface="Times New Roman"/>
                <a:cs typeface="Times New Roman"/>
              </a:rPr>
              <a:t>Use of Acquisition Function to Balance of Exploration and Exploitation</a:t>
            </a:r>
          </a:p>
          <a:p>
            <a:pPr marL="0" indent="0">
              <a:buNone/>
            </a:pPr>
            <a:endParaRPr lang="en-US">
              <a:latin typeface="Times New Roman"/>
              <a:cs typeface="Times New Roman"/>
            </a:endParaRPr>
          </a:p>
          <a:p>
            <a:endParaRPr lang="en-US"/>
          </a:p>
        </p:txBody>
      </p:sp>
    </p:spTree>
    <p:extLst>
      <p:ext uri="{BB962C8B-B14F-4D97-AF65-F5344CB8AC3E}">
        <p14:creationId xmlns:p14="http://schemas.microsoft.com/office/powerpoint/2010/main" val="725238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065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9602-6648-ED9E-7D09-9895F728CCFC}"/>
              </a:ext>
            </a:extLst>
          </p:cNvPr>
          <p:cNvSpPr>
            <a:spLocks noGrp="1"/>
          </p:cNvSpPr>
          <p:nvPr>
            <p:ph type="title"/>
          </p:nvPr>
        </p:nvSpPr>
        <p:spPr/>
        <p:txBody>
          <a:bodyPr>
            <a:normAutofit/>
          </a:bodyPr>
          <a:lstStyle/>
          <a:p>
            <a:pPr algn="ctr"/>
            <a:r>
              <a:rPr lang="en-US" sz="3600">
                <a:latin typeface="Times New Roman"/>
                <a:cs typeface="Times New Roman"/>
              </a:rPr>
              <a:t>Genetic Algorithm vs Bayesian Optimization </a:t>
            </a:r>
            <a:endParaRPr lang="en-US"/>
          </a:p>
        </p:txBody>
      </p:sp>
      <p:graphicFrame>
        <p:nvGraphicFramePr>
          <p:cNvPr id="5" name="Content Placeholder 4">
            <a:extLst>
              <a:ext uri="{FF2B5EF4-FFF2-40B4-BE49-F238E27FC236}">
                <a16:creationId xmlns:a16="http://schemas.microsoft.com/office/drawing/2014/main" id="{261096FF-95CC-9C06-8DE0-D109BCD094D5}"/>
              </a:ext>
            </a:extLst>
          </p:cNvPr>
          <p:cNvGraphicFramePr>
            <a:graphicFrameLocks noGrp="1"/>
          </p:cNvGraphicFramePr>
          <p:nvPr>
            <p:ph idx="1"/>
            <p:extLst>
              <p:ext uri="{D42A27DB-BD31-4B8C-83A1-F6EECF244321}">
                <p14:modId xmlns:p14="http://schemas.microsoft.com/office/powerpoint/2010/main" val="1671842166"/>
              </p:ext>
            </p:extLst>
          </p:nvPr>
        </p:nvGraphicFramePr>
        <p:xfrm>
          <a:off x="2190749" y="1853711"/>
          <a:ext cx="7813588" cy="4555855"/>
        </p:xfrm>
        <a:graphic>
          <a:graphicData uri="http://schemas.openxmlformats.org/drawingml/2006/table">
            <a:tbl>
              <a:tblPr firstRow="1" bandRow="1">
                <a:tableStyleId>{5C22544A-7EE6-4342-B048-85BDC9FD1C3A}</a:tableStyleId>
              </a:tblPr>
              <a:tblGrid>
                <a:gridCol w="2798884">
                  <a:extLst>
                    <a:ext uri="{9D8B030D-6E8A-4147-A177-3AD203B41FA5}">
                      <a16:colId xmlns:a16="http://schemas.microsoft.com/office/drawing/2014/main" val="385056218"/>
                    </a:ext>
                  </a:extLst>
                </a:gridCol>
                <a:gridCol w="2507352">
                  <a:extLst>
                    <a:ext uri="{9D8B030D-6E8A-4147-A177-3AD203B41FA5}">
                      <a16:colId xmlns:a16="http://schemas.microsoft.com/office/drawing/2014/main" val="3797576089"/>
                    </a:ext>
                  </a:extLst>
                </a:gridCol>
                <a:gridCol w="2507352">
                  <a:extLst>
                    <a:ext uri="{9D8B030D-6E8A-4147-A177-3AD203B41FA5}">
                      <a16:colId xmlns:a16="http://schemas.microsoft.com/office/drawing/2014/main" val="478423918"/>
                    </a:ext>
                  </a:extLst>
                </a:gridCol>
              </a:tblGrid>
              <a:tr h="820615">
                <a:tc>
                  <a:txBody>
                    <a:bodyPr/>
                    <a:lstStyle/>
                    <a:p>
                      <a:pPr algn="ctr"/>
                      <a:endParaRPr lang="en-US" sz="2400">
                        <a:solidFill>
                          <a:schemeClr val="tx1"/>
                        </a:solidFill>
                        <a:latin typeface="Times New Roman"/>
                      </a:endParaRPr>
                    </a:p>
                  </a:txBody>
                  <a:tcPr anchor="ctr">
                    <a:solidFill>
                      <a:schemeClr val="tx2">
                        <a:lumMod val="10000"/>
                        <a:lumOff val="90000"/>
                      </a:schemeClr>
                    </a:solidFill>
                  </a:tcPr>
                </a:tc>
                <a:tc>
                  <a:txBody>
                    <a:bodyPr/>
                    <a:lstStyle/>
                    <a:p>
                      <a:pPr algn="ctr"/>
                      <a:r>
                        <a:rPr lang="en-US" sz="2400">
                          <a:solidFill>
                            <a:schemeClr val="tx1"/>
                          </a:solidFill>
                          <a:latin typeface="Times New Roman"/>
                        </a:rPr>
                        <a:t>GA</a:t>
                      </a:r>
                    </a:p>
                  </a:txBody>
                  <a:tcPr anchor="ctr">
                    <a:solidFill>
                      <a:schemeClr val="tx2">
                        <a:lumMod val="10000"/>
                        <a:lumOff val="90000"/>
                      </a:schemeClr>
                    </a:solidFill>
                  </a:tcPr>
                </a:tc>
                <a:tc>
                  <a:txBody>
                    <a:bodyPr/>
                    <a:lstStyle/>
                    <a:p>
                      <a:pPr algn="ctr"/>
                      <a:r>
                        <a:rPr lang="en-US" sz="2400">
                          <a:solidFill>
                            <a:schemeClr val="tx1"/>
                          </a:solidFill>
                          <a:latin typeface="Times New Roman"/>
                        </a:rPr>
                        <a:t>Bayesian</a:t>
                      </a:r>
                    </a:p>
                  </a:txBody>
                  <a:tcPr anchor="ctr">
                    <a:solidFill>
                      <a:schemeClr val="tx2">
                        <a:lumMod val="10000"/>
                        <a:lumOff val="90000"/>
                      </a:schemeClr>
                    </a:solidFill>
                  </a:tcPr>
                </a:tc>
                <a:extLst>
                  <a:ext uri="{0D108BD9-81ED-4DB2-BD59-A6C34878D82A}">
                    <a16:rowId xmlns:a16="http://schemas.microsoft.com/office/drawing/2014/main" val="453541849"/>
                  </a:ext>
                </a:extLst>
              </a:tr>
              <a:tr h="758752">
                <a:tc>
                  <a:txBody>
                    <a:bodyPr/>
                    <a:lstStyle/>
                    <a:p>
                      <a:pPr algn="ctr"/>
                      <a:r>
                        <a:rPr lang="en-US" sz="2400" b="1">
                          <a:latin typeface="Times New Roman"/>
                        </a:rPr>
                        <a:t>Average Run Time </a:t>
                      </a:r>
                    </a:p>
                  </a:txBody>
                  <a:tcPr anchor="ctr"/>
                </a:tc>
                <a:tc>
                  <a:txBody>
                    <a:bodyPr/>
                    <a:lstStyle/>
                    <a:p>
                      <a:pPr algn="ctr"/>
                      <a:r>
                        <a:rPr lang="en-US" sz="2400">
                          <a:latin typeface="Times New Roman"/>
                        </a:rPr>
                        <a:t>1.01 (minute)</a:t>
                      </a:r>
                    </a:p>
                  </a:txBody>
                  <a:tcPr anchor="ctr"/>
                </a:tc>
                <a:tc>
                  <a:txBody>
                    <a:bodyPr/>
                    <a:lstStyle/>
                    <a:p>
                      <a:pPr algn="ctr"/>
                      <a:r>
                        <a:rPr lang="en-US" sz="2400">
                          <a:latin typeface="Times New Roman"/>
                        </a:rPr>
                        <a:t>70.42 (minutes)</a:t>
                      </a:r>
                    </a:p>
                  </a:txBody>
                  <a:tcPr anchor="ctr"/>
                </a:tc>
                <a:extLst>
                  <a:ext uri="{0D108BD9-81ED-4DB2-BD59-A6C34878D82A}">
                    <a16:rowId xmlns:a16="http://schemas.microsoft.com/office/drawing/2014/main" val="3843527912"/>
                  </a:ext>
                </a:extLst>
              </a:tr>
              <a:tr h="864576">
                <a:tc>
                  <a:txBody>
                    <a:bodyPr/>
                    <a:lstStyle/>
                    <a:p>
                      <a:pPr lvl="0" algn="ctr">
                        <a:buNone/>
                      </a:pPr>
                      <a:r>
                        <a:rPr lang="en-US" sz="2400" b="1" dirty="0">
                          <a:latin typeface="Times New Roman"/>
                        </a:rPr>
                        <a:t>Number of Runs</a:t>
                      </a:r>
                    </a:p>
                  </a:txBody>
                  <a:tcPr anchor="ctr"/>
                </a:tc>
                <a:tc>
                  <a:txBody>
                    <a:bodyPr/>
                    <a:lstStyle/>
                    <a:p>
                      <a:pPr lvl="0" algn="ctr">
                        <a:buNone/>
                      </a:pPr>
                      <a:r>
                        <a:rPr lang="en-US" sz="2400">
                          <a:latin typeface="Times New Roman"/>
                        </a:rPr>
                        <a:t>10</a:t>
                      </a:r>
                    </a:p>
                  </a:txBody>
                  <a:tcPr anchor="ctr"/>
                </a:tc>
                <a:tc>
                  <a:txBody>
                    <a:bodyPr/>
                    <a:lstStyle/>
                    <a:p>
                      <a:pPr lvl="0" algn="ctr">
                        <a:buNone/>
                      </a:pPr>
                      <a:r>
                        <a:rPr lang="en-US" sz="2400">
                          <a:latin typeface="Times New Roman"/>
                        </a:rPr>
                        <a:t>10</a:t>
                      </a:r>
                    </a:p>
                  </a:txBody>
                  <a:tcPr anchor="ctr"/>
                </a:tc>
                <a:extLst>
                  <a:ext uri="{0D108BD9-81ED-4DB2-BD59-A6C34878D82A}">
                    <a16:rowId xmlns:a16="http://schemas.microsoft.com/office/drawing/2014/main" val="1752267501"/>
                  </a:ext>
                </a:extLst>
              </a:tr>
              <a:tr h="952500">
                <a:tc>
                  <a:txBody>
                    <a:bodyPr/>
                    <a:lstStyle/>
                    <a:p>
                      <a:pPr lvl="0" algn="ctr">
                        <a:buNone/>
                      </a:pPr>
                      <a:r>
                        <a:rPr lang="en-US" sz="2400" b="1" dirty="0">
                          <a:latin typeface="Times New Roman"/>
                        </a:rPr>
                        <a:t>Number of Evaluations per Run</a:t>
                      </a:r>
                      <a:endParaRPr lang="en-US" sz="2400" b="1" dirty="0"/>
                    </a:p>
                  </a:txBody>
                  <a:tcPr anchor="ctr"/>
                </a:tc>
                <a:tc>
                  <a:txBody>
                    <a:bodyPr/>
                    <a:lstStyle/>
                    <a:p>
                      <a:pPr lvl="0" algn="ctr">
                        <a:buNone/>
                      </a:pPr>
                      <a:r>
                        <a:rPr lang="en-US" sz="2400">
                          <a:latin typeface="Times New Roman"/>
                        </a:rPr>
                        <a:t>1010</a:t>
                      </a:r>
                    </a:p>
                  </a:txBody>
                  <a:tcPr anchor="ctr"/>
                </a:tc>
                <a:tc>
                  <a:txBody>
                    <a:bodyPr/>
                    <a:lstStyle/>
                    <a:p>
                      <a:pPr lvl="0" algn="ctr">
                        <a:buNone/>
                      </a:pPr>
                      <a:r>
                        <a:rPr lang="en-US" sz="2400">
                          <a:latin typeface="Times New Roman"/>
                        </a:rPr>
                        <a:t>1010</a:t>
                      </a:r>
                    </a:p>
                  </a:txBody>
                  <a:tcPr anchor="ctr"/>
                </a:tc>
                <a:extLst>
                  <a:ext uri="{0D108BD9-81ED-4DB2-BD59-A6C34878D82A}">
                    <a16:rowId xmlns:a16="http://schemas.microsoft.com/office/drawing/2014/main" val="618619815"/>
                  </a:ext>
                </a:extLst>
              </a:tr>
              <a:tr h="923192">
                <a:tc>
                  <a:txBody>
                    <a:bodyPr/>
                    <a:lstStyle/>
                    <a:p>
                      <a:pPr algn="ctr"/>
                      <a:r>
                        <a:rPr lang="en-US" sz="2400" b="1">
                          <a:latin typeface="Times New Roman"/>
                        </a:rPr>
                        <a:t>Optimal Solution</a:t>
                      </a:r>
                    </a:p>
                  </a:txBody>
                  <a:tcPr anchor="ctr"/>
                </a:tc>
                <a:tc>
                  <a:txBody>
                    <a:bodyPr/>
                    <a:lstStyle/>
                    <a:p>
                      <a:pPr algn="ctr"/>
                      <a:r>
                        <a:rPr lang="en-US" sz="2400">
                          <a:latin typeface="Times New Roman"/>
                        </a:rPr>
                        <a:t>-20.82 (dB)</a:t>
                      </a:r>
                    </a:p>
                  </a:txBody>
                  <a:tcPr anchor="ctr"/>
                </a:tc>
                <a:tc>
                  <a:txBody>
                    <a:bodyPr/>
                    <a:lstStyle/>
                    <a:p>
                      <a:pPr algn="ctr"/>
                      <a:r>
                        <a:rPr lang="en-US" sz="2400" dirty="0">
                          <a:latin typeface="Times New Roman"/>
                        </a:rPr>
                        <a:t>-22.36 (dB)</a:t>
                      </a:r>
                    </a:p>
                  </a:txBody>
                  <a:tcPr anchor="ctr"/>
                </a:tc>
                <a:extLst>
                  <a:ext uri="{0D108BD9-81ED-4DB2-BD59-A6C34878D82A}">
                    <a16:rowId xmlns:a16="http://schemas.microsoft.com/office/drawing/2014/main" val="2692826257"/>
                  </a:ext>
                </a:extLst>
              </a:tr>
            </a:tbl>
          </a:graphicData>
        </a:graphic>
      </p:graphicFrame>
    </p:spTree>
    <p:extLst>
      <p:ext uri="{BB962C8B-B14F-4D97-AF65-F5344CB8AC3E}">
        <p14:creationId xmlns:p14="http://schemas.microsoft.com/office/powerpoint/2010/main" val="2753438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9602-6648-ED9E-7D09-9895F728CCFC}"/>
              </a:ext>
            </a:extLst>
          </p:cNvPr>
          <p:cNvSpPr>
            <a:spLocks noGrp="1"/>
          </p:cNvSpPr>
          <p:nvPr>
            <p:ph type="title"/>
          </p:nvPr>
        </p:nvSpPr>
        <p:spPr/>
        <p:txBody>
          <a:bodyPr>
            <a:normAutofit/>
          </a:bodyPr>
          <a:lstStyle/>
          <a:p>
            <a:pPr algn="ctr"/>
            <a:r>
              <a:rPr lang="en-US" sz="3600">
                <a:latin typeface="Times New Roman"/>
                <a:cs typeface="Times New Roman"/>
              </a:rPr>
              <a:t>Genetic Algorithm vs Bayesian Optimization </a:t>
            </a:r>
            <a:endParaRPr lang="en-US"/>
          </a:p>
        </p:txBody>
      </p:sp>
      <p:graphicFrame>
        <p:nvGraphicFramePr>
          <p:cNvPr id="5" name="Content Placeholder 4">
            <a:extLst>
              <a:ext uri="{FF2B5EF4-FFF2-40B4-BE49-F238E27FC236}">
                <a16:creationId xmlns:a16="http://schemas.microsoft.com/office/drawing/2014/main" id="{261096FF-95CC-9C06-8DE0-D109BCD094D5}"/>
              </a:ext>
            </a:extLst>
          </p:cNvPr>
          <p:cNvGraphicFramePr>
            <a:graphicFrameLocks noGrp="1"/>
          </p:cNvGraphicFramePr>
          <p:nvPr>
            <p:ph idx="1"/>
            <p:extLst>
              <p:ext uri="{D42A27DB-BD31-4B8C-83A1-F6EECF244321}">
                <p14:modId xmlns:p14="http://schemas.microsoft.com/office/powerpoint/2010/main" val="2190407850"/>
              </p:ext>
            </p:extLst>
          </p:nvPr>
        </p:nvGraphicFramePr>
        <p:xfrm>
          <a:off x="2190749" y="1853711"/>
          <a:ext cx="7813588" cy="4555855"/>
        </p:xfrm>
        <a:graphic>
          <a:graphicData uri="http://schemas.openxmlformats.org/drawingml/2006/table">
            <a:tbl>
              <a:tblPr firstRow="1" bandRow="1">
                <a:tableStyleId>{5C22544A-7EE6-4342-B048-85BDC9FD1C3A}</a:tableStyleId>
              </a:tblPr>
              <a:tblGrid>
                <a:gridCol w="2798884">
                  <a:extLst>
                    <a:ext uri="{9D8B030D-6E8A-4147-A177-3AD203B41FA5}">
                      <a16:colId xmlns:a16="http://schemas.microsoft.com/office/drawing/2014/main" val="385056218"/>
                    </a:ext>
                  </a:extLst>
                </a:gridCol>
                <a:gridCol w="2507352">
                  <a:extLst>
                    <a:ext uri="{9D8B030D-6E8A-4147-A177-3AD203B41FA5}">
                      <a16:colId xmlns:a16="http://schemas.microsoft.com/office/drawing/2014/main" val="3797576089"/>
                    </a:ext>
                  </a:extLst>
                </a:gridCol>
                <a:gridCol w="2507352">
                  <a:extLst>
                    <a:ext uri="{9D8B030D-6E8A-4147-A177-3AD203B41FA5}">
                      <a16:colId xmlns:a16="http://schemas.microsoft.com/office/drawing/2014/main" val="478423918"/>
                    </a:ext>
                  </a:extLst>
                </a:gridCol>
              </a:tblGrid>
              <a:tr h="820615">
                <a:tc>
                  <a:txBody>
                    <a:bodyPr/>
                    <a:lstStyle/>
                    <a:p>
                      <a:pPr algn="ctr"/>
                      <a:endParaRPr lang="en-US" sz="2400">
                        <a:solidFill>
                          <a:schemeClr val="tx1"/>
                        </a:solidFill>
                        <a:latin typeface="Times New Roman"/>
                      </a:endParaRPr>
                    </a:p>
                  </a:txBody>
                  <a:tcPr anchor="ctr">
                    <a:solidFill>
                      <a:schemeClr val="tx2">
                        <a:lumMod val="10000"/>
                        <a:lumOff val="90000"/>
                      </a:schemeClr>
                    </a:solidFill>
                  </a:tcPr>
                </a:tc>
                <a:tc>
                  <a:txBody>
                    <a:bodyPr/>
                    <a:lstStyle/>
                    <a:p>
                      <a:pPr algn="ctr"/>
                      <a:r>
                        <a:rPr lang="en-US" sz="2400">
                          <a:solidFill>
                            <a:schemeClr val="tx1"/>
                          </a:solidFill>
                          <a:latin typeface="Times New Roman"/>
                        </a:rPr>
                        <a:t>GA</a:t>
                      </a:r>
                    </a:p>
                  </a:txBody>
                  <a:tcPr anchor="ctr">
                    <a:solidFill>
                      <a:schemeClr val="tx2">
                        <a:lumMod val="10000"/>
                        <a:lumOff val="90000"/>
                      </a:schemeClr>
                    </a:solidFill>
                  </a:tcPr>
                </a:tc>
                <a:tc>
                  <a:txBody>
                    <a:bodyPr/>
                    <a:lstStyle/>
                    <a:p>
                      <a:pPr algn="ctr"/>
                      <a:r>
                        <a:rPr lang="en-US" sz="2400">
                          <a:solidFill>
                            <a:schemeClr val="tx1"/>
                          </a:solidFill>
                          <a:latin typeface="Times New Roman"/>
                        </a:rPr>
                        <a:t>Bayesian</a:t>
                      </a:r>
                    </a:p>
                  </a:txBody>
                  <a:tcPr anchor="ctr">
                    <a:solidFill>
                      <a:schemeClr val="tx2">
                        <a:lumMod val="10000"/>
                        <a:lumOff val="90000"/>
                      </a:schemeClr>
                    </a:solidFill>
                  </a:tcPr>
                </a:tc>
                <a:extLst>
                  <a:ext uri="{0D108BD9-81ED-4DB2-BD59-A6C34878D82A}">
                    <a16:rowId xmlns:a16="http://schemas.microsoft.com/office/drawing/2014/main" val="453541849"/>
                  </a:ext>
                </a:extLst>
              </a:tr>
              <a:tr h="758752">
                <a:tc>
                  <a:txBody>
                    <a:bodyPr/>
                    <a:lstStyle/>
                    <a:p>
                      <a:pPr algn="ctr"/>
                      <a:r>
                        <a:rPr lang="en-US" sz="2400" b="1">
                          <a:latin typeface="Times New Roman"/>
                        </a:rPr>
                        <a:t>Average Run Time </a:t>
                      </a:r>
                    </a:p>
                  </a:txBody>
                  <a:tcPr anchor="ctr"/>
                </a:tc>
                <a:tc>
                  <a:txBody>
                    <a:bodyPr/>
                    <a:lstStyle/>
                    <a:p>
                      <a:pPr algn="ctr"/>
                      <a:r>
                        <a:rPr lang="en-US" sz="2400">
                          <a:latin typeface="Times New Roman"/>
                        </a:rPr>
                        <a:t>1.01 (minute)</a:t>
                      </a:r>
                    </a:p>
                  </a:txBody>
                  <a:tcPr anchor="ctr"/>
                </a:tc>
                <a:tc>
                  <a:txBody>
                    <a:bodyPr/>
                    <a:lstStyle/>
                    <a:p>
                      <a:pPr algn="ctr"/>
                      <a:r>
                        <a:rPr lang="en-US" sz="2400">
                          <a:latin typeface="Times New Roman"/>
                        </a:rPr>
                        <a:t>70.42 (minutes)</a:t>
                      </a:r>
                    </a:p>
                  </a:txBody>
                  <a:tcPr anchor="ctr"/>
                </a:tc>
                <a:extLst>
                  <a:ext uri="{0D108BD9-81ED-4DB2-BD59-A6C34878D82A}">
                    <a16:rowId xmlns:a16="http://schemas.microsoft.com/office/drawing/2014/main" val="3843527912"/>
                  </a:ext>
                </a:extLst>
              </a:tr>
              <a:tr h="864576">
                <a:tc>
                  <a:txBody>
                    <a:bodyPr/>
                    <a:lstStyle/>
                    <a:p>
                      <a:pPr lvl="0" algn="ctr">
                        <a:buNone/>
                      </a:pPr>
                      <a:r>
                        <a:rPr lang="en-US" sz="2400" b="1">
                          <a:latin typeface="Times New Roman"/>
                        </a:rPr>
                        <a:t>Number of Runs</a:t>
                      </a:r>
                    </a:p>
                  </a:txBody>
                  <a:tcPr anchor="ctr"/>
                </a:tc>
                <a:tc>
                  <a:txBody>
                    <a:bodyPr/>
                    <a:lstStyle/>
                    <a:p>
                      <a:pPr lvl="0" algn="ctr">
                        <a:buNone/>
                      </a:pPr>
                      <a:r>
                        <a:rPr lang="en-US" sz="2400">
                          <a:latin typeface="Times New Roman"/>
                        </a:rPr>
                        <a:t>10</a:t>
                      </a:r>
                    </a:p>
                  </a:txBody>
                  <a:tcPr anchor="ctr"/>
                </a:tc>
                <a:tc>
                  <a:txBody>
                    <a:bodyPr/>
                    <a:lstStyle/>
                    <a:p>
                      <a:pPr lvl="0" algn="ctr">
                        <a:buNone/>
                      </a:pPr>
                      <a:r>
                        <a:rPr lang="en-US" sz="2400">
                          <a:latin typeface="Times New Roman"/>
                        </a:rPr>
                        <a:t>10</a:t>
                      </a:r>
                    </a:p>
                  </a:txBody>
                  <a:tcPr anchor="ctr"/>
                </a:tc>
                <a:extLst>
                  <a:ext uri="{0D108BD9-81ED-4DB2-BD59-A6C34878D82A}">
                    <a16:rowId xmlns:a16="http://schemas.microsoft.com/office/drawing/2014/main" val="1752267501"/>
                  </a:ext>
                </a:extLst>
              </a:tr>
              <a:tr h="952500">
                <a:tc>
                  <a:txBody>
                    <a:bodyPr/>
                    <a:lstStyle/>
                    <a:p>
                      <a:pPr lvl="0" algn="ctr">
                        <a:buNone/>
                      </a:pPr>
                      <a:r>
                        <a:rPr lang="en-US" sz="2400" b="1" dirty="0">
                          <a:latin typeface="Times New Roman"/>
                        </a:rPr>
                        <a:t>Number of Evaluations per Run</a:t>
                      </a:r>
                      <a:endParaRPr lang="en-US" sz="2400" b="1" dirty="0"/>
                    </a:p>
                  </a:txBody>
                  <a:tcPr anchor="ctr"/>
                </a:tc>
                <a:tc>
                  <a:txBody>
                    <a:bodyPr/>
                    <a:lstStyle/>
                    <a:p>
                      <a:pPr lvl="0" algn="ctr">
                        <a:buNone/>
                      </a:pPr>
                      <a:r>
                        <a:rPr lang="en-US" sz="2400">
                          <a:latin typeface="Times New Roman"/>
                        </a:rPr>
                        <a:t>1010</a:t>
                      </a:r>
                    </a:p>
                  </a:txBody>
                  <a:tcPr anchor="ctr"/>
                </a:tc>
                <a:tc>
                  <a:txBody>
                    <a:bodyPr/>
                    <a:lstStyle/>
                    <a:p>
                      <a:pPr lvl="0" algn="ctr">
                        <a:buNone/>
                      </a:pPr>
                      <a:r>
                        <a:rPr lang="en-US" sz="2400">
                          <a:latin typeface="Times New Roman"/>
                        </a:rPr>
                        <a:t>1010</a:t>
                      </a:r>
                    </a:p>
                  </a:txBody>
                  <a:tcPr anchor="ctr"/>
                </a:tc>
                <a:extLst>
                  <a:ext uri="{0D108BD9-81ED-4DB2-BD59-A6C34878D82A}">
                    <a16:rowId xmlns:a16="http://schemas.microsoft.com/office/drawing/2014/main" val="618619815"/>
                  </a:ext>
                </a:extLst>
              </a:tr>
              <a:tr h="923192">
                <a:tc>
                  <a:txBody>
                    <a:bodyPr/>
                    <a:lstStyle/>
                    <a:p>
                      <a:pPr algn="ctr"/>
                      <a:r>
                        <a:rPr lang="en-US" sz="2400" b="1">
                          <a:latin typeface="Times New Roman"/>
                        </a:rPr>
                        <a:t>Optimal Solution</a:t>
                      </a:r>
                    </a:p>
                  </a:txBody>
                  <a:tcPr anchor="ctr"/>
                </a:tc>
                <a:tc>
                  <a:txBody>
                    <a:bodyPr/>
                    <a:lstStyle/>
                    <a:p>
                      <a:pPr algn="ctr"/>
                      <a:r>
                        <a:rPr lang="en-US" sz="2400">
                          <a:latin typeface="Times New Roman"/>
                        </a:rPr>
                        <a:t>-20.82 (dB)</a:t>
                      </a:r>
                    </a:p>
                  </a:txBody>
                  <a:tcPr anchor="ctr"/>
                </a:tc>
                <a:tc>
                  <a:txBody>
                    <a:bodyPr/>
                    <a:lstStyle/>
                    <a:p>
                      <a:pPr algn="ctr"/>
                      <a:r>
                        <a:rPr lang="en-US" sz="2400" dirty="0">
                          <a:latin typeface="Times New Roman"/>
                        </a:rPr>
                        <a:t>-22.36 (dB)</a:t>
                      </a:r>
                    </a:p>
                  </a:txBody>
                  <a:tcPr anchor="ctr"/>
                </a:tc>
                <a:extLst>
                  <a:ext uri="{0D108BD9-81ED-4DB2-BD59-A6C34878D82A}">
                    <a16:rowId xmlns:a16="http://schemas.microsoft.com/office/drawing/2014/main" val="2692826257"/>
                  </a:ext>
                </a:extLst>
              </a:tr>
            </a:tbl>
          </a:graphicData>
        </a:graphic>
      </p:graphicFrame>
      <p:sp>
        <p:nvSpPr>
          <p:cNvPr id="4" name="Arrow: Right 3">
            <a:extLst>
              <a:ext uri="{FF2B5EF4-FFF2-40B4-BE49-F238E27FC236}">
                <a16:creationId xmlns:a16="http://schemas.microsoft.com/office/drawing/2014/main" id="{385CDB7F-1CB2-44D0-5EDB-7E4A981BA2EF}"/>
              </a:ext>
            </a:extLst>
          </p:cNvPr>
          <p:cNvSpPr/>
          <p:nvPr/>
        </p:nvSpPr>
        <p:spPr>
          <a:xfrm flipH="1">
            <a:off x="10266232" y="2791454"/>
            <a:ext cx="592970" cy="41575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2533199"/>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9602-6648-ED9E-7D09-9895F728CCFC}"/>
              </a:ext>
            </a:extLst>
          </p:cNvPr>
          <p:cNvSpPr>
            <a:spLocks noGrp="1"/>
          </p:cNvSpPr>
          <p:nvPr>
            <p:ph type="title"/>
          </p:nvPr>
        </p:nvSpPr>
        <p:spPr/>
        <p:txBody>
          <a:bodyPr>
            <a:normAutofit/>
          </a:bodyPr>
          <a:lstStyle/>
          <a:p>
            <a:pPr algn="ctr"/>
            <a:r>
              <a:rPr lang="en-US" sz="3600">
                <a:latin typeface="Times New Roman"/>
                <a:cs typeface="Times New Roman"/>
              </a:rPr>
              <a:t>Genetic Algorithm vs Bayesian Optimization </a:t>
            </a:r>
            <a:endParaRPr lang="en-US"/>
          </a:p>
        </p:txBody>
      </p:sp>
      <p:graphicFrame>
        <p:nvGraphicFramePr>
          <p:cNvPr id="5" name="Content Placeholder 4">
            <a:extLst>
              <a:ext uri="{FF2B5EF4-FFF2-40B4-BE49-F238E27FC236}">
                <a16:creationId xmlns:a16="http://schemas.microsoft.com/office/drawing/2014/main" id="{261096FF-95CC-9C06-8DE0-D109BCD094D5}"/>
              </a:ext>
            </a:extLst>
          </p:cNvPr>
          <p:cNvGraphicFramePr>
            <a:graphicFrameLocks noGrp="1"/>
          </p:cNvGraphicFramePr>
          <p:nvPr>
            <p:ph idx="1"/>
            <p:extLst>
              <p:ext uri="{D42A27DB-BD31-4B8C-83A1-F6EECF244321}">
                <p14:modId xmlns:p14="http://schemas.microsoft.com/office/powerpoint/2010/main" val="3486587870"/>
              </p:ext>
            </p:extLst>
          </p:nvPr>
        </p:nvGraphicFramePr>
        <p:xfrm>
          <a:off x="2190749" y="1853711"/>
          <a:ext cx="7813588" cy="4555855"/>
        </p:xfrm>
        <a:graphic>
          <a:graphicData uri="http://schemas.openxmlformats.org/drawingml/2006/table">
            <a:tbl>
              <a:tblPr firstRow="1" bandRow="1">
                <a:tableStyleId>{5C22544A-7EE6-4342-B048-85BDC9FD1C3A}</a:tableStyleId>
              </a:tblPr>
              <a:tblGrid>
                <a:gridCol w="2798884">
                  <a:extLst>
                    <a:ext uri="{9D8B030D-6E8A-4147-A177-3AD203B41FA5}">
                      <a16:colId xmlns:a16="http://schemas.microsoft.com/office/drawing/2014/main" val="385056218"/>
                    </a:ext>
                  </a:extLst>
                </a:gridCol>
                <a:gridCol w="2507352">
                  <a:extLst>
                    <a:ext uri="{9D8B030D-6E8A-4147-A177-3AD203B41FA5}">
                      <a16:colId xmlns:a16="http://schemas.microsoft.com/office/drawing/2014/main" val="3797576089"/>
                    </a:ext>
                  </a:extLst>
                </a:gridCol>
                <a:gridCol w="2507352">
                  <a:extLst>
                    <a:ext uri="{9D8B030D-6E8A-4147-A177-3AD203B41FA5}">
                      <a16:colId xmlns:a16="http://schemas.microsoft.com/office/drawing/2014/main" val="478423918"/>
                    </a:ext>
                  </a:extLst>
                </a:gridCol>
              </a:tblGrid>
              <a:tr h="820615">
                <a:tc>
                  <a:txBody>
                    <a:bodyPr/>
                    <a:lstStyle/>
                    <a:p>
                      <a:pPr algn="ctr"/>
                      <a:endParaRPr lang="en-US" sz="2400">
                        <a:solidFill>
                          <a:schemeClr val="tx1"/>
                        </a:solidFill>
                        <a:latin typeface="Times New Roman"/>
                      </a:endParaRPr>
                    </a:p>
                  </a:txBody>
                  <a:tcPr anchor="ctr">
                    <a:solidFill>
                      <a:schemeClr val="tx2">
                        <a:lumMod val="10000"/>
                        <a:lumOff val="90000"/>
                      </a:schemeClr>
                    </a:solidFill>
                  </a:tcPr>
                </a:tc>
                <a:tc>
                  <a:txBody>
                    <a:bodyPr/>
                    <a:lstStyle/>
                    <a:p>
                      <a:pPr algn="ctr"/>
                      <a:r>
                        <a:rPr lang="en-US" sz="2400">
                          <a:solidFill>
                            <a:schemeClr val="tx1"/>
                          </a:solidFill>
                          <a:latin typeface="Times New Roman"/>
                        </a:rPr>
                        <a:t>GA</a:t>
                      </a:r>
                    </a:p>
                  </a:txBody>
                  <a:tcPr anchor="ctr">
                    <a:solidFill>
                      <a:schemeClr val="tx2">
                        <a:lumMod val="10000"/>
                        <a:lumOff val="90000"/>
                      </a:schemeClr>
                    </a:solidFill>
                  </a:tcPr>
                </a:tc>
                <a:tc>
                  <a:txBody>
                    <a:bodyPr/>
                    <a:lstStyle/>
                    <a:p>
                      <a:pPr algn="ctr"/>
                      <a:r>
                        <a:rPr lang="en-US" sz="2400">
                          <a:solidFill>
                            <a:schemeClr val="tx1"/>
                          </a:solidFill>
                          <a:latin typeface="Times New Roman"/>
                        </a:rPr>
                        <a:t>Bayesian</a:t>
                      </a:r>
                    </a:p>
                  </a:txBody>
                  <a:tcPr anchor="ctr">
                    <a:solidFill>
                      <a:schemeClr val="tx2">
                        <a:lumMod val="10000"/>
                        <a:lumOff val="90000"/>
                      </a:schemeClr>
                    </a:solidFill>
                  </a:tcPr>
                </a:tc>
                <a:extLst>
                  <a:ext uri="{0D108BD9-81ED-4DB2-BD59-A6C34878D82A}">
                    <a16:rowId xmlns:a16="http://schemas.microsoft.com/office/drawing/2014/main" val="453541849"/>
                  </a:ext>
                </a:extLst>
              </a:tr>
              <a:tr h="758752">
                <a:tc>
                  <a:txBody>
                    <a:bodyPr/>
                    <a:lstStyle/>
                    <a:p>
                      <a:pPr algn="ctr"/>
                      <a:r>
                        <a:rPr lang="en-US" sz="2400" b="1">
                          <a:latin typeface="Times New Roman"/>
                        </a:rPr>
                        <a:t>Average Run Time </a:t>
                      </a:r>
                    </a:p>
                  </a:txBody>
                  <a:tcPr anchor="ctr"/>
                </a:tc>
                <a:tc>
                  <a:txBody>
                    <a:bodyPr/>
                    <a:lstStyle/>
                    <a:p>
                      <a:pPr algn="ctr"/>
                      <a:r>
                        <a:rPr lang="en-US" sz="2400">
                          <a:latin typeface="Times New Roman"/>
                        </a:rPr>
                        <a:t>1.01 (minute)</a:t>
                      </a:r>
                    </a:p>
                  </a:txBody>
                  <a:tcPr anchor="ctr"/>
                </a:tc>
                <a:tc>
                  <a:txBody>
                    <a:bodyPr/>
                    <a:lstStyle/>
                    <a:p>
                      <a:pPr algn="ctr"/>
                      <a:r>
                        <a:rPr lang="en-US" sz="2400">
                          <a:latin typeface="Times New Roman"/>
                        </a:rPr>
                        <a:t>70.42 (minutes)</a:t>
                      </a:r>
                    </a:p>
                  </a:txBody>
                  <a:tcPr anchor="ctr"/>
                </a:tc>
                <a:extLst>
                  <a:ext uri="{0D108BD9-81ED-4DB2-BD59-A6C34878D82A}">
                    <a16:rowId xmlns:a16="http://schemas.microsoft.com/office/drawing/2014/main" val="3843527912"/>
                  </a:ext>
                </a:extLst>
              </a:tr>
              <a:tr h="864576">
                <a:tc>
                  <a:txBody>
                    <a:bodyPr/>
                    <a:lstStyle/>
                    <a:p>
                      <a:pPr lvl="0" algn="ctr">
                        <a:buNone/>
                      </a:pPr>
                      <a:r>
                        <a:rPr lang="en-US" sz="2400" b="1">
                          <a:latin typeface="Times New Roman"/>
                        </a:rPr>
                        <a:t>Number of Runs</a:t>
                      </a:r>
                    </a:p>
                  </a:txBody>
                  <a:tcPr anchor="ctr"/>
                </a:tc>
                <a:tc>
                  <a:txBody>
                    <a:bodyPr/>
                    <a:lstStyle/>
                    <a:p>
                      <a:pPr lvl="0" algn="ctr">
                        <a:buNone/>
                      </a:pPr>
                      <a:r>
                        <a:rPr lang="en-US" sz="2400">
                          <a:latin typeface="Times New Roman"/>
                        </a:rPr>
                        <a:t>10</a:t>
                      </a:r>
                    </a:p>
                  </a:txBody>
                  <a:tcPr anchor="ctr"/>
                </a:tc>
                <a:tc>
                  <a:txBody>
                    <a:bodyPr/>
                    <a:lstStyle/>
                    <a:p>
                      <a:pPr lvl="0" algn="ctr">
                        <a:buNone/>
                      </a:pPr>
                      <a:r>
                        <a:rPr lang="en-US" sz="2400">
                          <a:latin typeface="Times New Roman"/>
                        </a:rPr>
                        <a:t>10</a:t>
                      </a:r>
                    </a:p>
                  </a:txBody>
                  <a:tcPr anchor="ctr"/>
                </a:tc>
                <a:extLst>
                  <a:ext uri="{0D108BD9-81ED-4DB2-BD59-A6C34878D82A}">
                    <a16:rowId xmlns:a16="http://schemas.microsoft.com/office/drawing/2014/main" val="1752267501"/>
                  </a:ext>
                </a:extLst>
              </a:tr>
              <a:tr h="952500">
                <a:tc>
                  <a:txBody>
                    <a:bodyPr/>
                    <a:lstStyle/>
                    <a:p>
                      <a:pPr lvl="0" algn="ctr">
                        <a:buNone/>
                      </a:pPr>
                      <a:r>
                        <a:rPr lang="en-US" sz="2400" b="1" dirty="0">
                          <a:latin typeface="Times New Roman"/>
                        </a:rPr>
                        <a:t>Number of Evaluations per Run</a:t>
                      </a:r>
                      <a:endParaRPr lang="en-US" sz="2400" b="1" dirty="0"/>
                    </a:p>
                  </a:txBody>
                  <a:tcPr anchor="ctr"/>
                </a:tc>
                <a:tc>
                  <a:txBody>
                    <a:bodyPr/>
                    <a:lstStyle/>
                    <a:p>
                      <a:pPr lvl="0" algn="ctr">
                        <a:buNone/>
                      </a:pPr>
                      <a:r>
                        <a:rPr lang="en-US" sz="2400">
                          <a:latin typeface="Times New Roman"/>
                        </a:rPr>
                        <a:t>1010</a:t>
                      </a:r>
                    </a:p>
                  </a:txBody>
                  <a:tcPr anchor="ctr"/>
                </a:tc>
                <a:tc>
                  <a:txBody>
                    <a:bodyPr/>
                    <a:lstStyle/>
                    <a:p>
                      <a:pPr lvl="0" algn="ctr">
                        <a:buNone/>
                      </a:pPr>
                      <a:r>
                        <a:rPr lang="en-US" sz="2400">
                          <a:latin typeface="Times New Roman"/>
                        </a:rPr>
                        <a:t>1010</a:t>
                      </a:r>
                    </a:p>
                  </a:txBody>
                  <a:tcPr anchor="ctr"/>
                </a:tc>
                <a:extLst>
                  <a:ext uri="{0D108BD9-81ED-4DB2-BD59-A6C34878D82A}">
                    <a16:rowId xmlns:a16="http://schemas.microsoft.com/office/drawing/2014/main" val="618619815"/>
                  </a:ext>
                </a:extLst>
              </a:tr>
              <a:tr h="923192">
                <a:tc>
                  <a:txBody>
                    <a:bodyPr/>
                    <a:lstStyle/>
                    <a:p>
                      <a:pPr algn="ctr"/>
                      <a:r>
                        <a:rPr lang="en-US" sz="2400" b="1">
                          <a:latin typeface="Times New Roman"/>
                        </a:rPr>
                        <a:t>Optimal Solution</a:t>
                      </a:r>
                    </a:p>
                  </a:txBody>
                  <a:tcPr anchor="ctr"/>
                </a:tc>
                <a:tc>
                  <a:txBody>
                    <a:bodyPr/>
                    <a:lstStyle/>
                    <a:p>
                      <a:pPr algn="ctr"/>
                      <a:r>
                        <a:rPr lang="en-US" sz="2400">
                          <a:latin typeface="Times New Roman"/>
                        </a:rPr>
                        <a:t>-20.82 (dB)</a:t>
                      </a:r>
                    </a:p>
                  </a:txBody>
                  <a:tcPr anchor="ctr"/>
                </a:tc>
                <a:tc>
                  <a:txBody>
                    <a:bodyPr/>
                    <a:lstStyle/>
                    <a:p>
                      <a:pPr algn="ctr"/>
                      <a:r>
                        <a:rPr lang="en-US" sz="2400" dirty="0">
                          <a:latin typeface="Times New Roman"/>
                        </a:rPr>
                        <a:t>-22.36 (dB)</a:t>
                      </a:r>
                    </a:p>
                  </a:txBody>
                  <a:tcPr anchor="ctr"/>
                </a:tc>
                <a:extLst>
                  <a:ext uri="{0D108BD9-81ED-4DB2-BD59-A6C34878D82A}">
                    <a16:rowId xmlns:a16="http://schemas.microsoft.com/office/drawing/2014/main" val="2692826257"/>
                  </a:ext>
                </a:extLst>
              </a:tr>
            </a:tbl>
          </a:graphicData>
        </a:graphic>
      </p:graphicFrame>
      <p:sp>
        <p:nvSpPr>
          <p:cNvPr id="4" name="Arrow: Right 3">
            <a:extLst>
              <a:ext uri="{FF2B5EF4-FFF2-40B4-BE49-F238E27FC236}">
                <a16:creationId xmlns:a16="http://schemas.microsoft.com/office/drawing/2014/main" id="{385CDB7F-1CB2-44D0-5EDB-7E4A981BA2EF}"/>
              </a:ext>
            </a:extLst>
          </p:cNvPr>
          <p:cNvSpPr/>
          <p:nvPr/>
        </p:nvSpPr>
        <p:spPr>
          <a:xfrm flipH="1">
            <a:off x="10266232" y="2791454"/>
            <a:ext cx="592970" cy="41575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65C3990E-AE20-D275-720A-77AAB99465AB}"/>
              </a:ext>
            </a:extLst>
          </p:cNvPr>
          <p:cNvSpPr/>
          <p:nvPr/>
        </p:nvSpPr>
        <p:spPr>
          <a:xfrm flipH="1">
            <a:off x="10266232" y="5580919"/>
            <a:ext cx="592970" cy="415759"/>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013189"/>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E929-7DD5-D1A3-05E7-5511BCA1D715}"/>
              </a:ext>
            </a:extLst>
          </p:cNvPr>
          <p:cNvSpPr>
            <a:spLocks noGrp="1"/>
          </p:cNvSpPr>
          <p:nvPr>
            <p:ph type="title"/>
          </p:nvPr>
        </p:nvSpPr>
        <p:spPr>
          <a:xfrm>
            <a:off x="838200" y="498173"/>
            <a:ext cx="10515600" cy="1325563"/>
          </a:xfrm>
        </p:spPr>
        <p:txBody>
          <a:bodyPr>
            <a:normAutofit/>
          </a:bodyPr>
          <a:lstStyle/>
          <a:p>
            <a:pPr algn="ctr"/>
            <a:r>
              <a:rPr lang="en-US" sz="3600">
                <a:latin typeface="Times New Roman"/>
                <a:cs typeface="Times New Roman"/>
              </a:rPr>
              <a:t>Comparing the Results for Bayesian Optimization and Genetic Algorithm</a:t>
            </a:r>
            <a:endParaRPr lang="en-US"/>
          </a:p>
        </p:txBody>
      </p:sp>
      <p:sp>
        <p:nvSpPr>
          <p:cNvPr id="5" name="TextBox 4">
            <a:extLst>
              <a:ext uri="{FF2B5EF4-FFF2-40B4-BE49-F238E27FC236}">
                <a16:creationId xmlns:a16="http://schemas.microsoft.com/office/drawing/2014/main" id="{818FB666-3433-3B6B-C3C1-236166344DAF}"/>
              </a:ext>
            </a:extLst>
          </p:cNvPr>
          <p:cNvSpPr txBox="1"/>
          <p:nvPr/>
        </p:nvSpPr>
        <p:spPr>
          <a:xfrm>
            <a:off x="598877" y="2040992"/>
            <a:ext cx="518881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u="sng">
                <a:solidFill>
                  <a:srgbClr val="153D64"/>
                </a:solidFill>
                <a:latin typeface="Times New Roman"/>
                <a:cs typeface="Times New Roman"/>
              </a:rPr>
              <a:t>Genetic Algorithm: </a:t>
            </a:r>
          </a:p>
        </p:txBody>
      </p:sp>
      <p:sp>
        <p:nvSpPr>
          <p:cNvPr id="11" name="TextBox 10">
            <a:extLst>
              <a:ext uri="{FF2B5EF4-FFF2-40B4-BE49-F238E27FC236}">
                <a16:creationId xmlns:a16="http://schemas.microsoft.com/office/drawing/2014/main" id="{ACBD7497-DDE9-2AB1-0F1E-379A03A81868}"/>
              </a:ext>
            </a:extLst>
          </p:cNvPr>
          <p:cNvSpPr txBox="1"/>
          <p:nvPr/>
        </p:nvSpPr>
        <p:spPr>
          <a:xfrm>
            <a:off x="5850707" y="2034437"/>
            <a:ext cx="597802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u="sng">
                <a:solidFill>
                  <a:srgbClr val="153D64"/>
                </a:solidFill>
                <a:latin typeface="Times New Roman"/>
                <a:cs typeface="Times New Roman"/>
              </a:rPr>
              <a:t>Bayesian Optimization:</a:t>
            </a:r>
          </a:p>
        </p:txBody>
      </p:sp>
      <p:pic>
        <p:nvPicPr>
          <p:cNvPr id="8" name="Content Placeholder 7" descr="A graph of a ram structure&#10;&#10;Description automatically generated">
            <a:extLst>
              <a:ext uri="{FF2B5EF4-FFF2-40B4-BE49-F238E27FC236}">
                <a16:creationId xmlns:a16="http://schemas.microsoft.com/office/drawing/2014/main" id="{9B8123E1-44E0-6807-6E12-92A1685D061E}"/>
              </a:ext>
            </a:extLst>
          </p:cNvPr>
          <p:cNvPicPr>
            <a:picLocks noGrp="1" noChangeAspect="1"/>
          </p:cNvPicPr>
          <p:nvPr>
            <p:ph idx="1"/>
          </p:nvPr>
        </p:nvPicPr>
        <p:blipFill>
          <a:blip r:embed="rId2"/>
          <a:stretch>
            <a:fillRect/>
          </a:stretch>
        </p:blipFill>
        <p:spPr>
          <a:xfrm>
            <a:off x="448962" y="2410705"/>
            <a:ext cx="5486400" cy="4114800"/>
          </a:xfrm>
        </p:spPr>
      </p:pic>
      <p:pic>
        <p:nvPicPr>
          <p:cNvPr id="9" name="Picture 8" descr="A graph with a red line&#10;&#10;Description automatically generated">
            <a:extLst>
              <a:ext uri="{FF2B5EF4-FFF2-40B4-BE49-F238E27FC236}">
                <a16:creationId xmlns:a16="http://schemas.microsoft.com/office/drawing/2014/main" id="{62EE99A1-52D8-6FE2-33F5-05EB6234978B}"/>
              </a:ext>
            </a:extLst>
          </p:cNvPr>
          <p:cNvPicPr>
            <a:picLocks noChangeAspect="1"/>
          </p:cNvPicPr>
          <p:nvPr/>
        </p:nvPicPr>
        <p:blipFill>
          <a:blip r:embed="rId3"/>
          <a:stretch>
            <a:fillRect/>
          </a:stretch>
        </p:blipFill>
        <p:spPr>
          <a:xfrm>
            <a:off x="6249773" y="2415059"/>
            <a:ext cx="5486400" cy="4114800"/>
          </a:xfrm>
          <a:prstGeom prst="rect">
            <a:avLst/>
          </a:prstGeom>
        </p:spPr>
      </p:pic>
    </p:spTree>
    <p:extLst>
      <p:ext uri="{BB962C8B-B14F-4D97-AF65-F5344CB8AC3E}">
        <p14:creationId xmlns:p14="http://schemas.microsoft.com/office/powerpoint/2010/main" val="246587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A1FB42E-407A-04D9-D628-1700BF1889E5}"/>
              </a:ext>
            </a:extLst>
          </p:cNvPr>
          <p:cNvSpPr/>
          <p:nvPr/>
        </p:nvSpPr>
        <p:spPr>
          <a:xfrm>
            <a:off x="404797" y="324546"/>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Rectangle 3">
            <a:extLst>
              <a:ext uri="{FF2B5EF4-FFF2-40B4-BE49-F238E27FC236}">
                <a16:creationId xmlns:a16="http://schemas.microsoft.com/office/drawing/2014/main" id="{89F3BEB2-6BE9-C9BB-C9F1-F0B8112B7ADD}"/>
              </a:ext>
            </a:extLst>
          </p:cNvPr>
          <p:cNvSpPr/>
          <p:nvPr/>
        </p:nvSpPr>
        <p:spPr>
          <a:xfrm>
            <a:off x="412694" y="3686280"/>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3" name="Rectangle 3">
            <a:extLst>
              <a:ext uri="{FF2B5EF4-FFF2-40B4-BE49-F238E27FC236}">
                <a16:creationId xmlns:a16="http://schemas.microsoft.com/office/drawing/2014/main" id="{E6F1A5CB-68E0-D19C-6F71-2C5EEDBA0B6B}"/>
              </a:ext>
            </a:extLst>
          </p:cNvPr>
          <p:cNvSpPr/>
          <p:nvPr/>
        </p:nvSpPr>
        <p:spPr>
          <a:xfrm>
            <a:off x="6877400" y="327076"/>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7" name="Rectangle 3">
            <a:extLst>
              <a:ext uri="{FF2B5EF4-FFF2-40B4-BE49-F238E27FC236}">
                <a16:creationId xmlns:a16="http://schemas.microsoft.com/office/drawing/2014/main" id="{CE1F2267-065C-D229-D662-CF045D4E616F}"/>
              </a:ext>
            </a:extLst>
          </p:cNvPr>
          <p:cNvSpPr/>
          <p:nvPr/>
        </p:nvSpPr>
        <p:spPr>
          <a:xfrm>
            <a:off x="6889496" y="3686282"/>
            <a:ext cx="4915103" cy="2863450"/>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2" name="TextBox 1">
            <a:extLst>
              <a:ext uri="{FF2B5EF4-FFF2-40B4-BE49-F238E27FC236}">
                <a16:creationId xmlns:a16="http://schemas.microsoft.com/office/drawing/2014/main" id="{EFC1A7A7-DE9A-F855-28A4-9214BE88ACC4}"/>
              </a:ext>
            </a:extLst>
          </p:cNvPr>
          <p:cNvSpPr txBox="1"/>
          <p:nvPr/>
        </p:nvSpPr>
        <p:spPr>
          <a:xfrm>
            <a:off x="5143287" y="3012217"/>
            <a:ext cx="190116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Requirements </a:t>
            </a:r>
          </a:p>
          <a:p>
            <a:pPr algn="ctr"/>
            <a:r>
              <a:rPr lang="en-US" sz="2000" b="1">
                <a:latin typeface="Times New Roman"/>
                <a:cs typeface="Times New Roman"/>
              </a:rPr>
              <a:t>&amp;</a:t>
            </a:r>
          </a:p>
          <a:p>
            <a:pPr algn="ctr"/>
            <a:r>
              <a:rPr lang="en-US" sz="2000" b="1">
                <a:latin typeface="Times New Roman"/>
                <a:cs typeface="Times New Roman"/>
              </a:rPr>
              <a:t>Specifications</a:t>
            </a:r>
          </a:p>
        </p:txBody>
      </p:sp>
      <p:sp>
        <p:nvSpPr>
          <p:cNvPr id="5" name="TextBox 4">
            <a:extLst>
              <a:ext uri="{FF2B5EF4-FFF2-40B4-BE49-F238E27FC236}">
                <a16:creationId xmlns:a16="http://schemas.microsoft.com/office/drawing/2014/main" id="{FD120BF7-EF2B-796B-35A9-4BBBB39F1206}"/>
              </a:ext>
            </a:extLst>
          </p:cNvPr>
          <p:cNvSpPr txBox="1"/>
          <p:nvPr/>
        </p:nvSpPr>
        <p:spPr>
          <a:xfrm>
            <a:off x="6956257" y="3877249"/>
            <a:ext cx="4878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Efficiently Execute </a:t>
            </a:r>
            <a:endParaRPr lang="en-US"/>
          </a:p>
          <a:p>
            <a:pPr algn="ctr"/>
            <a:r>
              <a:rPr lang="en-US" sz="2000" b="1">
                <a:latin typeface="Times New Roman"/>
                <a:cs typeface="Times New Roman"/>
              </a:rPr>
              <a:t>MATLAB &amp; Python Scripts </a:t>
            </a:r>
            <a:endParaRPr lang="en-US"/>
          </a:p>
        </p:txBody>
      </p:sp>
      <p:sp>
        <p:nvSpPr>
          <p:cNvPr id="6" name="TextBox 5">
            <a:extLst>
              <a:ext uri="{FF2B5EF4-FFF2-40B4-BE49-F238E27FC236}">
                <a16:creationId xmlns:a16="http://schemas.microsoft.com/office/drawing/2014/main" id="{C4762174-CFA1-2FF4-9DE7-5E05237D1F5E}"/>
              </a:ext>
            </a:extLst>
          </p:cNvPr>
          <p:cNvSpPr txBox="1"/>
          <p:nvPr/>
        </p:nvSpPr>
        <p:spPr>
          <a:xfrm>
            <a:off x="6903974" y="4736372"/>
            <a:ext cx="488601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Vectorize FOR Loops</a:t>
            </a:r>
            <a:endParaRPr lang="en-US"/>
          </a:p>
          <a:p>
            <a:pPr marL="285750" indent="-285750" algn="ctr">
              <a:buFont typeface="Arial"/>
              <a:buChar char="•"/>
            </a:pPr>
            <a:r>
              <a:rPr lang="en-US" sz="2000">
                <a:latin typeface="Times New Roman"/>
                <a:cs typeface="Times New Roman"/>
              </a:rPr>
              <a:t>Genetic </a:t>
            </a:r>
            <a:r>
              <a:rPr lang="en-US" sz="2000">
                <a:solidFill>
                  <a:srgbClr val="000000"/>
                </a:solidFill>
                <a:latin typeface="Times New Roman"/>
                <a:cs typeface="Times New Roman"/>
              </a:rPr>
              <a:t>Algorithm</a:t>
            </a:r>
            <a:r>
              <a:rPr lang="en-US" sz="2000">
                <a:latin typeface="Times New Roman"/>
                <a:cs typeface="Times New Roman"/>
              </a:rPr>
              <a:t> (GA)</a:t>
            </a:r>
          </a:p>
          <a:p>
            <a:pPr marL="285750" indent="-285750" algn="ctr">
              <a:buFont typeface="Arial"/>
              <a:buChar char="•"/>
            </a:pPr>
            <a:r>
              <a:rPr lang="en-US" sz="2000">
                <a:latin typeface="Times New Roman"/>
                <a:cs typeface="Times New Roman"/>
              </a:rPr>
              <a:t>Bayesian Optimization</a:t>
            </a:r>
          </a:p>
        </p:txBody>
      </p:sp>
      <p:sp>
        <p:nvSpPr>
          <p:cNvPr id="7" name="TextBox 6">
            <a:extLst>
              <a:ext uri="{FF2B5EF4-FFF2-40B4-BE49-F238E27FC236}">
                <a16:creationId xmlns:a16="http://schemas.microsoft.com/office/drawing/2014/main" id="{124843C7-243F-BCFC-CBED-C1C3041DE355}"/>
              </a:ext>
            </a:extLst>
          </p:cNvPr>
          <p:cNvSpPr txBox="1"/>
          <p:nvPr/>
        </p:nvSpPr>
        <p:spPr>
          <a:xfrm>
            <a:off x="6871478" y="641871"/>
            <a:ext cx="4878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ea typeface="+mn-lt"/>
                <a:cs typeface="+mn-lt"/>
              </a:rPr>
              <a:t>The Material Must be Thin and Easy to Manufacture</a:t>
            </a:r>
            <a:endParaRPr lang="en-US" b="1">
              <a:latin typeface="Times New Roman"/>
              <a:ea typeface="+mn-lt"/>
              <a:cs typeface="+mn-lt"/>
            </a:endParaRPr>
          </a:p>
        </p:txBody>
      </p:sp>
      <p:sp>
        <p:nvSpPr>
          <p:cNvPr id="9" name="TextBox 8">
            <a:extLst>
              <a:ext uri="{FF2B5EF4-FFF2-40B4-BE49-F238E27FC236}">
                <a16:creationId xmlns:a16="http://schemas.microsoft.com/office/drawing/2014/main" id="{71247ECD-D568-0E66-6B78-B68DEF161D74}"/>
              </a:ext>
            </a:extLst>
          </p:cNvPr>
          <p:cNvSpPr txBox="1"/>
          <p:nvPr/>
        </p:nvSpPr>
        <p:spPr>
          <a:xfrm>
            <a:off x="6899208" y="1364573"/>
            <a:ext cx="488601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Maximum of 5 materials thick </a:t>
            </a:r>
            <a:endParaRPr lang="en-US"/>
          </a:p>
          <a:p>
            <a:pPr marL="285750" indent="-285750" algn="ctr">
              <a:buFont typeface="Arial"/>
              <a:buChar char="•"/>
            </a:pPr>
            <a:r>
              <a:rPr lang="en-US" sz="2000">
                <a:latin typeface="Times New Roman"/>
                <a:cs typeface="Times New Roman"/>
              </a:rPr>
              <a:t>Total material thickness &lt; 7 mm</a:t>
            </a:r>
          </a:p>
        </p:txBody>
      </p:sp>
      <p:sp>
        <p:nvSpPr>
          <p:cNvPr id="12" name="TextBox 11">
            <a:extLst>
              <a:ext uri="{FF2B5EF4-FFF2-40B4-BE49-F238E27FC236}">
                <a16:creationId xmlns:a16="http://schemas.microsoft.com/office/drawing/2014/main" id="{B0A309AE-28BD-4D4A-3E5E-31232AA0734F}"/>
              </a:ext>
            </a:extLst>
          </p:cNvPr>
          <p:cNvSpPr txBox="1"/>
          <p:nvPr/>
        </p:nvSpPr>
        <p:spPr>
          <a:xfrm>
            <a:off x="370288" y="3830477"/>
            <a:ext cx="487826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Minimize Total Radar Reflection</a:t>
            </a:r>
          </a:p>
        </p:txBody>
      </p:sp>
      <p:sp>
        <p:nvSpPr>
          <p:cNvPr id="13" name="TextBox 12">
            <a:extLst>
              <a:ext uri="{FF2B5EF4-FFF2-40B4-BE49-F238E27FC236}">
                <a16:creationId xmlns:a16="http://schemas.microsoft.com/office/drawing/2014/main" id="{820B1F84-F390-1A2C-43CF-B6BCD9367E7A}"/>
              </a:ext>
            </a:extLst>
          </p:cNvPr>
          <p:cNvSpPr txBox="1"/>
          <p:nvPr/>
        </p:nvSpPr>
        <p:spPr>
          <a:xfrm>
            <a:off x="410534" y="4570455"/>
            <a:ext cx="475415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Keep reflection of broad-band frequencies under –30 dB</a:t>
            </a:r>
            <a:endParaRPr lang="en-US"/>
          </a:p>
        </p:txBody>
      </p:sp>
      <p:sp>
        <p:nvSpPr>
          <p:cNvPr id="14" name="TextBox 13">
            <a:extLst>
              <a:ext uri="{FF2B5EF4-FFF2-40B4-BE49-F238E27FC236}">
                <a16:creationId xmlns:a16="http://schemas.microsoft.com/office/drawing/2014/main" id="{5CBB8035-FE3B-2464-41A9-7804F3082068}"/>
              </a:ext>
            </a:extLst>
          </p:cNvPr>
          <p:cNvSpPr txBox="1"/>
          <p:nvPr/>
        </p:nvSpPr>
        <p:spPr>
          <a:xfrm>
            <a:off x="307716" y="632574"/>
            <a:ext cx="487826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latin typeface="Times New Roman"/>
                <a:cs typeface="Times New Roman"/>
              </a:rPr>
              <a:t>Make a Template for ARL to Import Materials</a:t>
            </a:r>
          </a:p>
        </p:txBody>
      </p:sp>
      <p:sp>
        <p:nvSpPr>
          <p:cNvPr id="16" name="TextBox 15">
            <a:extLst>
              <a:ext uri="{FF2B5EF4-FFF2-40B4-BE49-F238E27FC236}">
                <a16:creationId xmlns:a16="http://schemas.microsoft.com/office/drawing/2014/main" id="{910AD002-451E-B0D4-C960-C4AA6B7AE61D}"/>
              </a:ext>
            </a:extLst>
          </p:cNvPr>
          <p:cNvSpPr txBox="1"/>
          <p:nvPr/>
        </p:nvSpPr>
        <p:spPr>
          <a:xfrm>
            <a:off x="408069" y="1260042"/>
            <a:ext cx="492031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000">
                <a:latin typeface="Times New Roman"/>
                <a:cs typeface="Times New Roman"/>
              </a:rPr>
              <a:t>Import 16 fictious materials </a:t>
            </a:r>
            <a:endParaRPr lang="en-US"/>
          </a:p>
          <a:p>
            <a:pPr marL="285750" indent="-285750" algn="ctr">
              <a:buFont typeface="Arial"/>
              <a:buChar char="•"/>
            </a:pPr>
            <a:r>
              <a:rPr lang="en-US" sz="2000">
                <a:latin typeface="Times New Roman"/>
                <a:cs typeface="Times New Roman"/>
              </a:rPr>
              <a:t>Create air and PEC layers surrounding material</a:t>
            </a:r>
          </a:p>
        </p:txBody>
      </p:sp>
      <p:pic>
        <p:nvPicPr>
          <p:cNvPr id="20" name="Picture 19" descr="Circle - Free arrows icons">
            <a:extLst>
              <a:ext uri="{FF2B5EF4-FFF2-40B4-BE49-F238E27FC236}">
                <a16:creationId xmlns:a16="http://schemas.microsoft.com/office/drawing/2014/main" id="{6F3903F9-A74B-CDAF-8D4A-5486FF0B5169}"/>
              </a:ext>
            </a:extLst>
          </p:cNvPr>
          <p:cNvPicPr>
            <a:picLocks noChangeAspect="1"/>
          </p:cNvPicPr>
          <p:nvPr/>
        </p:nvPicPr>
        <p:blipFill>
          <a:blip r:embed="rId2">
            <a:alphaModFix/>
            <a:extLst>
              <a:ext uri="{BEBA8EAE-BF5A-486C-A8C5-ECC9F3942E4B}">
                <a14:imgProps xmlns:a14="http://schemas.microsoft.com/office/drawing/2010/main">
                  <a14:imgLayer r:embed="rId3">
                    <a14:imgEffect>
                      <a14:saturation sat="73000"/>
                    </a14:imgEffect>
                    <a14:imgEffect>
                      <a14:brightnessContrast contrast="-29000"/>
                    </a14:imgEffect>
                  </a14:imgLayer>
                </a14:imgProps>
              </a:ext>
            </a:extLst>
          </a:blip>
          <a:stretch>
            <a:fillRect/>
          </a:stretch>
        </p:blipFill>
        <p:spPr>
          <a:xfrm rot="1980000">
            <a:off x="4268735" y="1607453"/>
            <a:ext cx="3650672" cy="3643745"/>
          </a:xfrm>
          <a:prstGeom prst="rect">
            <a:avLst/>
          </a:prstGeom>
        </p:spPr>
      </p:pic>
    </p:spTree>
    <p:extLst>
      <p:ext uri="{BB962C8B-B14F-4D97-AF65-F5344CB8AC3E}">
        <p14:creationId xmlns:p14="http://schemas.microsoft.com/office/powerpoint/2010/main" val="3401700387"/>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spTree>
    <p:extLst>
      <p:ext uri="{BB962C8B-B14F-4D97-AF65-F5344CB8AC3E}">
        <p14:creationId xmlns:p14="http://schemas.microsoft.com/office/powerpoint/2010/main" val="6813440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blue check mark on a black background&#10;&#10;Description automatically generated">
            <a:extLst>
              <a:ext uri="{FF2B5EF4-FFF2-40B4-BE49-F238E27FC236}">
                <a16:creationId xmlns:a16="http://schemas.microsoft.com/office/drawing/2014/main" id="{F3443AB9-6DE6-03B3-071E-3B1CB063C83F}"/>
              </a:ext>
            </a:extLst>
          </p:cNvPr>
          <p:cNvPicPr>
            <a:picLocks noChangeAspect="1"/>
          </p:cNvPicPr>
          <p:nvPr/>
        </p:nvPicPr>
        <p:blipFill>
          <a:blip r:embed="rId2"/>
          <a:stretch>
            <a:fillRect/>
          </a:stretch>
        </p:blipFill>
        <p:spPr>
          <a:xfrm>
            <a:off x="8194964" y="2147454"/>
            <a:ext cx="491835" cy="505692"/>
          </a:xfrm>
          <a:prstGeom prst="rect">
            <a:avLst/>
          </a:prstGeom>
        </p:spPr>
      </p:pic>
    </p:spTree>
    <p:extLst>
      <p:ext uri="{BB962C8B-B14F-4D97-AF65-F5344CB8AC3E}">
        <p14:creationId xmlns:p14="http://schemas.microsoft.com/office/powerpoint/2010/main" val="252813694"/>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blue check mark on a black background&#10;&#10;Description automatically generated">
            <a:extLst>
              <a:ext uri="{FF2B5EF4-FFF2-40B4-BE49-F238E27FC236}">
                <a16:creationId xmlns:a16="http://schemas.microsoft.com/office/drawing/2014/main" id="{F3443AB9-6DE6-03B3-071E-3B1CB063C83F}"/>
              </a:ext>
            </a:extLst>
          </p:cNvPr>
          <p:cNvPicPr>
            <a:picLocks noChangeAspect="1"/>
          </p:cNvPicPr>
          <p:nvPr/>
        </p:nvPicPr>
        <p:blipFill>
          <a:blip r:embed="rId2"/>
          <a:stretch>
            <a:fillRect/>
          </a:stretch>
        </p:blipFill>
        <p:spPr>
          <a:xfrm>
            <a:off x="8194964" y="2147454"/>
            <a:ext cx="491835" cy="505692"/>
          </a:xfrm>
          <a:prstGeom prst="rect">
            <a:avLst/>
          </a:prstGeom>
        </p:spPr>
      </p:pic>
      <p:sp>
        <p:nvSpPr>
          <p:cNvPr id="3" name="TextBox 2">
            <a:extLst>
              <a:ext uri="{FF2B5EF4-FFF2-40B4-BE49-F238E27FC236}">
                <a16:creationId xmlns:a16="http://schemas.microsoft.com/office/drawing/2014/main" id="{5A314610-D975-CE42-A56E-09C6AA4E4050}"/>
              </a:ext>
            </a:extLst>
          </p:cNvPr>
          <p:cNvSpPr txBox="1"/>
          <p:nvPr/>
        </p:nvSpPr>
        <p:spPr>
          <a:xfrm>
            <a:off x="1452712" y="3417977"/>
            <a:ext cx="27368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Given:</a:t>
            </a:r>
          </a:p>
          <a:p>
            <a:pPr algn="ctr"/>
            <a:r>
              <a:rPr lang="en-US">
                <a:latin typeface="Times New Roman"/>
                <a:cs typeface="Times New Roman"/>
              </a:rPr>
              <a:t>Relative Permeability (</a:t>
            </a:r>
            <a:r>
              <a:rPr lang="en-US" b="1">
                <a:latin typeface="Aptos"/>
                <a:ea typeface="+mn-lt"/>
                <a:cs typeface="Times New Roman"/>
              </a:rPr>
              <a:t>μ</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Relative Permittivity (</a:t>
            </a:r>
            <a:r>
              <a:rPr lang="en-US" b="1">
                <a:latin typeface="Times New Roman"/>
                <a:ea typeface="+mn-lt"/>
                <a:cs typeface="Times New Roman"/>
              </a:rPr>
              <a:t>ε</a:t>
            </a:r>
            <a:r>
              <a:rPr lang="en-US">
                <a:ea typeface="+mn-lt"/>
                <a:cs typeface="+mn-lt"/>
              </a:rPr>
              <a:t>)</a:t>
            </a:r>
          </a:p>
        </p:txBody>
      </p:sp>
    </p:spTree>
    <p:extLst>
      <p:ext uri="{BB962C8B-B14F-4D97-AF65-F5344CB8AC3E}">
        <p14:creationId xmlns:p14="http://schemas.microsoft.com/office/powerpoint/2010/main" val="4211652025"/>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blue check mark on a black background&#10;&#10;Description automatically generated">
            <a:extLst>
              <a:ext uri="{FF2B5EF4-FFF2-40B4-BE49-F238E27FC236}">
                <a16:creationId xmlns:a16="http://schemas.microsoft.com/office/drawing/2014/main" id="{F3443AB9-6DE6-03B3-071E-3B1CB063C83F}"/>
              </a:ext>
            </a:extLst>
          </p:cNvPr>
          <p:cNvPicPr>
            <a:picLocks noChangeAspect="1"/>
          </p:cNvPicPr>
          <p:nvPr/>
        </p:nvPicPr>
        <p:blipFill>
          <a:blip r:embed="rId2"/>
          <a:stretch>
            <a:fillRect/>
          </a:stretch>
        </p:blipFill>
        <p:spPr>
          <a:xfrm>
            <a:off x="8194964" y="2147454"/>
            <a:ext cx="491835" cy="505692"/>
          </a:xfrm>
          <a:prstGeom prst="rect">
            <a:avLst/>
          </a:prstGeom>
        </p:spPr>
      </p:pic>
      <p:sp>
        <p:nvSpPr>
          <p:cNvPr id="3" name="TextBox 2">
            <a:extLst>
              <a:ext uri="{FF2B5EF4-FFF2-40B4-BE49-F238E27FC236}">
                <a16:creationId xmlns:a16="http://schemas.microsoft.com/office/drawing/2014/main" id="{5A314610-D975-CE42-A56E-09C6AA4E4050}"/>
              </a:ext>
            </a:extLst>
          </p:cNvPr>
          <p:cNvSpPr txBox="1"/>
          <p:nvPr/>
        </p:nvSpPr>
        <p:spPr>
          <a:xfrm>
            <a:off x="1452712" y="3417977"/>
            <a:ext cx="27368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Given:</a:t>
            </a:r>
          </a:p>
          <a:p>
            <a:pPr algn="ctr"/>
            <a:r>
              <a:rPr lang="en-US">
                <a:latin typeface="Times New Roman"/>
                <a:cs typeface="Times New Roman"/>
              </a:rPr>
              <a:t>Relative Permeability (</a:t>
            </a:r>
            <a:r>
              <a:rPr lang="en-US" b="1">
                <a:latin typeface="Aptos"/>
                <a:ea typeface="+mn-lt"/>
                <a:cs typeface="Times New Roman"/>
              </a:rPr>
              <a:t>μ</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Relative Permittivity (</a:t>
            </a:r>
            <a:r>
              <a:rPr lang="en-US" b="1">
                <a:latin typeface="Times New Roman"/>
                <a:ea typeface="+mn-lt"/>
                <a:cs typeface="Times New Roman"/>
              </a:rPr>
              <a:t>ε</a:t>
            </a:r>
            <a:r>
              <a:rPr lang="en-US">
                <a:ea typeface="+mn-lt"/>
                <a:cs typeface="+mn-lt"/>
              </a:rPr>
              <a:t>)</a:t>
            </a:r>
          </a:p>
        </p:txBody>
      </p:sp>
      <p:sp>
        <p:nvSpPr>
          <p:cNvPr id="4" name="Arrow: Down 3">
            <a:extLst>
              <a:ext uri="{FF2B5EF4-FFF2-40B4-BE49-F238E27FC236}">
                <a16:creationId xmlns:a16="http://schemas.microsoft.com/office/drawing/2014/main" id="{BA97E2D0-6CBB-F131-A7D6-EC921D911D3D}"/>
              </a:ext>
            </a:extLst>
          </p:cNvPr>
          <p:cNvSpPr/>
          <p:nvPr/>
        </p:nvSpPr>
        <p:spPr>
          <a:xfrm>
            <a:off x="2589362" y="4406900"/>
            <a:ext cx="459232" cy="5593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9576F7-A184-D4DE-3908-DA15AE443123}"/>
              </a:ext>
            </a:extLst>
          </p:cNvPr>
          <p:cNvSpPr txBox="1"/>
          <p:nvPr/>
        </p:nvSpPr>
        <p:spPr>
          <a:xfrm>
            <a:off x="1459062" y="4965940"/>
            <a:ext cx="27305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Calculate:</a:t>
            </a:r>
          </a:p>
          <a:p>
            <a:pPr algn="ctr"/>
            <a:r>
              <a:rPr lang="en-US">
                <a:latin typeface="Times New Roman"/>
                <a:cs typeface="Times New Roman"/>
              </a:rPr>
              <a:t>Refractive Index (</a:t>
            </a:r>
            <a:r>
              <a:rPr lang="en-US" b="1">
                <a:latin typeface="Times New Roman"/>
                <a:ea typeface="+mn-lt"/>
                <a:cs typeface="Times New Roman"/>
              </a:rPr>
              <a:t>n</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Extinction Coefficient (</a:t>
            </a:r>
            <a:r>
              <a:rPr lang="en-US" b="1">
                <a:ea typeface="+mn-lt"/>
                <a:cs typeface="+mn-lt"/>
              </a:rPr>
              <a:t>k</a:t>
            </a:r>
            <a:r>
              <a:rPr lang="en-US">
                <a:ea typeface="+mn-lt"/>
                <a:cs typeface="+mn-lt"/>
              </a:rPr>
              <a:t>)</a:t>
            </a:r>
            <a:endParaRPr lang="en-US">
              <a:latin typeface="Aptos"/>
              <a:ea typeface="+mn-lt"/>
              <a:cs typeface="Times New Roman"/>
            </a:endParaRPr>
          </a:p>
        </p:txBody>
      </p:sp>
    </p:spTree>
    <p:extLst>
      <p:ext uri="{BB962C8B-B14F-4D97-AF65-F5344CB8AC3E}">
        <p14:creationId xmlns:p14="http://schemas.microsoft.com/office/powerpoint/2010/main" val="3015327324"/>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blue check mark on a black background&#10;&#10;Description automatically generated">
            <a:extLst>
              <a:ext uri="{FF2B5EF4-FFF2-40B4-BE49-F238E27FC236}">
                <a16:creationId xmlns:a16="http://schemas.microsoft.com/office/drawing/2014/main" id="{F3443AB9-6DE6-03B3-071E-3B1CB063C83F}"/>
              </a:ext>
            </a:extLst>
          </p:cNvPr>
          <p:cNvPicPr>
            <a:picLocks noChangeAspect="1"/>
          </p:cNvPicPr>
          <p:nvPr/>
        </p:nvPicPr>
        <p:blipFill>
          <a:blip r:embed="rId2"/>
          <a:stretch>
            <a:fillRect/>
          </a:stretch>
        </p:blipFill>
        <p:spPr>
          <a:xfrm>
            <a:off x="8194964" y="2147454"/>
            <a:ext cx="491835" cy="505692"/>
          </a:xfrm>
          <a:prstGeom prst="rect">
            <a:avLst/>
          </a:prstGeom>
        </p:spPr>
      </p:pic>
      <p:sp>
        <p:nvSpPr>
          <p:cNvPr id="3" name="TextBox 2">
            <a:extLst>
              <a:ext uri="{FF2B5EF4-FFF2-40B4-BE49-F238E27FC236}">
                <a16:creationId xmlns:a16="http://schemas.microsoft.com/office/drawing/2014/main" id="{5A314610-D975-CE42-A56E-09C6AA4E4050}"/>
              </a:ext>
            </a:extLst>
          </p:cNvPr>
          <p:cNvSpPr txBox="1"/>
          <p:nvPr/>
        </p:nvSpPr>
        <p:spPr>
          <a:xfrm>
            <a:off x="1452712" y="3417977"/>
            <a:ext cx="27368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Given:</a:t>
            </a:r>
          </a:p>
          <a:p>
            <a:pPr algn="ctr"/>
            <a:r>
              <a:rPr lang="en-US">
                <a:latin typeface="Times New Roman"/>
                <a:cs typeface="Times New Roman"/>
              </a:rPr>
              <a:t>Relative Permeability (</a:t>
            </a:r>
            <a:r>
              <a:rPr lang="en-US" b="1">
                <a:latin typeface="Aptos"/>
                <a:ea typeface="+mn-lt"/>
                <a:cs typeface="Times New Roman"/>
              </a:rPr>
              <a:t>μ</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Relative Permittivity (</a:t>
            </a:r>
            <a:r>
              <a:rPr lang="en-US" b="1">
                <a:latin typeface="Times New Roman"/>
                <a:ea typeface="+mn-lt"/>
                <a:cs typeface="Times New Roman"/>
              </a:rPr>
              <a:t>ε</a:t>
            </a:r>
            <a:r>
              <a:rPr lang="en-US">
                <a:ea typeface="+mn-lt"/>
                <a:cs typeface="+mn-lt"/>
              </a:rPr>
              <a:t>)</a:t>
            </a:r>
          </a:p>
        </p:txBody>
      </p:sp>
      <p:sp>
        <p:nvSpPr>
          <p:cNvPr id="4" name="Arrow: Down 3">
            <a:extLst>
              <a:ext uri="{FF2B5EF4-FFF2-40B4-BE49-F238E27FC236}">
                <a16:creationId xmlns:a16="http://schemas.microsoft.com/office/drawing/2014/main" id="{BA97E2D0-6CBB-F131-A7D6-EC921D911D3D}"/>
              </a:ext>
            </a:extLst>
          </p:cNvPr>
          <p:cNvSpPr/>
          <p:nvPr/>
        </p:nvSpPr>
        <p:spPr>
          <a:xfrm>
            <a:off x="2589362" y="4406900"/>
            <a:ext cx="459232" cy="5593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9576F7-A184-D4DE-3908-DA15AE443123}"/>
              </a:ext>
            </a:extLst>
          </p:cNvPr>
          <p:cNvSpPr txBox="1"/>
          <p:nvPr/>
        </p:nvSpPr>
        <p:spPr>
          <a:xfrm>
            <a:off x="1459062" y="4965940"/>
            <a:ext cx="27305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Calculate:</a:t>
            </a:r>
          </a:p>
          <a:p>
            <a:pPr algn="ctr"/>
            <a:r>
              <a:rPr lang="en-US">
                <a:latin typeface="Times New Roman"/>
                <a:cs typeface="Times New Roman"/>
              </a:rPr>
              <a:t>Refractive Index (</a:t>
            </a:r>
            <a:r>
              <a:rPr lang="en-US" b="1">
                <a:latin typeface="Times New Roman"/>
                <a:ea typeface="+mn-lt"/>
                <a:cs typeface="Times New Roman"/>
              </a:rPr>
              <a:t>n</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Extinction Coefficient (</a:t>
            </a:r>
            <a:r>
              <a:rPr lang="en-US" b="1">
                <a:ea typeface="+mn-lt"/>
                <a:cs typeface="+mn-lt"/>
              </a:rPr>
              <a:t>k</a:t>
            </a:r>
            <a:r>
              <a:rPr lang="en-US">
                <a:ea typeface="+mn-lt"/>
                <a:cs typeface="+mn-lt"/>
              </a:rPr>
              <a:t>)</a:t>
            </a:r>
            <a:endParaRPr lang="en-US">
              <a:latin typeface="Aptos"/>
              <a:ea typeface="+mn-lt"/>
              <a:cs typeface="Times New Roman"/>
            </a:endParaRPr>
          </a:p>
        </p:txBody>
      </p:sp>
      <p:sp>
        <p:nvSpPr>
          <p:cNvPr id="7" name="Right Brace 6">
            <a:extLst>
              <a:ext uri="{FF2B5EF4-FFF2-40B4-BE49-F238E27FC236}">
                <a16:creationId xmlns:a16="http://schemas.microsoft.com/office/drawing/2014/main" id="{07F43F02-101A-65D9-1851-E56E52E5830C}"/>
              </a:ext>
            </a:extLst>
          </p:cNvPr>
          <p:cNvSpPr/>
          <p:nvPr/>
        </p:nvSpPr>
        <p:spPr>
          <a:xfrm>
            <a:off x="4188457" y="3419475"/>
            <a:ext cx="371348" cy="2641600"/>
          </a:xfrm>
          <a:prstGeom prst="rightBrace">
            <a:avLst/>
          </a:prstGeom>
          <a:ln w="5715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9" name="Picture 8" descr="A close-up of a mathematical equation&#10;&#10;Description automatically generated">
            <a:extLst>
              <a:ext uri="{FF2B5EF4-FFF2-40B4-BE49-F238E27FC236}">
                <a16:creationId xmlns:a16="http://schemas.microsoft.com/office/drawing/2014/main" id="{C9933001-2CA1-14D5-FD22-BFC6CAD08364}"/>
              </a:ext>
            </a:extLst>
          </p:cNvPr>
          <p:cNvPicPr>
            <a:picLocks noChangeAspect="1"/>
          </p:cNvPicPr>
          <p:nvPr/>
        </p:nvPicPr>
        <p:blipFill>
          <a:blip r:embed="rId3"/>
          <a:stretch>
            <a:fillRect/>
          </a:stretch>
        </p:blipFill>
        <p:spPr>
          <a:xfrm>
            <a:off x="4722063" y="4306019"/>
            <a:ext cx="1813345" cy="769191"/>
          </a:xfrm>
          <a:prstGeom prst="rect">
            <a:avLst/>
          </a:prstGeom>
        </p:spPr>
      </p:pic>
    </p:spTree>
    <p:extLst>
      <p:ext uri="{BB962C8B-B14F-4D97-AF65-F5344CB8AC3E}">
        <p14:creationId xmlns:p14="http://schemas.microsoft.com/office/powerpoint/2010/main" val="3183310123"/>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blue check mark on a black background&#10;&#10;Description automatically generated">
            <a:extLst>
              <a:ext uri="{FF2B5EF4-FFF2-40B4-BE49-F238E27FC236}">
                <a16:creationId xmlns:a16="http://schemas.microsoft.com/office/drawing/2014/main" id="{F3443AB9-6DE6-03B3-071E-3B1CB063C83F}"/>
              </a:ext>
            </a:extLst>
          </p:cNvPr>
          <p:cNvPicPr>
            <a:picLocks noChangeAspect="1"/>
          </p:cNvPicPr>
          <p:nvPr/>
        </p:nvPicPr>
        <p:blipFill>
          <a:blip r:embed="rId2"/>
          <a:stretch>
            <a:fillRect/>
          </a:stretch>
        </p:blipFill>
        <p:spPr>
          <a:xfrm>
            <a:off x="8194964" y="2147454"/>
            <a:ext cx="491835" cy="505692"/>
          </a:xfrm>
          <a:prstGeom prst="rect">
            <a:avLst/>
          </a:prstGeom>
        </p:spPr>
      </p:pic>
      <p:sp>
        <p:nvSpPr>
          <p:cNvPr id="3" name="TextBox 2">
            <a:extLst>
              <a:ext uri="{FF2B5EF4-FFF2-40B4-BE49-F238E27FC236}">
                <a16:creationId xmlns:a16="http://schemas.microsoft.com/office/drawing/2014/main" id="{5A314610-D975-CE42-A56E-09C6AA4E4050}"/>
              </a:ext>
            </a:extLst>
          </p:cNvPr>
          <p:cNvSpPr txBox="1"/>
          <p:nvPr/>
        </p:nvSpPr>
        <p:spPr>
          <a:xfrm>
            <a:off x="1452712" y="3417977"/>
            <a:ext cx="27368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Given:</a:t>
            </a:r>
          </a:p>
          <a:p>
            <a:pPr algn="ctr"/>
            <a:r>
              <a:rPr lang="en-US">
                <a:latin typeface="Times New Roman"/>
                <a:cs typeface="Times New Roman"/>
              </a:rPr>
              <a:t>Relative Permeability (</a:t>
            </a:r>
            <a:r>
              <a:rPr lang="en-US" b="1">
                <a:latin typeface="Aptos"/>
                <a:ea typeface="+mn-lt"/>
                <a:cs typeface="Times New Roman"/>
              </a:rPr>
              <a:t>μ</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Relative Permittivity (</a:t>
            </a:r>
            <a:r>
              <a:rPr lang="en-US" b="1">
                <a:latin typeface="Times New Roman"/>
                <a:ea typeface="+mn-lt"/>
                <a:cs typeface="Times New Roman"/>
              </a:rPr>
              <a:t>ε</a:t>
            </a:r>
            <a:r>
              <a:rPr lang="en-US">
                <a:ea typeface="+mn-lt"/>
                <a:cs typeface="+mn-lt"/>
              </a:rPr>
              <a:t>)</a:t>
            </a:r>
          </a:p>
        </p:txBody>
      </p:sp>
      <p:sp>
        <p:nvSpPr>
          <p:cNvPr id="4" name="Arrow: Down 3">
            <a:extLst>
              <a:ext uri="{FF2B5EF4-FFF2-40B4-BE49-F238E27FC236}">
                <a16:creationId xmlns:a16="http://schemas.microsoft.com/office/drawing/2014/main" id="{BA97E2D0-6CBB-F131-A7D6-EC921D911D3D}"/>
              </a:ext>
            </a:extLst>
          </p:cNvPr>
          <p:cNvSpPr/>
          <p:nvPr/>
        </p:nvSpPr>
        <p:spPr>
          <a:xfrm>
            <a:off x="2589362" y="4406900"/>
            <a:ext cx="459232" cy="5593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9576F7-A184-D4DE-3908-DA15AE443123}"/>
              </a:ext>
            </a:extLst>
          </p:cNvPr>
          <p:cNvSpPr txBox="1"/>
          <p:nvPr/>
        </p:nvSpPr>
        <p:spPr>
          <a:xfrm>
            <a:off x="1459062" y="4965940"/>
            <a:ext cx="27305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Calculate:</a:t>
            </a:r>
          </a:p>
          <a:p>
            <a:pPr algn="ctr"/>
            <a:r>
              <a:rPr lang="en-US">
                <a:latin typeface="Times New Roman"/>
                <a:cs typeface="Times New Roman"/>
              </a:rPr>
              <a:t>Refractive Index (</a:t>
            </a:r>
            <a:r>
              <a:rPr lang="en-US" b="1">
                <a:latin typeface="Times New Roman"/>
                <a:ea typeface="+mn-lt"/>
                <a:cs typeface="Times New Roman"/>
              </a:rPr>
              <a:t>n</a:t>
            </a:r>
            <a:r>
              <a:rPr lang="en-US">
                <a:latin typeface="Times New Roman"/>
                <a:ea typeface="+mn-lt"/>
                <a:cs typeface="Times New Roman"/>
              </a:rPr>
              <a:t>)</a:t>
            </a:r>
            <a:endParaRPr lang="en-US">
              <a:latin typeface="Times New Roman"/>
              <a:cs typeface="Times New Roman"/>
            </a:endParaRPr>
          </a:p>
          <a:p>
            <a:pPr algn="ctr"/>
            <a:r>
              <a:rPr lang="en-US">
                <a:latin typeface="Times New Roman"/>
                <a:cs typeface="Times New Roman"/>
              </a:rPr>
              <a:t>Extinction Coefficient (</a:t>
            </a:r>
            <a:r>
              <a:rPr lang="en-US" b="1">
                <a:ea typeface="+mn-lt"/>
                <a:cs typeface="+mn-lt"/>
              </a:rPr>
              <a:t>k</a:t>
            </a:r>
            <a:r>
              <a:rPr lang="en-US">
                <a:ea typeface="+mn-lt"/>
                <a:cs typeface="+mn-lt"/>
              </a:rPr>
              <a:t>)</a:t>
            </a:r>
            <a:endParaRPr lang="en-US">
              <a:latin typeface="Aptos"/>
              <a:ea typeface="+mn-lt"/>
              <a:cs typeface="Times New Roman"/>
            </a:endParaRPr>
          </a:p>
        </p:txBody>
      </p:sp>
      <p:sp>
        <p:nvSpPr>
          <p:cNvPr id="7" name="Right Brace 6">
            <a:extLst>
              <a:ext uri="{FF2B5EF4-FFF2-40B4-BE49-F238E27FC236}">
                <a16:creationId xmlns:a16="http://schemas.microsoft.com/office/drawing/2014/main" id="{07F43F02-101A-65D9-1851-E56E52E5830C}"/>
              </a:ext>
            </a:extLst>
          </p:cNvPr>
          <p:cNvSpPr/>
          <p:nvPr/>
        </p:nvSpPr>
        <p:spPr>
          <a:xfrm>
            <a:off x="4188457" y="3419475"/>
            <a:ext cx="371348" cy="2641600"/>
          </a:xfrm>
          <a:prstGeom prst="rightBrace">
            <a:avLst/>
          </a:prstGeom>
          <a:ln w="5715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9" name="Picture 8" descr="A close-up of a mathematical equation&#10;&#10;Description automatically generated">
            <a:extLst>
              <a:ext uri="{FF2B5EF4-FFF2-40B4-BE49-F238E27FC236}">
                <a16:creationId xmlns:a16="http://schemas.microsoft.com/office/drawing/2014/main" id="{C9933001-2CA1-14D5-FD22-BFC6CAD08364}"/>
              </a:ext>
            </a:extLst>
          </p:cNvPr>
          <p:cNvPicPr>
            <a:picLocks noChangeAspect="1"/>
          </p:cNvPicPr>
          <p:nvPr/>
        </p:nvPicPr>
        <p:blipFill>
          <a:blip r:embed="rId3"/>
          <a:stretch>
            <a:fillRect/>
          </a:stretch>
        </p:blipFill>
        <p:spPr>
          <a:xfrm>
            <a:off x="4722063" y="4306019"/>
            <a:ext cx="1813345" cy="769191"/>
          </a:xfrm>
          <a:prstGeom prst="rect">
            <a:avLst/>
          </a:prstGeom>
        </p:spPr>
      </p:pic>
      <p:sp>
        <p:nvSpPr>
          <p:cNvPr id="11" name="Arrow: Down 10">
            <a:extLst>
              <a:ext uri="{FF2B5EF4-FFF2-40B4-BE49-F238E27FC236}">
                <a16:creationId xmlns:a16="http://schemas.microsoft.com/office/drawing/2014/main" id="{3EC002EC-D76D-BD04-3C7F-7914BDADDA7C}"/>
              </a:ext>
            </a:extLst>
          </p:cNvPr>
          <p:cNvSpPr/>
          <p:nvPr/>
        </p:nvSpPr>
        <p:spPr>
          <a:xfrm rot="16200000">
            <a:off x="6801927" y="4406899"/>
            <a:ext cx="459232" cy="5593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table with numbers and a few letters&#10;&#10;Description automatically generated">
            <a:extLst>
              <a:ext uri="{FF2B5EF4-FFF2-40B4-BE49-F238E27FC236}">
                <a16:creationId xmlns:a16="http://schemas.microsoft.com/office/drawing/2014/main" id="{C4C6A06B-B996-5762-13B5-F1BD7E62B51D}"/>
              </a:ext>
            </a:extLst>
          </p:cNvPr>
          <p:cNvPicPr>
            <a:picLocks noChangeAspect="1"/>
          </p:cNvPicPr>
          <p:nvPr/>
        </p:nvPicPr>
        <p:blipFill>
          <a:blip r:embed="rId4"/>
          <a:srcRect t="-61" r="-1212" b="19939"/>
          <a:stretch/>
        </p:blipFill>
        <p:spPr>
          <a:xfrm>
            <a:off x="7471971" y="3648955"/>
            <a:ext cx="3263082" cy="1780796"/>
          </a:xfrm>
          <a:prstGeom prst="rect">
            <a:avLst/>
          </a:prstGeom>
        </p:spPr>
      </p:pic>
      <p:sp>
        <p:nvSpPr>
          <p:cNvPr id="15" name="TextBox 14">
            <a:extLst>
              <a:ext uri="{FF2B5EF4-FFF2-40B4-BE49-F238E27FC236}">
                <a16:creationId xmlns:a16="http://schemas.microsoft.com/office/drawing/2014/main" id="{C872C6EF-EEAE-00EB-1E9E-FB310F06E1C7}"/>
              </a:ext>
            </a:extLst>
          </p:cNvPr>
          <p:cNvSpPr txBox="1"/>
          <p:nvPr/>
        </p:nvSpPr>
        <p:spPr>
          <a:xfrm>
            <a:off x="7289919" y="3231071"/>
            <a:ext cx="36282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Create csv file for each material:</a:t>
            </a:r>
            <a:endParaRPr lang="en-US">
              <a:ea typeface="+mn-lt"/>
              <a:cs typeface="+mn-lt"/>
            </a:endParaRPr>
          </a:p>
        </p:txBody>
      </p:sp>
      <p:sp>
        <p:nvSpPr>
          <p:cNvPr id="8" name="TextBox 7">
            <a:extLst>
              <a:ext uri="{FF2B5EF4-FFF2-40B4-BE49-F238E27FC236}">
                <a16:creationId xmlns:a16="http://schemas.microsoft.com/office/drawing/2014/main" id="{AA5870E7-C3D1-F3F3-5540-50A99FAE4F29}"/>
              </a:ext>
            </a:extLst>
          </p:cNvPr>
          <p:cNvSpPr txBox="1"/>
          <p:nvPr/>
        </p:nvSpPr>
        <p:spPr>
          <a:xfrm>
            <a:off x="8557846" y="4344865"/>
            <a:ext cx="54512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b="1">
                <a:latin typeface="Times New Roman"/>
                <a:cs typeface="Times New Roman"/>
              </a:rPr>
              <a:t>[nm]</a:t>
            </a:r>
          </a:p>
        </p:txBody>
      </p:sp>
      <p:sp>
        <p:nvSpPr>
          <p:cNvPr id="16" name="TextBox 15">
            <a:extLst>
              <a:ext uri="{FF2B5EF4-FFF2-40B4-BE49-F238E27FC236}">
                <a16:creationId xmlns:a16="http://schemas.microsoft.com/office/drawing/2014/main" id="{DD4FBBA0-6578-34B6-47EC-96C7FED04226}"/>
              </a:ext>
            </a:extLst>
          </p:cNvPr>
          <p:cNvSpPr txBox="1"/>
          <p:nvPr/>
        </p:nvSpPr>
        <p:spPr>
          <a:xfrm>
            <a:off x="9979269" y="4344865"/>
            <a:ext cx="54512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b="1">
                <a:latin typeface="Times New Roman"/>
                <a:cs typeface="Times New Roman"/>
              </a:rPr>
              <a:t>[-]</a:t>
            </a:r>
          </a:p>
        </p:txBody>
      </p:sp>
    </p:spTree>
    <p:extLst>
      <p:ext uri="{BB962C8B-B14F-4D97-AF65-F5344CB8AC3E}">
        <p14:creationId xmlns:p14="http://schemas.microsoft.com/office/powerpoint/2010/main" val="2165846571"/>
      </p:ext>
    </p:extLst>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53055"/>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Make a Template for ARL to Import </a:t>
            </a:r>
            <a:endParaRPr lang="en-US"/>
          </a:p>
          <a:p>
            <a:pPr algn="ctr"/>
            <a:r>
              <a:rPr lang="en-US" sz="3600" b="1">
                <a:latin typeface="Times New Roman"/>
                <a:cs typeface="Times New Roman"/>
              </a:rPr>
              <a:t>Materials</a:t>
            </a: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
              <a:buChar char="•"/>
            </a:pPr>
            <a:r>
              <a:rPr lang="en-US" sz="2600">
                <a:latin typeface="Times New Roman"/>
                <a:cs typeface="Times New Roman"/>
              </a:rPr>
              <a:t>Import 16 fictious materials </a:t>
            </a:r>
          </a:p>
          <a:p>
            <a:pPr marL="285750" indent="-285750" algn="ctr">
              <a:buFont typeface="Arial"/>
              <a:buChar char="•"/>
            </a:pPr>
            <a:r>
              <a:rPr lang="en-US" sz="2600">
                <a:latin typeface="Times New Roman"/>
                <a:cs typeface="Times New Roman"/>
              </a:rPr>
              <a:t>Create air and PEC layers surrounding material</a:t>
            </a:r>
          </a:p>
        </p:txBody>
      </p:sp>
      <p:pic>
        <p:nvPicPr>
          <p:cNvPr id="2" name="Picture 1" descr="A blue check mark on a black background&#10;&#10;Description automatically generated">
            <a:extLst>
              <a:ext uri="{FF2B5EF4-FFF2-40B4-BE49-F238E27FC236}">
                <a16:creationId xmlns:a16="http://schemas.microsoft.com/office/drawing/2014/main" id="{F3443AB9-6DE6-03B3-071E-3B1CB063C83F}"/>
              </a:ext>
            </a:extLst>
          </p:cNvPr>
          <p:cNvPicPr>
            <a:picLocks noChangeAspect="1"/>
          </p:cNvPicPr>
          <p:nvPr/>
        </p:nvPicPr>
        <p:blipFill>
          <a:blip r:embed="rId2"/>
          <a:stretch>
            <a:fillRect/>
          </a:stretch>
        </p:blipFill>
        <p:spPr>
          <a:xfrm>
            <a:off x="8194964" y="2147454"/>
            <a:ext cx="491835" cy="505692"/>
          </a:xfrm>
          <a:prstGeom prst="rect">
            <a:avLst/>
          </a:prstGeom>
        </p:spPr>
      </p:pic>
      <p:pic>
        <p:nvPicPr>
          <p:cNvPr id="3" name="Picture 2" descr="A blue check mark on a black background&#10;&#10;Description automatically generated">
            <a:extLst>
              <a:ext uri="{FF2B5EF4-FFF2-40B4-BE49-F238E27FC236}">
                <a16:creationId xmlns:a16="http://schemas.microsoft.com/office/drawing/2014/main" id="{D8F7B911-EB95-5CFA-6952-36F5B4A5AA00}"/>
              </a:ext>
            </a:extLst>
          </p:cNvPr>
          <p:cNvPicPr>
            <a:picLocks noChangeAspect="1"/>
          </p:cNvPicPr>
          <p:nvPr/>
        </p:nvPicPr>
        <p:blipFill>
          <a:blip r:embed="rId2"/>
          <a:stretch>
            <a:fillRect/>
          </a:stretch>
        </p:blipFill>
        <p:spPr>
          <a:xfrm>
            <a:off x="9490363" y="2579281"/>
            <a:ext cx="491835" cy="505692"/>
          </a:xfrm>
          <a:prstGeom prst="rect">
            <a:avLst/>
          </a:prstGeom>
        </p:spPr>
      </p:pic>
      <p:sp>
        <p:nvSpPr>
          <p:cNvPr id="4" name="TextBox 3">
            <a:extLst>
              <a:ext uri="{FF2B5EF4-FFF2-40B4-BE49-F238E27FC236}">
                <a16:creationId xmlns:a16="http://schemas.microsoft.com/office/drawing/2014/main" id="{E5D8759A-232B-73C4-E82C-42243F65ED22}"/>
              </a:ext>
            </a:extLst>
          </p:cNvPr>
          <p:cNvSpPr txBox="1"/>
          <p:nvPr/>
        </p:nvSpPr>
        <p:spPr>
          <a:xfrm>
            <a:off x="3532493" y="3291294"/>
            <a:ext cx="12763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u="sng">
                <a:latin typeface="Times New Roman"/>
                <a:cs typeface="Times New Roman"/>
              </a:rPr>
              <a:t>Air:</a:t>
            </a:r>
            <a:endParaRPr lang="en-US" sz="2400">
              <a:latin typeface="Times New Roman"/>
              <a:cs typeface="Times New Roman"/>
            </a:endParaRPr>
          </a:p>
          <a:p>
            <a:pPr algn="ctr"/>
            <a:r>
              <a:rPr lang="en-US" sz="2400">
                <a:latin typeface="Times New Roman"/>
                <a:cs typeface="Times New Roman"/>
              </a:rPr>
              <a:t>n = 1</a:t>
            </a:r>
          </a:p>
          <a:p>
            <a:pPr algn="ctr"/>
            <a:r>
              <a:rPr lang="en-US" sz="2400">
                <a:latin typeface="Times New Roman"/>
                <a:cs typeface="Times New Roman"/>
              </a:rPr>
              <a:t>k = 0</a:t>
            </a:r>
          </a:p>
        </p:txBody>
      </p:sp>
      <p:sp>
        <p:nvSpPr>
          <p:cNvPr id="5" name="TextBox 4">
            <a:extLst>
              <a:ext uri="{FF2B5EF4-FFF2-40B4-BE49-F238E27FC236}">
                <a16:creationId xmlns:a16="http://schemas.microsoft.com/office/drawing/2014/main" id="{6EA8CB52-5019-9788-EDA8-6057196D70ED}"/>
              </a:ext>
            </a:extLst>
          </p:cNvPr>
          <p:cNvSpPr txBox="1"/>
          <p:nvPr/>
        </p:nvSpPr>
        <p:spPr>
          <a:xfrm>
            <a:off x="3531185" y="4748058"/>
            <a:ext cx="12763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u="sng">
                <a:latin typeface="Times New Roman"/>
                <a:cs typeface="Times New Roman"/>
              </a:rPr>
              <a:t>PEC:</a:t>
            </a:r>
            <a:endParaRPr lang="en-US" sz="2400">
              <a:latin typeface="Times New Roman"/>
              <a:cs typeface="Times New Roman"/>
            </a:endParaRPr>
          </a:p>
          <a:p>
            <a:pPr algn="ctr"/>
            <a:r>
              <a:rPr lang="en-US" sz="2400">
                <a:latin typeface="Times New Roman"/>
                <a:cs typeface="Times New Roman"/>
              </a:rPr>
              <a:t>n = 0</a:t>
            </a:r>
          </a:p>
          <a:p>
            <a:pPr algn="ctr"/>
            <a:r>
              <a:rPr lang="en-US" sz="2400">
                <a:latin typeface="Times New Roman"/>
                <a:cs typeface="Times New Roman"/>
              </a:rPr>
              <a:t>k = </a:t>
            </a:r>
            <a:r>
              <a:rPr lang="en-US" sz="2400">
                <a:latin typeface="Times New Roman"/>
                <a:cs typeface="Arial"/>
              </a:rPr>
              <a:t>∞</a:t>
            </a:r>
          </a:p>
        </p:txBody>
      </p:sp>
      <p:sp>
        <p:nvSpPr>
          <p:cNvPr id="47" name="Rectangle: Rounded Corners 46">
            <a:extLst>
              <a:ext uri="{FF2B5EF4-FFF2-40B4-BE49-F238E27FC236}">
                <a16:creationId xmlns:a16="http://schemas.microsoft.com/office/drawing/2014/main" id="{2BEC8D79-6667-E315-8781-5A9F150F9B8E}"/>
              </a:ext>
            </a:extLst>
          </p:cNvPr>
          <p:cNvSpPr/>
          <p:nvPr/>
        </p:nvSpPr>
        <p:spPr>
          <a:xfrm>
            <a:off x="7367341" y="3291792"/>
            <a:ext cx="1966056" cy="243287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Times New Roman"/>
                <a:cs typeface="Times New Roman"/>
              </a:rPr>
              <a:t>Integrated into the codebase</a:t>
            </a:r>
          </a:p>
        </p:txBody>
      </p:sp>
      <p:pic>
        <p:nvPicPr>
          <p:cNvPr id="49" name="Graphic 48" descr="Chevron arrows with solid fill">
            <a:extLst>
              <a:ext uri="{FF2B5EF4-FFF2-40B4-BE49-F238E27FC236}">
                <a16:creationId xmlns:a16="http://schemas.microsoft.com/office/drawing/2014/main" id="{07941BED-A600-6030-E2B5-DC0FB37CE9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98035" y="3606800"/>
            <a:ext cx="1743635" cy="1795929"/>
          </a:xfrm>
          <a:prstGeom prst="rect">
            <a:avLst/>
          </a:prstGeom>
        </p:spPr>
      </p:pic>
    </p:spTree>
    <p:extLst>
      <p:ext uri="{BB962C8B-B14F-4D97-AF65-F5344CB8AC3E}">
        <p14:creationId xmlns:p14="http://schemas.microsoft.com/office/powerpoint/2010/main" val="4095974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25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The Material Must be Thin and Easy to Manufacture</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buFont typeface="Arial"/>
              <a:buChar char="•"/>
            </a:pPr>
            <a:r>
              <a:rPr lang="en-US" sz="2600">
                <a:latin typeface="Times New Roman"/>
                <a:cs typeface="Times New Roman"/>
              </a:rPr>
              <a:t>   Maximum of 5 materials thick</a:t>
            </a:r>
          </a:p>
          <a:p>
            <a:pPr marL="285750" indent="-285750" algn="ctr">
              <a:buFont typeface="Arial,Sans-Serif"/>
              <a:buChar char="•"/>
            </a:pPr>
            <a:r>
              <a:rPr lang="en-US" sz="2600">
                <a:latin typeface="Times New Roman"/>
                <a:cs typeface="Times New Roman"/>
              </a:rPr>
              <a:t>Total material thickness &lt; 7 mm</a:t>
            </a:r>
          </a:p>
          <a:p>
            <a:pPr marL="285750" indent="-285750" algn="ctr">
              <a:buFont typeface="Arial"/>
              <a:buChar char="•"/>
            </a:pPr>
            <a:endParaRPr lang="en-US" sz="2600">
              <a:latin typeface="Times New Roman"/>
              <a:cs typeface="Times New Roman"/>
            </a:endParaRPr>
          </a:p>
        </p:txBody>
      </p:sp>
    </p:spTree>
    <p:extLst>
      <p:ext uri="{BB962C8B-B14F-4D97-AF65-F5344CB8AC3E}">
        <p14:creationId xmlns:p14="http://schemas.microsoft.com/office/powerpoint/2010/main" val="3990045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The Material Must be Thin and Easy to Manufacture</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buFont typeface="Arial"/>
              <a:buChar char="•"/>
            </a:pPr>
            <a:r>
              <a:rPr lang="en-US" sz="2600">
                <a:latin typeface="Times New Roman"/>
                <a:cs typeface="Times New Roman"/>
              </a:rPr>
              <a:t>   Maximum of 5 materials thick</a:t>
            </a:r>
          </a:p>
          <a:p>
            <a:pPr marL="285750" indent="-285750" algn="ctr">
              <a:buFont typeface="Arial,Sans-Serif"/>
              <a:buChar char="•"/>
            </a:pPr>
            <a:r>
              <a:rPr lang="en-US" sz="2600">
                <a:latin typeface="Times New Roman"/>
                <a:cs typeface="Times New Roman"/>
              </a:rPr>
              <a:t>Total material thickness &lt; 7 mm</a:t>
            </a:r>
          </a:p>
          <a:p>
            <a:pPr marL="285750" indent="-285750" algn="ctr">
              <a:buFont typeface="Arial"/>
              <a:buChar char="•"/>
            </a:pPr>
            <a:endParaRPr lang="en-US" sz="2600">
              <a:latin typeface="Times New Roman"/>
              <a:cs typeface="Times New Roman"/>
            </a:endParaRPr>
          </a:p>
        </p:txBody>
      </p:sp>
      <p:pic>
        <p:nvPicPr>
          <p:cNvPr id="3" name="Picture 2" descr="A blue check mark on a black background&#10;&#10;Description automatically generated">
            <a:extLst>
              <a:ext uri="{FF2B5EF4-FFF2-40B4-BE49-F238E27FC236}">
                <a16:creationId xmlns:a16="http://schemas.microsoft.com/office/drawing/2014/main" id="{777522AC-90D2-163A-0531-6DB9327BBC53}"/>
              </a:ext>
            </a:extLst>
          </p:cNvPr>
          <p:cNvPicPr>
            <a:picLocks noChangeAspect="1"/>
          </p:cNvPicPr>
          <p:nvPr/>
        </p:nvPicPr>
        <p:blipFill>
          <a:blip r:embed="rId2"/>
          <a:stretch>
            <a:fillRect/>
          </a:stretch>
        </p:blipFill>
        <p:spPr>
          <a:xfrm>
            <a:off x="8389419" y="2108377"/>
            <a:ext cx="491835" cy="505692"/>
          </a:xfrm>
          <a:prstGeom prst="rect">
            <a:avLst/>
          </a:prstGeom>
        </p:spPr>
      </p:pic>
      <p:pic>
        <p:nvPicPr>
          <p:cNvPr id="4" name="Picture 3" descr="A blue check mark on a black background&#10;&#10;Description automatically generated">
            <a:extLst>
              <a:ext uri="{FF2B5EF4-FFF2-40B4-BE49-F238E27FC236}">
                <a16:creationId xmlns:a16="http://schemas.microsoft.com/office/drawing/2014/main" id="{6D6C2800-4CBE-623D-E4B8-0402F683A6EA}"/>
              </a:ext>
            </a:extLst>
          </p:cNvPr>
          <p:cNvPicPr>
            <a:picLocks noChangeAspect="1"/>
          </p:cNvPicPr>
          <p:nvPr/>
        </p:nvPicPr>
        <p:blipFill>
          <a:blip r:embed="rId2"/>
          <a:stretch>
            <a:fillRect/>
          </a:stretch>
        </p:blipFill>
        <p:spPr>
          <a:xfrm>
            <a:off x="8493438" y="2502682"/>
            <a:ext cx="491835" cy="505692"/>
          </a:xfrm>
          <a:prstGeom prst="rect">
            <a:avLst/>
          </a:prstGeom>
        </p:spPr>
      </p:pic>
      <p:sp>
        <p:nvSpPr>
          <p:cNvPr id="9" name="Rectangle: Rounded Corners 8">
            <a:extLst>
              <a:ext uri="{FF2B5EF4-FFF2-40B4-BE49-F238E27FC236}">
                <a16:creationId xmlns:a16="http://schemas.microsoft.com/office/drawing/2014/main" id="{77309EEF-0093-A0E6-F9BC-5A269EB5EDB1}"/>
              </a:ext>
            </a:extLst>
          </p:cNvPr>
          <p:cNvSpPr/>
          <p:nvPr/>
        </p:nvSpPr>
        <p:spPr>
          <a:xfrm>
            <a:off x="7237357" y="5473592"/>
            <a:ext cx="2025294" cy="645812"/>
          </a:xfrm>
          <a:prstGeom prst="roundRect">
            <a:avLst/>
          </a:prstGeom>
          <a:solidFill>
            <a:srgbClr val="A142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DD950C5-3AAA-F95C-CA2D-C37051A9FA72}"/>
              </a:ext>
            </a:extLst>
          </p:cNvPr>
          <p:cNvSpPr/>
          <p:nvPr/>
        </p:nvSpPr>
        <p:spPr>
          <a:xfrm>
            <a:off x="7237357" y="3121903"/>
            <a:ext cx="2025294" cy="645812"/>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D394C5B2-A22D-2900-BC6B-A6DD1B0D8EEA}"/>
              </a:ext>
            </a:extLst>
          </p:cNvPr>
          <p:cNvSpPr/>
          <p:nvPr/>
        </p:nvSpPr>
        <p:spPr>
          <a:xfrm>
            <a:off x="7237357" y="3910176"/>
            <a:ext cx="2025294" cy="645812"/>
          </a:xfrm>
          <a:prstGeom prst="roundRect">
            <a:avLst/>
          </a:prstGeom>
          <a:solidFill>
            <a:srgbClr val="A1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E7B72B1A-24BA-7A28-B9D7-A09CC5DBC611}"/>
              </a:ext>
            </a:extLst>
          </p:cNvPr>
          <p:cNvSpPr/>
          <p:nvPr/>
        </p:nvSpPr>
        <p:spPr>
          <a:xfrm>
            <a:off x="7237356" y="4698452"/>
            <a:ext cx="2025294" cy="645812"/>
          </a:xfrm>
          <a:prstGeom prst="roundRect">
            <a:avLst/>
          </a:prstGeom>
          <a:solidFill>
            <a:srgbClr val="F7F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id="{645DB297-2B08-527C-8839-DD583B59AADC}"/>
              </a:ext>
            </a:extLst>
          </p:cNvPr>
          <p:cNvSpPr>
            <a:spLocks noGrp="1"/>
          </p:cNvSpPr>
          <p:nvPr>
            <p:ph idx="1"/>
          </p:nvPr>
        </p:nvSpPr>
        <p:spPr>
          <a:xfrm>
            <a:off x="1606768" y="1825625"/>
            <a:ext cx="9339756" cy="3609045"/>
          </a:xfrm>
        </p:spPr>
        <p:txBody>
          <a:bodyPr vert="horz" lIns="91440" tIns="45720" rIns="91440" bIns="45720" rtlCol="0" anchor="t">
            <a:normAutofit/>
          </a:bodyPr>
          <a:lstStyle/>
          <a:p>
            <a:endParaRPr lang="en-US" sz="2600">
              <a:latin typeface="Times New Roman"/>
              <a:cs typeface="Times New Roman"/>
            </a:endParaRPr>
          </a:p>
          <a:p>
            <a:endParaRPr lang="en-US"/>
          </a:p>
        </p:txBody>
      </p:sp>
      <p:sp>
        <p:nvSpPr>
          <p:cNvPr id="27" name="TextBox 26">
            <a:extLst>
              <a:ext uri="{FF2B5EF4-FFF2-40B4-BE49-F238E27FC236}">
                <a16:creationId xmlns:a16="http://schemas.microsoft.com/office/drawing/2014/main" id="{DC182455-D176-33F0-9107-0F9EA2DAB68D}"/>
              </a:ext>
            </a:extLst>
          </p:cNvPr>
          <p:cNvSpPr txBox="1"/>
          <p:nvPr/>
        </p:nvSpPr>
        <p:spPr>
          <a:xfrm>
            <a:off x="6823780" y="3121980"/>
            <a:ext cx="285253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2 Layer:</a:t>
            </a:r>
            <a:endParaRPr lang="en-US" b="1" u="sng"/>
          </a:p>
          <a:p>
            <a:pPr algn="ctr"/>
            <a:r>
              <a:rPr lang="en-US" b="1">
                <a:latin typeface="Times New Roman"/>
                <a:cs typeface="Times New Roman"/>
              </a:rPr>
              <a:t>t = 3.51 [mm]</a:t>
            </a:r>
          </a:p>
          <a:p>
            <a:pPr algn="ctr"/>
            <a:endParaRPr lang="en-US" b="1">
              <a:latin typeface="Times New Roman"/>
              <a:cs typeface="Times New Roman"/>
            </a:endParaRPr>
          </a:p>
        </p:txBody>
      </p:sp>
      <p:sp>
        <p:nvSpPr>
          <p:cNvPr id="29" name="TextBox 28">
            <a:extLst>
              <a:ext uri="{FF2B5EF4-FFF2-40B4-BE49-F238E27FC236}">
                <a16:creationId xmlns:a16="http://schemas.microsoft.com/office/drawing/2014/main" id="{09594397-3163-E18C-A8CD-4F5B6DAC13AE}"/>
              </a:ext>
            </a:extLst>
          </p:cNvPr>
          <p:cNvSpPr txBox="1"/>
          <p:nvPr/>
        </p:nvSpPr>
        <p:spPr>
          <a:xfrm>
            <a:off x="6797504" y="4698532"/>
            <a:ext cx="28788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dirty="0">
                <a:latin typeface="Times New Roman"/>
                <a:cs typeface="Times New Roman"/>
              </a:rPr>
              <a:t>4 Layer:</a:t>
            </a:r>
            <a:endParaRPr lang="en-US" b="1" u="sng" dirty="0"/>
          </a:p>
          <a:p>
            <a:pPr algn="ctr"/>
            <a:r>
              <a:rPr lang="en-US" b="1" dirty="0">
                <a:latin typeface="Times New Roman"/>
                <a:cs typeface="Times New Roman"/>
              </a:rPr>
              <a:t>t = 6.82 [mm]</a:t>
            </a:r>
          </a:p>
          <a:p>
            <a:pPr algn="ctr"/>
            <a:endParaRPr lang="en-US" b="1" dirty="0">
              <a:latin typeface="Times New Roman"/>
              <a:cs typeface="Times New Roman"/>
            </a:endParaRPr>
          </a:p>
        </p:txBody>
      </p:sp>
      <p:sp>
        <p:nvSpPr>
          <p:cNvPr id="31" name="TextBox 30">
            <a:extLst>
              <a:ext uri="{FF2B5EF4-FFF2-40B4-BE49-F238E27FC236}">
                <a16:creationId xmlns:a16="http://schemas.microsoft.com/office/drawing/2014/main" id="{4FF0D9E8-0DC6-ADDE-6362-8D3134936F51}"/>
              </a:ext>
            </a:extLst>
          </p:cNvPr>
          <p:cNvSpPr txBox="1"/>
          <p:nvPr/>
        </p:nvSpPr>
        <p:spPr>
          <a:xfrm>
            <a:off x="6948589" y="5473670"/>
            <a:ext cx="28788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5 Layer:</a:t>
            </a:r>
            <a:endParaRPr lang="en-US" b="1" u="sng"/>
          </a:p>
          <a:p>
            <a:pPr algn="ctr"/>
            <a:r>
              <a:rPr lang="en-US" b="1">
                <a:latin typeface="Times New Roman"/>
                <a:cs typeface="Times New Roman"/>
              </a:rPr>
              <a:t>t = 6.88 [mm]</a:t>
            </a:r>
          </a:p>
          <a:p>
            <a:pPr algn="ctr"/>
            <a:endParaRPr lang="en-US" b="1">
              <a:latin typeface="Times New Roman"/>
              <a:cs typeface="Times New Roman"/>
            </a:endParaRPr>
          </a:p>
        </p:txBody>
      </p:sp>
      <p:sp>
        <p:nvSpPr>
          <p:cNvPr id="33" name="TextBox 32">
            <a:extLst>
              <a:ext uri="{FF2B5EF4-FFF2-40B4-BE49-F238E27FC236}">
                <a16:creationId xmlns:a16="http://schemas.microsoft.com/office/drawing/2014/main" id="{BEF3A31F-F91B-4F83-E30A-B316309D8458}"/>
              </a:ext>
            </a:extLst>
          </p:cNvPr>
          <p:cNvSpPr txBox="1"/>
          <p:nvPr/>
        </p:nvSpPr>
        <p:spPr>
          <a:xfrm>
            <a:off x="6797503" y="3910255"/>
            <a:ext cx="287880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3 Layer:</a:t>
            </a:r>
            <a:endParaRPr lang="en-US" b="1" u="sng"/>
          </a:p>
          <a:p>
            <a:pPr algn="ctr"/>
            <a:r>
              <a:rPr lang="en-US" b="1">
                <a:latin typeface="Times New Roman"/>
                <a:cs typeface="Times New Roman"/>
              </a:rPr>
              <a:t>t = 6.66 [mm]</a:t>
            </a:r>
          </a:p>
          <a:p>
            <a:pPr algn="ctr"/>
            <a:endParaRPr lang="en-US" b="1">
              <a:latin typeface="Times New Roman"/>
              <a:cs typeface="Times New Roman"/>
            </a:endParaRPr>
          </a:p>
        </p:txBody>
      </p:sp>
      <p:pic>
        <p:nvPicPr>
          <p:cNvPr id="37" name="Picture 36" descr="A green tick mark on a black background&#10;&#10;Description automatically generated">
            <a:extLst>
              <a:ext uri="{FF2B5EF4-FFF2-40B4-BE49-F238E27FC236}">
                <a16:creationId xmlns:a16="http://schemas.microsoft.com/office/drawing/2014/main" id="{8FA6489E-6EA6-3A87-31F8-B2AFC153985B}"/>
              </a:ext>
            </a:extLst>
          </p:cNvPr>
          <p:cNvPicPr>
            <a:picLocks noChangeAspect="1"/>
          </p:cNvPicPr>
          <p:nvPr/>
        </p:nvPicPr>
        <p:blipFill>
          <a:blip r:embed="rId3"/>
          <a:stretch>
            <a:fillRect/>
          </a:stretch>
        </p:blipFill>
        <p:spPr>
          <a:xfrm>
            <a:off x="9599007" y="3864945"/>
            <a:ext cx="781051" cy="696316"/>
          </a:xfrm>
          <a:prstGeom prst="rect">
            <a:avLst/>
          </a:prstGeom>
        </p:spPr>
      </p:pic>
      <p:pic>
        <p:nvPicPr>
          <p:cNvPr id="39" name="Picture 38" descr="A green tick mark on a black background&#10;&#10;Description automatically generated">
            <a:extLst>
              <a:ext uri="{FF2B5EF4-FFF2-40B4-BE49-F238E27FC236}">
                <a16:creationId xmlns:a16="http://schemas.microsoft.com/office/drawing/2014/main" id="{B00C4DC8-BBFF-9638-5BC9-B509E71422F6}"/>
              </a:ext>
            </a:extLst>
          </p:cNvPr>
          <p:cNvPicPr>
            <a:picLocks noChangeAspect="1"/>
          </p:cNvPicPr>
          <p:nvPr/>
        </p:nvPicPr>
        <p:blipFill>
          <a:blip r:embed="rId3"/>
          <a:stretch>
            <a:fillRect/>
          </a:stretch>
        </p:blipFill>
        <p:spPr>
          <a:xfrm>
            <a:off x="9599007" y="4653221"/>
            <a:ext cx="781051" cy="696316"/>
          </a:xfrm>
          <a:prstGeom prst="rect">
            <a:avLst/>
          </a:prstGeom>
        </p:spPr>
      </p:pic>
      <p:pic>
        <p:nvPicPr>
          <p:cNvPr id="41" name="Picture 40" descr="A green tick mark on a black background&#10;&#10;Description automatically generated">
            <a:extLst>
              <a:ext uri="{FF2B5EF4-FFF2-40B4-BE49-F238E27FC236}">
                <a16:creationId xmlns:a16="http://schemas.microsoft.com/office/drawing/2014/main" id="{140CDD22-283A-E85C-9162-EACFFD035DE0}"/>
              </a:ext>
            </a:extLst>
          </p:cNvPr>
          <p:cNvPicPr>
            <a:picLocks noChangeAspect="1"/>
          </p:cNvPicPr>
          <p:nvPr/>
        </p:nvPicPr>
        <p:blipFill>
          <a:blip r:embed="rId3"/>
          <a:stretch>
            <a:fillRect/>
          </a:stretch>
        </p:blipFill>
        <p:spPr>
          <a:xfrm>
            <a:off x="9599007" y="5474341"/>
            <a:ext cx="781051" cy="696316"/>
          </a:xfrm>
          <a:prstGeom prst="rect">
            <a:avLst/>
          </a:prstGeom>
        </p:spPr>
      </p:pic>
      <p:pic>
        <p:nvPicPr>
          <p:cNvPr id="42" name="Picture 41" descr="A green tick mark on a black background&#10;&#10;Description automatically generated">
            <a:extLst>
              <a:ext uri="{FF2B5EF4-FFF2-40B4-BE49-F238E27FC236}">
                <a16:creationId xmlns:a16="http://schemas.microsoft.com/office/drawing/2014/main" id="{1BECEE6C-69E1-3624-A009-94F88708AD4A}"/>
              </a:ext>
            </a:extLst>
          </p:cNvPr>
          <p:cNvPicPr>
            <a:picLocks noChangeAspect="1"/>
          </p:cNvPicPr>
          <p:nvPr/>
        </p:nvPicPr>
        <p:blipFill>
          <a:blip r:embed="rId3"/>
          <a:stretch>
            <a:fillRect/>
          </a:stretch>
        </p:blipFill>
        <p:spPr>
          <a:xfrm>
            <a:off x="9599007" y="3070100"/>
            <a:ext cx="781051" cy="696316"/>
          </a:xfrm>
          <a:prstGeom prst="rect">
            <a:avLst/>
          </a:prstGeom>
        </p:spPr>
      </p:pic>
      <p:pic>
        <p:nvPicPr>
          <p:cNvPr id="5" name="Picture 4" descr="A diagram of different colored lines&#10;&#10;Description automatically generated">
            <a:extLst>
              <a:ext uri="{FF2B5EF4-FFF2-40B4-BE49-F238E27FC236}">
                <a16:creationId xmlns:a16="http://schemas.microsoft.com/office/drawing/2014/main" id="{1D468024-8F77-0DCA-9B6D-44D74443E58A}"/>
              </a:ext>
            </a:extLst>
          </p:cNvPr>
          <p:cNvPicPr>
            <a:picLocks noChangeAspect="1"/>
          </p:cNvPicPr>
          <p:nvPr/>
        </p:nvPicPr>
        <p:blipFill>
          <a:blip r:embed="rId4"/>
          <a:srcRect l="8498" t="2043" r="7226" b="3753"/>
          <a:stretch/>
        </p:blipFill>
        <p:spPr>
          <a:xfrm>
            <a:off x="2342072" y="3068849"/>
            <a:ext cx="4610552" cy="3111977"/>
          </a:xfrm>
          <a:prstGeom prst="rect">
            <a:avLst/>
          </a:prstGeom>
          <a:ln>
            <a:solidFill>
              <a:schemeClr val="bg1"/>
            </a:solidFill>
          </a:ln>
        </p:spPr>
      </p:pic>
    </p:spTree>
    <p:extLst>
      <p:ext uri="{BB962C8B-B14F-4D97-AF65-F5344CB8AC3E}">
        <p14:creationId xmlns:p14="http://schemas.microsoft.com/office/powerpoint/2010/main" val="4145010063"/>
      </p:ext>
    </p:extLst>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Efficiently Execute </a:t>
            </a:r>
            <a:endParaRPr lang="en-US" sz="3600">
              <a:latin typeface="Times New Roman"/>
              <a:cs typeface="Times New Roman"/>
            </a:endParaRPr>
          </a:p>
          <a:p>
            <a:pPr algn="ctr"/>
            <a:r>
              <a:rPr lang="en-US" sz="3600" b="1">
                <a:latin typeface="Times New Roman"/>
                <a:cs typeface="Times New Roman"/>
              </a:rPr>
              <a:t>MATLAB &amp; Python Scripts</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Font typeface="Arial"/>
              <a:buChar char="•"/>
            </a:pPr>
            <a:r>
              <a:rPr lang="en-US" sz="2600">
                <a:latin typeface="Times New Roman"/>
                <a:cs typeface="Times New Roman"/>
              </a:rPr>
              <a:t>Vectorize FOR Loops</a:t>
            </a:r>
          </a:p>
          <a:p>
            <a:pPr marL="285750" indent="-285750" algn="ctr">
              <a:buFont typeface="Arial"/>
              <a:buChar char="•"/>
            </a:pPr>
            <a:r>
              <a:rPr lang="en-US" sz="2600">
                <a:latin typeface="Times New Roman"/>
                <a:cs typeface="Times New Roman"/>
              </a:rPr>
              <a:t>Genetic Algorithm (GA)</a:t>
            </a:r>
          </a:p>
          <a:p>
            <a:pPr marL="285750" indent="-285750" algn="ctr">
              <a:buFont typeface="Arial"/>
              <a:buChar char="•"/>
            </a:pPr>
            <a:r>
              <a:rPr lang="en-US" sz="2600">
                <a:latin typeface="Times New Roman"/>
                <a:cs typeface="Times New Roman"/>
              </a:rPr>
              <a:t>Bayesian Optimization</a:t>
            </a:r>
          </a:p>
          <a:p>
            <a:pPr algn="ctr"/>
            <a:endParaRPr lang="en-US">
              <a:latin typeface="Times New Roman"/>
              <a:cs typeface="Times New Roman"/>
            </a:endParaRPr>
          </a:p>
          <a:p>
            <a:pPr algn="ctr">
              <a:buFont typeface="Arial"/>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spTree>
    <p:extLst>
      <p:ext uri="{BB962C8B-B14F-4D97-AF65-F5344CB8AC3E}">
        <p14:creationId xmlns:p14="http://schemas.microsoft.com/office/powerpoint/2010/main" val="1427838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Efficiently Execute </a:t>
            </a:r>
            <a:endParaRPr lang="en-US" sz="3600">
              <a:latin typeface="Times New Roman"/>
              <a:cs typeface="Times New Roman"/>
            </a:endParaRPr>
          </a:p>
          <a:p>
            <a:pPr algn="ctr"/>
            <a:r>
              <a:rPr lang="en-US" sz="3600" b="1">
                <a:latin typeface="Times New Roman"/>
                <a:cs typeface="Times New Roman"/>
              </a:rPr>
              <a:t>MATLAB &amp; Python Scripts</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Font typeface="Arial"/>
              <a:buChar char="•"/>
            </a:pPr>
            <a:r>
              <a:rPr lang="en-US" sz="2600">
                <a:latin typeface="Times New Roman"/>
                <a:cs typeface="Times New Roman"/>
              </a:rPr>
              <a:t>Vectorize FOR Loops</a:t>
            </a:r>
          </a:p>
          <a:p>
            <a:pPr marL="285750" indent="-285750" algn="ctr">
              <a:buFont typeface="Arial"/>
              <a:buChar char="•"/>
            </a:pPr>
            <a:r>
              <a:rPr lang="en-US" sz="2600">
                <a:latin typeface="Times New Roman"/>
                <a:cs typeface="Times New Roman"/>
              </a:rPr>
              <a:t>Genetic Algorithm (GA)</a:t>
            </a:r>
          </a:p>
          <a:p>
            <a:pPr marL="285750" indent="-285750" algn="ctr">
              <a:buFont typeface="Arial"/>
              <a:buChar char="•"/>
            </a:pPr>
            <a:r>
              <a:rPr lang="en-US" sz="2600">
                <a:latin typeface="Times New Roman"/>
                <a:cs typeface="Times New Roman"/>
              </a:rPr>
              <a:t>Bayesian Optimization</a:t>
            </a:r>
          </a:p>
          <a:p>
            <a:pPr algn="ctr"/>
            <a:endParaRPr lang="en-US">
              <a:latin typeface="Times New Roman"/>
              <a:cs typeface="Times New Roman"/>
            </a:endParaRPr>
          </a:p>
          <a:p>
            <a:pPr algn="ctr">
              <a:buFont typeface="Arial"/>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pic>
        <p:nvPicPr>
          <p:cNvPr id="5" name="Picture 4" descr="A blue check mark on a black background&#10;&#10;Description automatically generated">
            <a:extLst>
              <a:ext uri="{FF2B5EF4-FFF2-40B4-BE49-F238E27FC236}">
                <a16:creationId xmlns:a16="http://schemas.microsoft.com/office/drawing/2014/main" id="{6E380926-9550-9F62-7C6D-B3D57CD84F8B}"/>
              </a:ext>
            </a:extLst>
          </p:cNvPr>
          <p:cNvPicPr>
            <a:picLocks noChangeAspect="1"/>
          </p:cNvPicPr>
          <p:nvPr/>
        </p:nvPicPr>
        <p:blipFill>
          <a:blip r:embed="rId2"/>
          <a:stretch>
            <a:fillRect/>
          </a:stretch>
        </p:blipFill>
        <p:spPr>
          <a:xfrm>
            <a:off x="7908800" y="2207078"/>
            <a:ext cx="491835" cy="505692"/>
          </a:xfrm>
          <a:prstGeom prst="rect">
            <a:avLst/>
          </a:prstGeom>
        </p:spPr>
      </p:pic>
      <p:sp>
        <p:nvSpPr>
          <p:cNvPr id="2" name="TextBox 1">
            <a:extLst>
              <a:ext uri="{FF2B5EF4-FFF2-40B4-BE49-F238E27FC236}">
                <a16:creationId xmlns:a16="http://schemas.microsoft.com/office/drawing/2014/main" id="{0D7C94F6-12AF-1F97-C0AF-980CA9024B18}"/>
              </a:ext>
            </a:extLst>
          </p:cNvPr>
          <p:cNvSpPr txBox="1"/>
          <p:nvPr/>
        </p:nvSpPr>
        <p:spPr>
          <a:xfrm>
            <a:off x="2783800" y="3941836"/>
            <a:ext cx="4959844"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600" b="1" u="sng">
                <a:latin typeface="Times New Roman"/>
                <a:cs typeface="Times New Roman"/>
              </a:rPr>
              <a:t>MATLAB Run Time:</a:t>
            </a:r>
            <a:endParaRPr lang="en-US" b="1" u="sng"/>
          </a:p>
          <a:p>
            <a:pPr marL="457200" indent="-457200" algn="ctr">
              <a:buFont typeface="Arial"/>
              <a:buChar char="•"/>
            </a:pPr>
            <a:r>
              <a:rPr lang="en-US" sz="2600">
                <a:latin typeface="Times New Roman"/>
                <a:cs typeface="Times New Roman"/>
              </a:rPr>
              <a:t>Non-Vectorized: 11.24 (sec)</a:t>
            </a:r>
            <a:endParaRPr lang="en-US"/>
          </a:p>
          <a:p>
            <a:pPr marL="457200" indent="-457200" algn="ctr">
              <a:buFont typeface="Arial"/>
              <a:buChar char="•"/>
            </a:pPr>
            <a:r>
              <a:rPr lang="en-US" sz="2600">
                <a:latin typeface="Times New Roman"/>
                <a:cs typeface="Times New Roman"/>
              </a:rPr>
              <a:t>Vectorized: 2.46 (sec)</a:t>
            </a:r>
          </a:p>
          <a:p>
            <a:endParaRPr lang="en-US" sz="2600">
              <a:latin typeface="Times New Roman"/>
              <a:cs typeface="Times New Roman"/>
            </a:endParaRPr>
          </a:p>
        </p:txBody>
      </p:sp>
      <p:pic>
        <p:nvPicPr>
          <p:cNvPr id="3" name="Picture 2" descr="A blue clock with a red and yellow hand&#10;&#10;Description automatically generated">
            <a:extLst>
              <a:ext uri="{FF2B5EF4-FFF2-40B4-BE49-F238E27FC236}">
                <a16:creationId xmlns:a16="http://schemas.microsoft.com/office/drawing/2014/main" id="{A1BFBBEF-2AB9-A000-B470-35D16677551F}"/>
              </a:ext>
            </a:extLst>
          </p:cNvPr>
          <p:cNvPicPr>
            <a:picLocks noChangeAspect="1"/>
          </p:cNvPicPr>
          <p:nvPr/>
        </p:nvPicPr>
        <p:blipFill>
          <a:blip r:embed="rId3"/>
          <a:stretch>
            <a:fillRect/>
          </a:stretch>
        </p:blipFill>
        <p:spPr>
          <a:xfrm>
            <a:off x="7567246" y="3862753"/>
            <a:ext cx="1371600" cy="1430216"/>
          </a:xfrm>
          <a:prstGeom prst="rect">
            <a:avLst/>
          </a:prstGeom>
        </p:spPr>
      </p:pic>
    </p:spTree>
    <p:extLst>
      <p:ext uri="{BB962C8B-B14F-4D97-AF65-F5344CB8AC3E}">
        <p14:creationId xmlns:p14="http://schemas.microsoft.com/office/powerpoint/2010/main" val="3885561741"/>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Efficiently Execute </a:t>
            </a:r>
            <a:endParaRPr lang="en-US" sz="3600">
              <a:latin typeface="Times New Roman"/>
              <a:cs typeface="Times New Roman"/>
            </a:endParaRPr>
          </a:p>
          <a:p>
            <a:pPr algn="ctr"/>
            <a:r>
              <a:rPr lang="en-US" sz="3600" b="1">
                <a:latin typeface="Times New Roman"/>
                <a:cs typeface="Times New Roman"/>
              </a:rPr>
              <a:t>MATLAB &amp; Python Scripts</a:t>
            </a:r>
            <a:endParaRPr lang="en-US" sz="3600">
              <a:latin typeface="Times New Roman"/>
              <a:cs typeface="Times New Roman"/>
            </a:endParaRPr>
          </a:p>
        </p:txBody>
      </p:sp>
      <p:pic>
        <p:nvPicPr>
          <p:cNvPr id="9" name="Recording 2024-11-14 184353">
            <a:hlinkClick r:id="" action="ppaction://media"/>
            <a:extLst>
              <a:ext uri="{FF2B5EF4-FFF2-40B4-BE49-F238E27FC236}">
                <a16:creationId xmlns:a16="http://schemas.microsoft.com/office/drawing/2014/main" id="{A0CD4A9F-885F-9344-5C0B-BD220D95B88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001002" y="2925738"/>
            <a:ext cx="4211428" cy="3713407"/>
          </a:xfrm>
          <a:prstGeom prst="rect">
            <a:avLst/>
          </a:prstGeom>
          <a:ln>
            <a:solidFill>
              <a:schemeClr val="accent1">
                <a:lumMod val="75000"/>
              </a:schemeClr>
            </a:solidFill>
          </a:ln>
          <a:effectLst/>
        </p:spPr>
      </p:pic>
      <p:sp>
        <p:nvSpPr>
          <p:cNvPr id="2" name="Rectangle 1">
            <a:extLst>
              <a:ext uri="{FF2B5EF4-FFF2-40B4-BE49-F238E27FC236}">
                <a16:creationId xmlns:a16="http://schemas.microsoft.com/office/drawing/2014/main" id="{5D399AA7-02F7-AB5E-A2E2-14EF0F796CFB}"/>
              </a:ext>
            </a:extLst>
          </p:cNvPr>
          <p:cNvSpPr/>
          <p:nvPr/>
        </p:nvSpPr>
        <p:spPr>
          <a:xfrm>
            <a:off x="3786187" y="2458640"/>
            <a:ext cx="4613671" cy="105370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check mark on a black background&#10;&#10;Description automatically generated">
            <a:extLst>
              <a:ext uri="{FF2B5EF4-FFF2-40B4-BE49-F238E27FC236}">
                <a16:creationId xmlns:a16="http://schemas.microsoft.com/office/drawing/2014/main" id="{144469BB-C897-ED47-CFC0-5BCCAC17CFD5}"/>
              </a:ext>
            </a:extLst>
          </p:cNvPr>
          <p:cNvPicPr>
            <a:picLocks noChangeAspect="1"/>
          </p:cNvPicPr>
          <p:nvPr/>
        </p:nvPicPr>
        <p:blipFill>
          <a:blip r:embed="rId5"/>
          <a:stretch>
            <a:fillRect/>
          </a:stretch>
        </p:blipFill>
        <p:spPr>
          <a:xfrm>
            <a:off x="8151852" y="2581510"/>
            <a:ext cx="491835" cy="505692"/>
          </a:xfrm>
          <a:prstGeom prst="rect">
            <a:avLst/>
          </a:prstGeom>
        </p:spPr>
      </p:pic>
      <p:sp>
        <p:nvSpPr>
          <p:cNvPr id="12" name="TextBox 11">
            <a:extLst>
              <a:ext uri="{FF2B5EF4-FFF2-40B4-BE49-F238E27FC236}">
                <a16:creationId xmlns:a16="http://schemas.microsoft.com/office/drawing/2014/main" id="{0F696F54-58D8-D246-2D26-6258B89693AA}"/>
              </a:ext>
            </a:extLst>
          </p:cNvPr>
          <p:cNvSpPr txBox="1"/>
          <p:nvPr/>
        </p:nvSpPr>
        <p:spPr>
          <a:xfrm>
            <a:off x="1263002" y="2208179"/>
            <a:ext cx="9493633"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Font typeface="Arial"/>
              <a:buChar char="•"/>
            </a:pPr>
            <a:r>
              <a:rPr lang="en-US" sz="2600">
                <a:latin typeface="Times New Roman"/>
                <a:cs typeface="Times New Roman"/>
              </a:rPr>
              <a:t>Vectorize FOR Loops</a:t>
            </a:r>
          </a:p>
          <a:p>
            <a:pPr marL="285750" indent="-285750" algn="ctr">
              <a:buFont typeface="Arial"/>
              <a:buChar char="•"/>
            </a:pPr>
            <a:r>
              <a:rPr lang="en-US" sz="2600">
                <a:latin typeface="Times New Roman"/>
                <a:cs typeface="Times New Roman"/>
              </a:rPr>
              <a:t>Genetic Algorithm (GA)</a:t>
            </a:r>
          </a:p>
          <a:p>
            <a:pPr marL="285750" indent="-285750" algn="ctr">
              <a:buFont typeface="Arial"/>
              <a:buChar char="•"/>
            </a:pPr>
            <a:r>
              <a:rPr lang="en-US" sz="2600">
                <a:latin typeface="Times New Roman"/>
                <a:cs typeface="Times New Roman"/>
              </a:rPr>
              <a:t>Bayesian Optimization</a:t>
            </a:r>
          </a:p>
          <a:p>
            <a:pPr algn="ctr"/>
            <a:endParaRPr lang="en-US">
              <a:latin typeface="Times New Roman"/>
              <a:cs typeface="Times New Roman"/>
            </a:endParaRPr>
          </a:p>
          <a:p>
            <a:pPr algn="ctr">
              <a:buFont typeface="Arial"/>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pic>
        <p:nvPicPr>
          <p:cNvPr id="5" name="Picture 4" descr="A blue check mark on a black background&#10;&#10;Description automatically generated">
            <a:extLst>
              <a:ext uri="{FF2B5EF4-FFF2-40B4-BE49-F238E27FC236}">
                <a16:creationId xmlns:a16="http://schemas.microsoft.com/office/drawing/2014/main" id="{6E380926-9550-9F62-7C6D-B3D57CD84F8B}"/>
              </a:ext>
            </a:extLst>
          </p:cNvPr>
          <p:cNvPicPr>
            <a:picLocks noChangeAspect="1"/>
          </p:cNvPicPr>
          <p:nvPr/>
        </p:nvPicPr>
        <p:blipFill>
          <a:blip r:embed="rId5"/>
          <a:stretch>
            <a:fillRect/>
          </a:stretch>
        </p:blipFill>
        <p:spPr>
          <a:xfrm>
            <a:off x="7908800" y="2207078"/>
            <a:ext cx="491835" cy="505692"/>
          </a:xfrm>
          <a:prstGeom prst="rect">
            <a:avLst/>
          </a:prstGeom>
        </p:spPr>
      </p:pic>
    </p:spTree>
    <p:extLst>
      <p:ext uri="{BB962C8B-B14F-4D97-AF65-F5344CB8AC3E}">
        <p14:creationId xmlns:p14="http://schemas.microsoft.com/office/powerpoint/2010/main" val="629304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143"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mute="1">
                <p:cTn id="12" repeatCount="indefinite" fill="hold" display="0">
                  <p:stCondLst>
                    <p:cond delay="indefinite"/>
                  </p:stCondLst>
                </p:cTn>
                <p:tgtEl>
                  <p:spTgt spid="9"/>
                </p:tgtEl>
              </p:cMediaNode>
            </p:video>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Efficiently Execute </a:t>
            </a:r>
            <a:endParaRPr lang="en-US" sz="3600">
              <a:latin typeface="Times New Roman"/>
              <a:cs typeface="Times New Roman"/>
            </a:endParaRPr>
          </a:p>
          <a:p>
            <a:pPr algn="ctr"/>
            <a:r>
              <a:rPr lang="en-US" sz="3600" b="1">
                <a:latin typeface="Times New Roman"/>
                <a:cs typeface="Times New Roman"/>
              </a:rPr>
              <a:t>MATLAB &amp; Python Scripts</a:t>
            </a:r>
            <a:endParaRPr lang="en-US" sz="3600">
              <a:latin typeface="Times New Roman"/>
              <a:cs typeface="Times New Roman"/>
            </a:endParaRPr>
          </a:p>
        </p:txBody>
      </p:sp>
      <p:pic>
        <p:nvPicPr>
          <p:cNvPr id="5" name="Picture 4" descr="A blue check mark on a black background&#10;&#10;Description automatically generated">
            <a:extLst>
              <a:ext uri="{FF2B5EF4-FFF2-40B4-BE49-F238E27FC236}">
                <a16:creationId xmlns:a16="http://schemas.microsoft.com/office/drawing/2014/main" id="{6E380926-9550-9F62-7C6D-B3D57CD84F8B}"/>
              </a:ext>
            </a:extLst>
          </p:cNvPr>
          <p:cNvPicPr>
            <a:picLocks noChangeAspect="1"/>
          </p:cNvPicPr>
          <p:nvPr/>
        </p:nvPicPr>
        <p:blipFill>
          <a:blip r:embed="rId4"/>
          <a:stretch>
            <a:fillRect/>
          </a:stretch>
        </p:blipFill>
        <p:spPr>
          <a:xfrm>
            <a:off x="7908800" y="2207078"/>
            <a:ext cx="491835" cy="505692"/>
          </a:xfrm>
          <a:prstGeom prst="rect">
            <a:avLst/>
          </a:prstGeom>
        </p:spPr>
      </p:pic>
      <p:pic>
        <p:nvPicPr>
          <p:cNvPr id="7" name="Bayesian Optimization">
            <a:hlinkClick r:id="" action="ppaction://media"/>
            <a:extLst>
              <a:ext uri="{FF2B5EF4-FFF2-40B4-BE49-F238E27FC236}">
                <a16:creationId xmlns:a16="http://schemas.microsoft.com/office/drawing/2014/main" id="{6B88CD8E-CB51-3DDA-A241-DCD29ECBBB4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950846" y="2921397"/>
            <a:ext cx="4314411" cy="3807280"/>
          </a:xfrm>
          <a:prstGeom prst="rect">
            <a:avLst/>
          </a:prstGeom>
        </p:spPr>
      </p:pic>
      <p:sp>
        <p:nvSpPr>
          <p:cNvPr id="2" name="Rectangle 1">
            <a:extLst>
              <a:ext uri="{FF2B5EF4-FFF2-40B4-BE49-F238E27FC236}">
                <a16:creationId xmlns:a16="http://schemas.microsoft.com/office/drawing/2014/main" id="{22398833-5B2B-BDB2-C18B-1FD909F0B6E9}"/>
              </a:ext>
            </a:extLst>
          </p:cNvPr>
          <p:cNvSpPr/>
          <p:nvPr/>
        </p:nvSpPr>
        <p:spPr>
          <a:xfrm>
            <a:off x="3458817" y="2796208"/>
            <a:ext cx="5194852" cy="74874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471425"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Font typeface="Arial"/>
              <a:buChar char="•"/>
            </a:pPr>
            <a:r>
              <a:rPr lang="en-US" sz="2600">
                <a:latin typeface="Times New Roman"/>
                <a:cs typeface="Times New Roman"/>
              </a:rPr>
              <a:t>Vectorize FOR Loops</a:t>
            </a:r>
          </a:p>
          <a:p>
            <a:pPr marL="285750" indent="-285750" algn="ctr">
              <a:buFont typeface="Arial"/>
              <a:buChar char="•"/>
            </a:pPr>
            <a:r>
              <a:rPr lang="en-US" sz="2600">
                <a:latin typeface="Times New Roman"/>
                <a:cs typeface="Times New Roman"/>
              </a:rPr>
              <a:t>Genetic Algorithm (GA)</a:t>
            </a:r>
          </a:p>
          <a:p>
            <a:pPr marL="285750" indent="-285750" algn="ctr">
              <a:buFont typeface="Arial"/>
              <a:buChar char="•"/>
            </a:pPr>
            <a:r>
              <a:rPr lang="en-US" sz="2600">
                <a:latin typeface="Times New Roman"/>
                <a:cs typeface="Times New Roman"/>
              </a:rPr>
              <a:t>Bayesian Optimization</a:t>
            </a:r>
          </a:p>
          <a:p>
            <a:pPr algn="ctr"/>
            <a:endParaRPr lang="en-US">
              <a:latin typeface="Times New Roman"/>
              <a:cs typeface="Times New Roman"/>
            </a:endParaRPr>
          </a:p>
          <a:p>
            <a:pPr algn="ct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pic>
        <p:nvPicPr>
          <p:cNvPr id="8" name="Picture 7" descr="A blue check mark on a black background&#10;&#10;Description automatically generated">
            <a:extLst>
              <a:ext uri="{FF2B5EF4-FFF2-40B4-BE49-F238E27FC236}">
                <a16:creationId xmlns:a16="http://schemas.microsoft.com/office/drawing/2014/main" id="{144469BB-C897-ED47-CFC0-5BCCAC17CFD5}"/>
              </a:ext>
            </a:extLst>
          </p:cNvPr>
          <p:cNvPicPr>
            <a:picLocks noChangeAspect="1"/>
          </p:cNvPicPr>
          <p:nvPr/>
        </p:nvPicPr>
        <p:blipFill>
          <a:blip r:embed="rId4"/>
          <a:stretch>
            <a:fillRect/>
          </a:stretch>
        </p:blipFill>
        <p:spPr>
          <a:xfrm>
            <a:off x="8154647" y="2542039"/>
            <a:ext cx="491835" cy="505692"/>
          </a:xfrm>
          <a:prstGeom prst="rect">
            <a:avLst/>
          </a:prstGeom>
        </p:spPr>
      </p:pic>
      <p:pic>
        <p:nvPicPr>
          <p:cNvPr id="9" name="Picture 8" descr="A blue check mark on a black background&#10;&#10;Description automatically generated">
            <a:extLst>
              <a:ext uri="{FF2B5EF4-FFF2-40B4-BE49-F238E27FC236}">
                <a16:creationId xmlns:a16="http://schemas.microsoft.com/office/drawing/2014/main" id="{8BCBBD90-9D81-57C0-2844-D6DE0D854A0D}"/>
              </a:ext>
            </a:extLst>
          </p:cNvPr>
          <p:cNvPicPr>
            <a:picLocks noChangeAspect="1"/>
          </p:cNvPicPr>
          <p:nvPr/>
        </p:nvPicPr>
        <p:blipFill>
          <a:blip r:embed="rId4"/>
          <a:stretch>
            <a:fillRect/>
          </a:stretch>
        </p:blipFill>
        <p:spPr>
          <a:xfrm>
            <a:off x="8154647" y="3042981"/>
            <a:ext cx="491835" cy="505692"/>
          </a:xfrm>
          <a:prstGeom prst="rect">
            <a:avLst/>
          </a:prstGeom>
        </p:spPr>
      </p:pic>
    </p:spTree>
    <p:extLst>
      <p:ext uri="{BB962C8B-B14F-4D97-AF65-F5344CB8AC3E}">
        <p14:creationId xmlns:p14="http://schemas.microsoft.com/office/powerpoint/2010/main" val="3386339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4065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Minimize Total Radar Reflection</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68955" y="2208179"/>
            <a:ext cx="969008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Sans-Serif"/>
              <a:buChar char="•"/>
            </a:pPr>
            <a:r>
              <a:rPr lang="en-US" sz="2600">
                <a:latin typeface="Times New Roman"/>
                <a:cs typeface="Times New Roman"/>
              </a:rPr>
              <a:t>Keep reflection of broad-band frequencies under –30 dB</a:t>
            </a:r>
            <a:endParaRPr lang="en-US" sz="2600"/>
          </a:p>
          <a:p>
            <a:pPr algn="ctr">
              <a:buFont typeface="Arial,Sans-Serif"/>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spTree>
    <p:extLst>
      <p:ext uri="{BB962C8B-B14F-4D97-AF65-F5344CB8AC3E}">
        <p14:creationId xmlns:p14="http://schemas.microsoft.com/office/powerpoint/2010/main" val="1809055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1D02ABA-8039-5C20-4980-971F67DF59B4}"/>
              </a:ext>
            </a:extLst>
          </p:cNvPr>
          <p:cNvSpPr/>
          <p:nvPr/>
        </p:nvSpPr>
        <p:spPr>
          <a:xfrm>
            <a:off x="1271500" y="545584"/>
            <a:ext cx="9679056" cy="5742762"/>
          </a:xfrm>
          <a:prstGeom prst="roundRect">
            <a:avLst/>
          </a:prstGeom>
          <a:solidFill>
            <a:schemeClr val="tx2">
              <a:lumMod val="10000"/>
              <a:lumOff val="90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p:txBody>
      </p:sp>
      <p:sp>
        <p:nvSpPr>
          <p:cNvPr id="11" name="Rectangle: Rounded Corners 10">
            <a:extLst>
              <a:ext uri="{FF2B5EF4-FFF2-40B4-BE49-F238E27FC236}">
                <a16:creationId xmlns:a16="http://schemas.microsoft.com/office/drawing/2014/main" id="{938D0660-18CE-F051-313C-51837ABE14C7}"/>
              </a:ext>
            </a:extLst>
          </p:cNvPr>
          <p:cNvSpPr/>
          <p:nvPr/>
        </p:nvSpPr>
        <p:spPr>
          <a:xfrm>
            <a:off x="7677478" y="5434178"/>
            <a:ext cx="2169811" cy="704932"/>
          </a:xfrm>
          <a:prstGeom prst="roundRect">
            <a:avLst/>
          </a:prstGeom>
          <a:solidFill>
            <a:srgbClr val="A142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Rounded Corners 26">
            <a:extLst>
              <a:ext uri="{FF2B5EF4-FFF2-40B4-BE49-F238E27FC236}">
                <a16:creationId xmlns:a16="http://schemas.microsoft.com/office/drawing/2014/main" id="{F739D5E9-B23E-1C62-E399-CB6DA1110747}"/>
              </a:ext>
            </a:extLst>
          </p:cNvPr>
          <p:cNvSpPr/>
          <p:nvPr/>
        </p:nvSpPr>
        <p:spPr>
          <a:xfrm>
            <a:off x="7677478" y="2609523"/>
            <a:ext cx="2169811" cy="704932"/>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30087594-C85F-FBEB-33DD-C1900F5274C4}"/>
              </a:ext>
            </a:extLst>
          </p:cNvPr>
          <p:cNvSpPr/>
          <p:nvPr/>
        </p:nvSpPr>
        <p:spPr>
          <a:xfrm>
            <a:off x="7677478" y="3535745"/>
            <a:ext cx="2169811" cy="704932"/>
          </a:xfrm>
          <a:prstGeom prst="roundRect">
            <a:avLst/>
          </a:prstGeom>
          <a:solidFill>
            <a:srgbClr val="A1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95494177-20AA-DFC4-0E33-2BECB3A4E83D}"/>
              </a:ext>
            </a:extLst>
          </p:cNvPr>
          <p:cNvSpPr/>
          <p:nvPr/>
        </p:nvSpPr>
        <p:spPr>
          <a:xfrm>
            <a:off x="7677477" y="4501383"/>
            <a:ext cx="2169811" cy="704932"/>
          </a:xfrm>
          <a:prstGeom prst="roundRect">
            <a:avLst/>
          </a:prstGeom>
          <a:solidFill>
            <a:srgbClr val="F7F5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2742247-AB68-D5A0-3966-81359970B631}"/>
              </a:ext>
            </a:extLst>
          </p:cNvPr>
          <p:cNvSpPr txBox="1"/>
          <p:nvPr/>
        </p:nvSpPr>
        <p:spPr>
          <a:xfrm>
            <a:off x="1267488" y="1010665"/>
            <a:ext cx="960731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a:latin typeface="Times New Roman"/>
                <a:cs typeface="Times New Roman"/>
              </a:rPr>
              <a:t>Minimize Total Radar Reflection</a:t>
            </a:r>
            <a:endParaRPr lang="en-US" sz="3600">
              <a:latin typeface="Times New Roman"/>
              <a:cs typeface="Times New Roman"/>
            </a:endParaRPr>
          </a:p>
        </p:txBody>
      </p:sp>
      <p:sp>
        <p:nvSpPr>
          <p:cNvPr id="12" name="TextBox 11">
            <a:extLst>
              <a:ext uri="{FF2B5EF4-FFF2-40B4-BE49-F238E27FC236}">
                <a16:creationId xmlns:a16="http://schemas.microsoft.com/office/drawing/2014/main" id="{0F696F54-58D8-D246-2D26-6258B89693AA}"/>
              </a:ext>
            </a:extLst>
          </p:cNvPr>
          <p:cNvSpPr txBox="1"/>
          <p:nvPr/>
        </p:nvSpPr>
        <p:spPr>
          <a:xfrm>
            <a:off x="1249248" y="1965127"/>
            <a:ext cx="969008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Arial,Sans-Serif"/>
              <a:buChar char="•"/>
            </a:pPr>
            <a:r>
              <a:rPr lang="en-US" sz="2600">
                <a:latin typeface="Times New Roman"/>
                <a:cs typeface="Times New Roman"/>
              </a:rPr>
              <a:t>Keep reflection of broad-band frequencies under –30 dB</a:t>
            </a:r>
            <a:endParaRPr lang="en-US" sz="2600"/>
          </a:p>
          <a:p>
            <a:pPr algn="ctr">
              <a:buFont typeface="Arial,Sans-Serif"/>
              <a:buChar char="•"/>
            </a:pPr>
            <a:endParaRPr lang="en-US" sz="2600">
              <a:latin typeface="Times New Roman"/>
              <a:cs typeface="Times New Roman"/>
            </a:endParaRPr>
          </a:p>
          <a:p>
            <a:pPr marL="285750" indent="-285750" algn="ctr">
              <a:buFont typeface="Arial"/>
              <a:buChar char="•"/>
            </a:pPr>
            <a:endParaRPr lang="en-US" sz="2600">
              <a:latin typeface="Times New Roman"/>
              <a:cs typeface="Times New Roman"/>
            </a:endParaRPr>
          </a:p>
        </p:txBody>
      </p:sp>
      <p:pic>
        <p:nvPicPr>
          <p:cNvPr id="3" name="Picture 2" descr="A blue check mark on a black background&#10;&#10;Description automatically generated">
            <a:extLst>
              <a:ext uri="{FF2B5EF4-FFF2-40B4-BE49-F238E27FC236}">
                <a16:creationId xmlns:a16="http://schemas.microsoft.com/office/drawing/2014/main" id="{FE8588D5-4DB1-0E5F-4295-A7E7EE7D4B55}"/>
              </a:ext>
            </a:extLst>
          </p:cNvPr>
          <p:cNvPicPr>
            <a:picLocks noChangeAspect="1"/>
          </p:cNvPicPr>
          <p:nvPr/>
        </p:nvPicPr>
        <p:blipFill>
          <a:blip r:embed="rId2"/>
          <a:stretch>
            <a:fillRect/>
          </a:stretch>
        </p:blipFill>
        <p:spPr>
          <a:xfrm>
            <a:off x="10161814" y="1924446"/>
            <a:ext cx="491835" cy="505692"/>
          </a:xfrm>
          <a:prstGeom prst="rect">
            <a:avLst/>
          </a:prstGeom>
        </p:spPr>
      </p:pic>
      <p:sp>
        <p:nvSpPr>
          <p:cNvPr id="22" name="Content Placeholder 2">
            <a:extLst>
              <a:ext uri="{FF2B5EF4-FFF2-40B4-BE49-F238E27FC236}">
                <a16:creationId xmlns:a16="http://schemas.microsoft.com/office/drawing/2014/main" id="{45F8328D-90B7-A9EE-53EA-52354C1C8B22}"/>
              </a:ext>
            </a:extLst>
          </p:cNvPr>
          <p:cNvSpPr>
            <a:spLocks noGrp="1"/>
          </p:cNvSpPr>
          <p:nvPr>
            <p:ph idx="1"/>
          </p:nvPr>
        </p:nvSpPr>
        <p:spPr>
          <a:xfrm>
            <a:off x="1606768" y="1825625"/>
            <a:ext cx="9339756" cy="3609045"/>
          </a:xfrm>
        </p:spPr>
        <p:txBody>
          <a:bodyPr vert="horz" lIns="91440" tIns="45720" rIns="91440" bIns="45720" rtlCol="0" anchor="t">
            <a:normAutofit/>
          </a:bodyPr>
          <a:lstStyle/>
          <a:p>
            <a:endParaRPr lang="en-US" sz="2600">
              <a:latin typeface="Times New Roman"/>
              <a:cs typeface="Times New Roman"/>
            </a:endParaRPr>
          </a:p>
          <a:p>
            <a:endParaRPr lang="en-US"/>
          </a:p>
        </p:txBody>
      </p:sp>
      <p:sp>
        <p:nvSpPr>
          <p:cNvPr id="24" name="TextBox 23">
            <a:extLst>
              <a:ext uri="{FF2B5EF4-FFF2-40B4-BE49-F238E27FC236}">
                <a16:creationId xmlns:a16="http://schemas.microsoft.com/office/drawing/2014/main" id="{3F8ACF2C-EF24-8191-038C-56B860AA9FB9}"/>
              </a:ext>
            </a:extLst>
          </p:cNvPr>
          <p:cNvSpPr txBox="1"/>
          <p:nvPr/>
        </p:nvSpPr>
        <p:spPr>
          <a:xfrm>
            <a:off x="7677745" y="2609602"/>
            <a:ext cx="214965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2 Layer:</a:t>
            </a:r>
            <a:endParaRPr lang="en-US" b="1" u="sng"/>
          </a:p>
          <a:p>
            <a:pPr algn="ctr"/>
            <a:r>
              <a:rPr lang="en-US" b="1">
                <a:latin typeface="Times New Roman"/>
                <a:cs typeface="Times New Roman"/>
              </a:rPr>
              <a:t>R = -21.13 (dB)</a:t>
            </a:r>
          </a:p>
          <a:p>
            <a:pPr algn="ctr"/>
            <a:endParaRPr lang="en-US" b="1">
              <a:latin typeface="Times New Roman"/>
              <a:cs typeface="Times New Roman"/>
            </a:endParaRPr>
          </a:p>
        </p:txBody>
      </p:sp>
      <p:sp>
        <p:nvSpPr>
          <p:cNvPr id="30" name="TextBox 29">
            <a:extLst>
              <a:ext uri="{FF2B5EF4-FFF2-40B4-BE49-F238E27FC236}">
                <a16:creationId xmlns:a16="http://schemas.microsoft.com/office/drawing/2014/main" id="{70B89C34-0197-C988-D1DF-07980BC2802F}"/>
              </a:ext>
            </a:extLst>
          </p:cNvPr>
          <p:cNvSpPr txBox="1"/>
          <p:nvPr/>
        </p:nvSpPr>
        <p:spPr>
          <a:xfrm>
            <a:off x="7677745" y="4508032"/>
            <a:ext cx="21693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dirty="0">
                <a:latin typeface="Times New Roman"/>
                <a:cs typeface="Times New Roman"/>
              </a:rPr>
              <a:t>4 Layer:</a:t>
            </a:r>
            <a:endParaRPr lang="en-US" b="1" u="sng" dirty="0"/>
          </a:p>
          <a:p>
            <a:pPr algn="ctr"/>
            <a:r>
              <a:rPr lang="en-US" b="1" dirty="0">
                <a:latin typeface="Times New Roman"/>
                <a:cs typeface="Times New Roman"/>
              </a:rPr>
              <a:t>R = -36.46 (dB)</a:t>
            </a:r>
          </a:p>
          <a:p>
            <a:pPr algn="ctr"/>
            <a:endParaRPr lang="en-US" b="1" dirty="0">
              <a:latin typeface="Times New Roman"/>
              <a:cs typeface="Times New Roman"/>
            </a:endParaRPr>
          </a:p>
        </p:txBody>
      </p:sp>
      <p:sp>
        <p:nvSpPr>
          <p:cNvPr id="31" name="TextBox 30">
            <a:extLst>
              <a:ext uri="{FF2B5EF4-FFF2-40B4-BE49-F238E27FC236}">
                <a16:creationId xmlns:a16="http://schemas.microsoft.com/office/drawing/2014/main" id="{0BCDEDA6-7DB8-DC98-BC50-7832F3CF36D1}"/>
              </a:ext>
            </a:extLst>
          </p:cNvPr>
          <p:cNvSpPr txBox="1"/>
          <p:nvPr/>
        </p:nvSpPr>
        <p:spPr>
          <a:xfrm>
            <a:off x="7671175" y="5434256"/>
            <a:ext cx="21693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5 Layer:</a:t>
            </a:r>
            <a:endParaRPr lang="en-US" b="1" u="sng"/>
          </a:p>
          <a:p>
            <a:pPr algn="ctr"/>
            <a:r>
              <a:rPr lang="en-US" b="1">
                <a:latin typeface="Times New Roman"/>
                <a:cs typeface="Times New Roman"/>
              </a:rPr>
              <a:t>R = -37.28 (dB)</a:t>
            </a:r>
          </a:p>
          <a:p>
            <a:pPr algn="ctr"/>
            <a:endParaRPr lang="en-US" b="1">
              <a:latin typeface="Times New Roman"/>
              <a:cs typeface="Times New Roman"/>
            </a:endParaRPr>
          </a:p>
        </p:txBody>
      </p:sp>
      <p:sp>
        <p:nvSpPr>
          <p:cNvPr id="32" name="TextBox 31">
            <a:extLst>
              <a:ext uri="{FF2B5EF4-FFF2-40B4-BE49-F238E27FC236}">
                <a16:creationId xmlns:a16="http://schemas.microsoft.com/office/drawing/2014/main" id="{7077751F-4033-1BFD-B350-822B374CB611}"/>
              </a:ext>
            </a:extLst>
          </p:cNvPr>
          <p:cNvSpPr txBox="1"/>
          <p:nvPr/>
        </p:nvSpPr>
        <p:spPr>
          <a:xfrm>
            <a:off x="7677744" y="3535825"/>
            <a:ext cx="216936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u="sng">
                <a:latin typeface="Times New Roman"/>
                <a:cs typeface="Times New Roman"/>
              </a:rPr>
              <a:t>3 Layer:</a:t>
            </a:r>
            <a:endParaRPr lang="en-US" b="1" u="sng"/>
          </a:p>
          <a:p>
            <a:pPr algn="ctr"/>
            <a:r>
              <a:rPr lang="en-US" b="1">
                <a:latin typeface="Times New Roman"/>
                <a:cs typeface="Times New Roman"/>
              </a:rPr>
              <a:t>R = -37.10 (dB)</a:t>
            </a:r>
          </a:p>
          <a:p>
            <a:pPr algn="ctr"/>
            <a:endParaRPr lang="en-US" b="1">
              <a:latin typeface="Times New Roman"/>
              <a:cs typeface="Times New Roman"/>
            </a:endParaRPr>
          </a:p>
        </p:txBody>
      </p:sp>
      <p:sp>
        <p:nvSpPr>
          <p:cNvPr id="36" name="Multiplication Sign 35">
            <a:extLst>
              <a:ext uri="{FF2B5EF4-FFF2-40B4-BE49-F238E27FC236}">
                <a16:creationId xmlns:a16="http://schemas.microsoft.com/office/drawing/2014/main" id="{B82048E1-6E8F-C663-CABB-982DF5068E44}"/>
              </a:ext>
            </a:extLst>
          </p:cNvPr>
          <p:cNvSpPr/>
          <p:nvPr/>
        </p:nvSpPr>
        <p:spPr>
          <a:xfrm>
            <a:off x="9988522" y="2519609"/>
            <a:ext cx="645073" cy="907830"/>
          </a:xfrm>
          <a:prstGeom prst="mathMultiply">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A green tick mark on a black background&#10;&#10;Description automatically generated">
            <a:extLst>
              <a:ext uri="{FF2B5EF4-FFF2-40B4-BE49-F238E27FC236}">
                <a16:creationId xmlns:a16="http://schemas.microsoft.com/office/drawing/2014/main" id="{73A07F66-EED1-3A27-3585-BB1C7598FE73}"/>
              </a:ext>
            </a:extLst>
          </p:cNvPr>
          <p:cNvPicPr>
            <a:picLocks noChangeAspect="1"/>
          </p:cNvPicPr>
          <p:nvPr/>
        </p:nvPicPr>
        <p:blipFill>
          <a:blip r:embed="rId3"/>
          <a:stretch>
            <a:fillRect/>
          </a:stretch>
        </p:blipFill>
        <p:spPr>
          <a:xfrm>
            <a:off x="10006283" y="3523359"/>
            <a:ext cx="781051" cy="696316"/>
          </a:xfrm>
          <a:prstGeom prst="rect">
            <a:avLst/>
          </a:prstGeom>
        </p:spPr>
      </p:pic>
      <p:pic>
        <p:nvPicPr>
          <p:cNvPr id="38" name="Picture 37" descr="A green tick mark on a black background&#10;&#10;Description automatically generated">
            <a:extLst>
              <a:ext uri="{FF2B5EF4-FFF2-40B4-BE49-F238E27FC236}">
                <a16:creationId xmlns:a16="http://schemas.microsoft.com/office/drawing/2014/main" id="{F7A522AD-B0C2-EA94-CA47-D5880F5BAADE}"/>
              </a:ext>
            </a:extLst>
          </p:cNvPr>
          <p:cNvPicPr>
            <a:picLocks noChangeAspect="1"/>
          </p:cNvPicPr>
          <p:nvPr/>
        </p:nvPicPr>
        <p:blipFill>
          <a:blip r:embed="rId3"/>
          <a:stretch>
            <a:fillRect/>
          </a:stretch>
        </p:blipFill>
        <p:spPr>
          <a:xfrm>
            <a:off x="10006283" y="4502135"/>
            <a:ext cx="781051" cy="696316"/>
          </a:xfrm>
          <a:prstGeom prst="rect">
            <a:avLst/>
          </a:prstGeom>
        </p:spPr>
      </p:pic>
      <p:pic>
        <p:nvPicPr>
          <p:cNvPr id="39" name="Picture 38" descr="A green tick mark on a black background&#10;&#10;Description automatically generated">
            <a:extLst>
              <a:ext uri="{FF2B5EF4-FFF2-40B4-BE49-F238E27FC236}">
                <a16:creationId xmlns:a16="http://schemas.microsoft.com/office/drawing/2014/main" id="{C5AE47C9-BE90-6115-69A7-4A1FA2A6A1F6}"/>
              </a:ext>
            </a:extLst>
          </p:cNvPr>
          <p:cNvPicPr>
            <a:picLocks noChangeAspect="1"/>
          </p:cNvPicPr>
          <p:nvPr/>
        </p:nvPicPr>
        <p:blipFill>
          <a:blip r:embed="rId3"/>
          <a:stretch>
            <a:fillRect/>
          </a:stretch>
        </p:blipFill>
        <p:spPr>
          <a:xfrm>
            <a:off x="9986576" y="5448065"/>
            <a:ext cx="781051" cy="696316"/>
          </a:xfrm>
          <a:prstGeom prst="rect">
            <a:avLst/>
          </a:prstGeom>
        </p:spPr>
      </p:pic>
      <p:pic>
        <p:nvPicPr>
          <p:cNvPr id="5" name="Picture 4" descr="A diagram of different colored lines&#10;&#10;Description automatically generated">
            <a:extLst>
              <a:ext uri="{FF2B5EF4-FFF2-40B4-BE49-F238E27FC236}">
                <a16:creationId xmlns:a16="http://schemas.microsoft.com/office/drawing/2014/main" id="{1178C20E-9CE3-C458-BA44-EE0B3D5A6D7E}"/>
              </a:ext>
            </a:extLst>
          </p:cNvPr>
          <p:cNvPicPr>
            <a:picLocks noChangeAspect="1"/>
          </p:cNvPicPr>
          <p:nvPr/>
        </p:nvPicPr>
        <p:blipFill>
          <a:blip r:embed="rId4"/>
          <a:srcRect l="8498" t="2043" r="7226" b="3753"/>
          <a:stretch/>
        </p:blipFill>
        <p:spPr>
          <a:xfrm>
            <a:off x="2223010" y="2610459"/>
            <a:ext cx="5176098" cy="3510836"/>
          </a:xfrm>
          <a:prstGeom prst="rect">
            <a:avLst/>
          </a:prstGeom>
          <a:ln>
            <a:solidFill>
              <a:schemeClr val="bg1"/>
            </a:solidFill>
          </a:ln>
        </p:spPr>
      </p:pic>
    </p:spTree>
    <p:extLst>
      <p:ext uri="{BB962C8B-B14F-4D97-AF65-F5344CB8AC3E}">
        <p14:creationId xmlns:p14="http://schemas.microsoft.com/office/powerpoint/2010/main" val="3413330787"/>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E513-1516-696D-A1F5-03FA3E882A48}"/>
              </a:ext>
            </a:extLst>
          </p:cNvPr>
          <p:cNvSpPr>
            <a:spLocks noGrp="1"/>
          </p:cNvSpPr>
          <p:nvPr>
            <p:ph type="title"/>
          </p:nvPr>
        </p:nvSpPr>
        <p:spPr/>
        <p:txBody>
          <a:bodyPr>
            <a:normAutofit/>
          </a:bodyPr>
          <a:lstStyle/>
          <a:p>
            <a:pPr algn="ctr"/>
            <a:r>
              <a:rPr lang="en-US" sz="3600">
                <a:latin typeface="Times New Roman"/>
                <a:ea typeface="+mj-lt"/>
                <a:cs typeface="+mj-lt"/>
              </a:rPr>
              <a:t>Semester Summary: Highlights and Insights</a:t>
            </a:r>
            <a:endParaRPr lang="en-US" sz="3600">
              <a:latin typeface="Times New Roman"/>
              <a:cs typeface="Times New Roman"/>
            </a:endParaRPr>
          </a:p>
        </p:txBody>
      </p:sp>
      <p:sp>
        <p:nvSpPr>
          <p:cNvPr id="3" name="Content Placeholder 2">
            <a:extLst>
              <a:ext uri="{FF2B5EF4-FFF2-40B4-BE49-F238E27FC236}">
                <a16:creationId xmlns:a16="http://schemas.microsoft.com/office/drawing/2014/main" id="{B0FBA21E-63AB-F144-DF12-8DC5CAF42581}"/>
              </a:ext>
            </a:extLst>
          </p:cNvPr>
          <p:cNvSpPr>
            <a:spLocks noGrp="1"/>
          </p:cNvSpPr>
          <p:nvPr>
            <p:ph idx="1"/>
          </p:nvPr>
        </p:nvSpPr>
        <p:spPr/>
        <p:txBody>
          <a:bodyPr vert="horz" lIns="91440" tIns="45720" rIns="91440" bIns="45720" rtlCol="0" anchor="t">
            <a:normAutofit/>
          </a:bodyPr>
          <a:lstStyle/>
          <a:p>
            <a:pPr marL="0" indent="0">
              <a:buNone/>
            </a:pPr>
            <a:endParaRPr lang="en-US">
              <a:solidFill>
                <a:srgbClr val="000000"/>
              </a:solidFill>
              <a:highlight>
                <a:srgbClr val="FFFF00"/>
              </a:highlight>
            </a:endParaRPr>
          </a:p>
          <a:p>
            <a:endParaRPr lang="en-US"/>
          </a:p>
        </p:txBody>
      </p:sp>
      <p:pic>
        <p:nvPicPr>
          <p:cNvPr id="5" name="Picture 4" descr="A diagram of a ram structure reflection&#10;&#10;Description automatically generated">
            <a:extLst>
              <a:ext uri="{FF2B5EF4-FFF2-40B4-BE49-F238E27FC236}">
                <a16:creationId xmlns:a16="http://schemas.microsoft.com/office/drawing/2014/main" id="{7B7D5653-D0E0-44AE-8B3C-58465FE50387}"/>
              </a:ext>
            </a:extLst>
          </p:cNvPr>
          <p:cNvPicPr>
            <a:picLocks noChangeAspect="1"/>
          </p:cNvPicPr>
          <p:nvPr/>
        </p:nvPicPr>
        <p:blipFill>
          <a:blip r:embed="rId2"/>
          <a:stretch>
            <a:fillRect/>
          </a:stretch>
        </p:blipFill>
        <p:spPr>
          <a:xfrm>
            <a:off x="369784" y="2011604"/>
            <a:ext cx="5740400" cy="4417180"/>
          </a:xfrm>
          <a:prstGeom prst="rect">
            <a:avLst/>
          </a:prstGeom>
          <a:ln>
            <a:solidFill>
              <a:schemeClr val="bg1"/>
            </a:solidFill>
          </a:ln>
        </p:spPr>
      </p:pic>
      <p:sp>
        <p:nvSpPr>
          <p:cNvPr id="7" name="TextBox 6">
            <a:extLst>
              <a:ext uri="{FF2B5EF4-FFF2-40B4-BE49-F238E27FC236}">
                <a16:creationId xmlns:a16="http://schemas.microsoft.com/office/drawing/2014/main" id="{964ECFA9-3545-E247-B74F-D7E12942390B}"/>
              </a:ext>
            </a:extLst>
          </p:cNvPr>
          <p:cNvSpPr txBox="1"/>
          <p:nvPr/>
        </p:nvSpPr>
        <p:spPr>
          <a:xfrm>
            <a:off x="6251908" y="2517496"/>
            <a:ext cx="5532248" cy="2539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gn="ctr">
              <a:buFont typeface="Arial"/>
              <a:buChar char="•"/>
            </a:pPr>
            <a:r>
              <a:rPr lang="en-US" sz="2600">
                <a:latin typeface="Times New Roman"/>
                <a:cs typeface="Times New Roman"/>
              </a:rPr>
              <a:t>Budget: 72.69 (seconds) to Run Code at 100 populations and 100 generations</a:t>
            </a:r>
            <a:endParaRPr lang="en-US">
              <a:latin typeface="Aptos" panose="020B0004020202020204"/>
              <a:cs typeface="Times New Roman"/>
            </a:endParaRPr>
          </a:p>
          <a:p>
            <a:pPr marL="457200" indent="-457200" algn="ctr">
              <a:buFont typeface="Arial"/>
              <a:buChar char="•"/>
            </a:pPr>
            <a:r>
              <a:rPr lang="en-US" sz="2600">
                <a:latin typeface="Times New Roman"/>
                <a:cs typeface="Times New Roman"/>
              </a:rPr>
              <a:t>Engineer Cost per Hour: $150 </a:t>
            </a:r>
          </a:p>
          <a:p>
            <a:pPr algn="ctr"/>
            <a:endParaRPr lang="en-US" sz="2600" b="1">
              <a:solidFill>
                <a:srgbClr val="FF0000"/>
              </a:solidFill>
              <a:latin typeface="Times New Roman"/>
              <a:cs typeface="Times New Roman"/>
            </a:endParaRPr>
          </a:p>
          <a:p>
            <a:pPr algn="ctr"/>
            <a:r>
              <a:rPr lang="en-US" sz="2900" b="1">
                <a:solidFill>
                  <a:srgbClr val="FF0000"/>
                </a:solidFill>
                <a:latin typeface="Times New Roman"/>
                <a:cs typeface="Times New Roman"/>
              </a:rPr>
              <a:t>$3 per run</a:t>
            </a:r>
            <a:endParaRPr lang="en-US" sz="2900"/>
          </a:p>
        </p:txBody>
      </p:sp>
      <p:sp>
        <p:nvSpPr>
          <p:cNvPr id="6" name="Arrow: Right 5">
            <a:extLst>
              <a:ext uri="{FF2B5EF4-FFF2-40B4-BE49-F238E27FC236}">
                <a16:creationId xmlns:a16="http://schemas.microsoft.com/office/drawing/2014/main" id="{47BFA471-74B8-D96E-808F-86D48713A498}"/>
              </a:ext>
            </a:extLst>
          </p:cNvPr>
          <p:cNvSpPr/>
          <p:nvPr/>
        </p:nvSpPr>
        <p:spPr>
          <a:xfrm>
            <a:off x="7442159" y="4584178"/>
            <a:ext cx="584666" cy="3926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827515"/>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D2F72-C666-30C0-E8C2-39FD72FC0B51}"/>
              </a:ext>
            </a:extLst>
          </p:cNvPr>
          <p:cNvSpPr>
            <a:spLocks noGrp="1"/>
          </p:cNvSpPr>
          <p:nvPr>
            <p:ph type="title"/>
          </p:nvPr>
        </p:nvSpPr>
        <p:spPr/>
        <p:txBody>
          <a:bodyPr>
            <a:normAutofit/>
          </a:bodyPr>
          <a:lstStyle/>
          <a:p>
            <a:pPr algn="ctr"/>
            <a:r>
              <a:rPr lang="en-US" sz="3600">
                <a:latin typeface="Times New Roman"/>
                <a:cs typeface="Times New Roman"/>
              </a:rPr>
              <a:t>The Work Done in MATLAB Will Be </a:t>
            </a:r>
            <a:br>
              <a:rPr lang="en-US" sz="3600">
                <a:latin typeface="Times New Roman"/>
                <a:cs typeface="Times New Roman"/>
              </a:rPr>
            </a:br>
            <a:r>
              <a:rPr lang="en-US" sz="3600">
                <a:latin typeface="Times New Roman"/>
                <a:cs typeface="Times New Roman"/>
              </a:rPr>
              <a:t>Transferred to Python</a:t>
            </a:r>
            <a:endParaRPr lang="en-US"/>
          </a:p>
        </p:txBody>
      </p:sp>
      <p:sp>
        <p:nvSpPr>
          <p:cNvPr id="3" name="Content Placeholder 2">
            <a:extLst>
              <a:ext uri="{FF2B5EF4-FFF2-40B4-BE49-F238E27FC236}">
                <a16:creationId xmlns:a16="http://schemas.microsoft.com/office/drawing/2014/main" id="{25AC14AE-76B1-2BCC-9D09-F3634D4A2242}"/>
              </a:ext>
            </a:extLst>
          </p:cNvPr>
          <p:cNvSpPr>
            <a:spLocks noGrp="1"/>
          </p:cNvSpPr>
          <p:nvPr>
            <p:ph idx="1"/>
          </p:nvPr>
        </p:nvSpPr>
        <p:spPr>
          <a:xfrm>
            <a:off x="838200" y="2091720"/>
            <a:ext cx="10515600" cy="4351338"/>
          </a:xfrm>
        </p:spPr>
        <p:txBody>
          <a:bodyPr vert="horz" lIns="91440" tIns="45720" rIns="91440" bIns="45720" rtlCol="0" anchor="t">
            <a:normAutofit/>
          </a:bodyPr>
          <a:lstStyle/>
          <a:p>
            <a:r>
              <a:rPr lang="en-US" sz="2400" b="1">
                <a:latin typeface="Times New Roman"/>
                <a:ea typeface="+mn-lt"/>
                <a:cs typeface="+mn-lt"/>
              </a:rPr>
              <a:t>Transition to Python </a:t>
            </a:r>
            <a:endParaRPr lang="en-US" sz="2400">
              <a:latin typeface="Times New Roman"/>
              <a:cs typeface="Times New Roman"/>
            </a:endParaRPr>
          </a:p>
          <a:p>
            <a:pPr lvl="1">
              <a:buFont typeface="Courier New" panose="020B0604020202020204" pitchFamily="34" charset="0"/>
              <a:buChar char="o"/>
            </a:pPr>
            <a:r>
              <a:rPr lang="en-US" sz="1800">
                <a:latin typeface="Times New Roman"/>
                <a:ea typeface="+mn-lt"/>
                <a:cs typeface="+mn-lt"/>
              </a:rPr>
              <a:t>Recreate genetic algorithm, Bayesian Optimization in Python</a:t>
            </a:r>
          </a:p>
          <a:p>
            <a:r>
              <a:rPr lang="en-US" sz="2400" b="1">
                <a:latin typeface="Times New Roman"/>
                <a:ea typeface="+mn-lt"/>
                <a:cs typeface="+mn-lt"/>
              </a:rPr>
              <a:t>Enhanced Functionality</a:t>
            </a:r>
            <a:endParaRPr lang="en-US" sz="2400">
              <a:latin typeface="Times New Roman"/>
              <a:cs typeface="Times New Roman"/>
            </a:endParaRPr>
          </a:p>
          <a:p>
            <a:pPr lvl="1">
              <a:buFont typeface="Courier New" panose="020B0604020202020204" pitchFamily="34" charset="0"/>
              <a:buChar char="o"/>
            </a:pPr>
            <a:r>
              <a:rPr lang="en-US" sz="1800">
                <a:latin typeface="Times New Roman"/>
                <a:ea typeface="+mn-lt"/>
                <a:cs typeface="+mn-lt"/>
              </a:rPr>
              <a:t>Incorporate machine learning and deep learning models.</a:t>
            </a:r>
          </a:p>
          <a:p>
            <a:r>
              <a:rPr lang="en-US" sz="2400" b="1">
                <a:latin typeface="Times New Roman"/>
                <a:ea typeface="+mn-lt"/>
                <a:cs typeface="+mn-lt"/>
              </a:rPr>
              <a:t>Improved Efficiency</a:t>
            </a:r>
            <a:endParaRPr lang="en-US" sz="2400">
              <a:latin typeface="Times New Roman"/>
              <a:cs typeface="Times New Roman"/>
            </a:endParaRPr>
          </a:p>
          <a:p>
            <a:pPr lvl="1">
              <a:buFont typeface="Courier New" panose="020B0604020202020204" pitchFamily="34" charset="0"/>
              <a:buChar char="o"/>
            </a:pPr>
            <a:r>
              <a:rPr lang="en-US" sz="1800">
                <a:latin typeface="Times New Roman"/>
                <a:ea typeface="+mn-lt"/>
                <a:cs typeface="+mn-lt"/>
              </a:rPr>
              <a:t>Optimize code to run faster with larger data sets</a:t>
            </a:r>
          </a:p>
          <a:p>
            <a:r>
              <a:rPr lang="en-US" sz="2400" b="1">
                <a:latin typeface="Times New Roman"/>
                <a:ea typeface="+mn-lt"/>
                <a:cs typeface="+mn-lt"/>
              </a:rPr>
              <a:t>Scalability</a:t>
            </a:r>
            <a:endParaRPr lang="en-US" sz="2400">
              <a:latin typeface="Times New Roman"/>
              <a:cs typeface="Times New Roman"/>
            </a:endParaRPr>
          </a:p>
          <a:p>
            <a:pPr lvl="1">
              <a:buFont typeface="Courier New" panose="020B0604020202020204" pitchFamily="34" charset="0"/>
              <a:buChar char="o"/>
            </a:pPr>
            <a:r>
              <a:rPr lang="en-US" sz="1800">
                <a:latin typeface="Times New Roman"/>
                <a:ea typeface="+mn-lt"/>
                <a:cs typeface="+mn-lt"/>
              </a:rPr>
              <a:t>Further develop material database</a:t>
            </a:r>
          </a:p>
          <a:p>
            <a:r>
              <a:rPr lang="en-US" sz="2400" b="1">
                <a:latin typeface="Times New Roman"/>
                <a:ea typeface="+mn-lt"/>
                <a:cs typeface="+mn-lt"/>
              </a:rPr>
              <a:t>Real-World Testing</a:t>
            </a:r>
            <a:endParaRPr lang="en-US" sz="2400">
              <a:latin typeface="Times New Roman"/>
              <a:cs typeface="Times New Roman"/>
            </a:endParaRPr>
          </a:p>
          <a:p>
            <a:pPr lvl="1">
              <a:buFont typeface="Courier New" panose="020B0604020202020204" pitchFamily="34" charset="0"/>
              <a:buChar char="o"/>
            </a:pPr>
            <a:r>
              <a:rPr lang="en-US" sz="1800">
                <a:latin typeface="Times New Roman"/>
                <a:cs typeface="Times New Roman"/>
              </a:rPr>
              <a:t>Create physical models of material layers</a:t>
            </a:r>
          </a:p>
        </p:txBody>
      </p:sp>
      <p:pic>
        <p:nvPicPr>
          <p:cNvPr id="4" name="Graphic 3" descr="Arrow Group Next Step Vector SVG Icon - SVG Repo">
            <a:extLst>
              <a:ext uri="{FF2B5EF4-FFF2-40B4-BE49-F238E27FC236}">
                <a16:creationId xmlns:a16="http://schemas.microsoft.com/office/drawing/2014/main" id="{55C144E1-3CC8-83BB-05D3-7C9C0C3694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38374" y="2272106"/>
            <a:ext cx="3951624" cy="3990109"/>
          </a:xfrm>
          <a:prstGeom prst="rect">
            <a:avLst/>
          </a:prstGeom>
        </p:spPr>
      </p:pic>
    </p:spTree>
    <p:extLst>
      <p:ext uri="{BB962C8B-B14F-4D97-AF65-F5344CB8AC3E}">
        <p14:creationId xmlns:p14="http://schemas.microsoft.com/office/powerpoint/2010/main" val="3846562403"/>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F54C6-03E4-245B-D03A-F11E90585392}"/>
              </a:ext>
            </a:extLst>
          </p:cNvPr>
          <p:cNvSpPr>
            <a:spLocks noGrp="1"/>
          </p:cNvSpPr>
          <p:nvPr>
            <p:ph type="title"/>
          </p:nvPr>
        </p:nvSpPr>
        <p:spPr/>
        <p:txBody>
          <a:bodyPr>
            <a:normAutofit/>
          </a:bodyPr>
          <a:lstStyle/>
          <a:p>
            <a:r>
              <a:rPr lang="en-US" sz="3600">
                <a:latin typeface="Times New Roman"/>
                <a:cs typeface="Times New Roman"/>
              </a:rPr>
              <a:t>Sources:</a:t>
            </a:r>
          </a:p>
        </p:txBody>
      </p:sp>
      <p:sp>
        <p:nvSpPr>
          <p:cNvPr id="3" name="Content Placeholder 2">
            <a:extLst>
              <a:ext uri="{FF2B5EF4-FFF2-40B4-BE49-F238E27FC236}">
                <a16:creationId xmlns:a16="http://schemas.microsoft.com/office/drawing/2014/main" id="{703B012B-33EF-52D7-E9D5-CFEC4C76A6E4}"/>
              </a:ext>
            </a:extLst>
          </p:cNvPr>
          <p:cNvSpPr>
            <a:spLocks noGrp="1"/>
          </p:cNvSpPr>
          <p:nvPr>
            <p:ph idx="1"/>
          </p:nvPr>
        </p:nvSpPr>
        <p:spPr/>
        <p:txBody>
          <a:bodyPr vert="horz" lIns="91440" tIns="45720" rIns="91440" bIns="45720" rtlCol="0" anchor="t">
            <a:normAutofit/>
          </a:bodyPr>
          <a:lstStyle/>
          <a:p>
            <a:pPr>
              <a:buNone/>
            </a:pPr>
            <a:r>
              <a:rPr lang="en-US" sz="2400">
                <a:latin typeface="Times New Roman"/>
                <a:ea typeface="+mn-lt"/>
                <a:cs typeface="+mn-lt"/>
              </a:rPr>
              <a:t>[1.] </a:t>
            </a:r>
            <a:r>
              <a:rPr lang="en-US" sz="2400" err="1">
                <a:latin typeface="Times New Roman"/>
                <a:ea typeface="+mn-lt"/>
                <a:cs typeface="+mn-lt"/>
              </a:rPr>
              <a:t>Michielssen</a:t>
            </a:r>
            <a:r>
              <a:rPr lang="en-US" sz="2400">
                <a:latin typeface="Times New Roman"/>
                <a:ea typeface="+mn-lt"/>
                <a:cs typeface="+mn-lt"/>
              </a:rPr>
              <a:t>, E., et al. “Design of lightweight, broad-band microwave absorbers using genetic algorithms.” </a:t>
            </a:r>
            <a:r>
              <a:rPr lang="en-US" sz="2400" i="1">
                <a:latin typeface="Times New Roman"/>
                <a:ea typeface="+mn-lt"/>
                <a:cs typeface="+mn-lt"/>
              </a:rPr>
              <a:t>IEEE Transactions on Microwave Theory and Techniques</a:t>
            </a:r>
            <a:r>
              <a:rPr lang="en-US" sz="2400">
                <a:latin typeface="Times New Roman"/>
                <a:ea typeface="+mn-lt"/>
                <a:cs typeface="+mn-lt"/>
              </a:rPr>
              <a:t>, vol. 41, no. 6, 1993, pp. 1024–1031, </a:t>
            </a:r>
            <a:r>
              <a:rPr lang="en-US" sz="2400">
                <a:latin typeface="Times New Roman"/>
                <a:ea typeface="+mn-lt"/>
                <a:cs typeface="+mn-lt"/>
                <a:hlinkClick r:id="rId2"/>
              </a:rPr>
              <a:t>https://doi.org/10.1109/22.238519</a:t>
            </a:r>
            <a:r>
              <a:rPr lang="en-US" sz="2400">
                <a:latin typeface="Times New Roman"/>
                <a:ea typeface="+mn-lt"/>
                <a:cs typeface="+mn-lt"/>
              </a:rPr>
              <a:t>. </a:t>
            </a:r>
            <a:endParaRPr lang="en-US" sz="2400">
              <a:latin typeface="Times New Roman"/>
              <a:cs typeface="Times New Roman"/>
            </a:endParaRPr>
          </a:p>
          <a:p>
            <a:pPr>
              <a:buNone/>
            </a:pPr>
            <a:r>
              <a:rPr lang="en-US" sz="2400">
                <a:latin typeface="Times New Roman"/>
                <a:cs typeface="Times New Roman"/>
              </a:rPr>
              <a:t>[2.] Kilic, Ozlem, and Q. M. Nguyen. “Application of artificial immune system algorithm to electromagnetics problems.” </a:t>
            </a:r>
            <a:r>
              <a:rPr lang="en-US" sz="2400" i="1">
                <a:latin typeface="Times New Roman"/>
                <a:cs typeface="Times New Roman"/>
              </a:rPr>
              <a:t>Progress In Electromagnetics Research B</a:t>
            </a:r>
            <a:r>
              <a:rPr lang="en-US" sz="2400">
                <a:latin typeface="Times New Roman"/>
                <a:cs typeface="Times New Roman"/>
              </a:rPr>
              <a:t>, vol. 20, 2010, pp. 1–17, </a:t>
            </a:r>
            <a:r>
              <a:rPr lang="en-US" sz="2400">
                <a:latin typeface="Times New Roman"/>
                <a:cs typeface="Times New Roman"/>
                <a:hlinkClick r:id="rId3"/>
              </a:rPr>
              <a:t>https://doi.org/10.2528/pierb10010701</a:t>
            </a:r>
            <a:r>
              <a:rPr lang="en-US" sz="2400">
                <a:latin typeface="Times New Roman"/>
                <a:cs typeface="Times New Roman"/>
              </a:rPr>
              <a:t>. </a:t>
            </a:r>
          </a:p>
          <a:p>
            <a:pPr marL="0" indent="0">
              <a:buNone/>
            </a:pPr>
            <a:endParaRPr lang="en-US" sz="2400">
              <a:latin typeface="Times New Roman"/>
              <a:cs typeface="Times New Roman"/>
            </a:endParaRPr>
          </a:p>
        </p:txBody>
      </p:sp>
    </p:spTree>
    <p:extLst>
      <p:ext uri="{BB962C8B-B14F-4D97-AF65-F5344CB8AC3E}">
        <p14:creationId xmlns:p14="http://schemas.microsoft.com/office/powerpoint/2010/main" val="372434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1977</Words>
  <Application>Microsoft Office PowerPoint</Application>
  <PresentationFormat>Widescreen</PresentationFormat>
  <Paragraphs>381</Paragraphs>
  <Slides>49</Slides>
  <Notes>2</Notes>
  <HiddenSlides>0</HiddenSlides>
  <MMClips>4</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Aptos</vt:lpstr>
      <vt:lpstr>Aptos Display</vt:lpstr>
      <vt:lpstr>Arial</vt:lpstr>
      <vt:lpstr>Arial,Sans-Serif</vt:lpstr>
      <vt:lpstr>Calibri</vt:lpstr>
      <vt:lpstr>Courier New</vt:lpstr>
      <vt:lpstr>Neue Haas Grotesk Text Pro</vt:lpstr>
      <vt:lpstr>Times New Roman</vt:lpstr>
      <vt:lpstr>-webkit-standard</vt:lpstr>
      <vt:lpstr>office theme</vt:lpstr>
      <vt:lpstr>Optimizing Multi-Layer Radiation Absorbing Materials: Advanced Algorithmic Solutions</vt:lpstr>
      <vt:lpstr>PowerPoint Presentation</vt:lpstr>
      <vt:lpstr>Radiation Absorbing Material Coatings are Widely Used in a Variety of Military and Civil Applications </vt:lpstr>
      <vt:lpstr>Radiation Absorbing Material Coatings are Widely Used in a Variety of Military and Civil Applications </vt:lpstr>
      <vt:lpstr>Radiation Absorbing Materials Minimize Radar Detection by Converting Electromagnetic Waves into Heat or Destructive Interference</vt:lpstr>
      <vt:lpstr>RAM Advancements use Nanomaterials, Optimized Structures, and Algorithm-driven Simulations to Enhance Absorption and Stealth Performance</vt:lpstr>
      <vt:lpstr>Building on Existing Work: Advancing the Project Through Prior Foundations</vt:lpstr>
      <vt:lpstr>Objective: Optimize Mutli-Layer Radiation Absorbing Materials  Using Algorithms</vt:lpstr>
      <vt:lpstr>PowerPoint Presentation</vt:lpstr>
      <vt:lpstr>PowerPoint Presentation</vt:lpstr>
      <vt:lpstr>PowerPoint Presentation</vt:lpstr>
      <vt:lpstr>PowerPoint Presentation</vt:lpstr>
      <vt:lpstr>PowerPoint Presentation</vt:lpstr>
      <vt:lpstr>What is the Best Method to Optimize a Multi-Layer Radiation Absorbing Material? </vt:lpstr>
      <vt:lpstr>A Pugh Chart was Used to Down Select Design Criteria</vt:lpstr>
      <vt:lpstr>A Genetic Algorithm Mimics the Process of  Natural Selection to Evolve Solutions </vt:lpstr>
      <vt:lpstr>A Random Initial Population Allows for More Exploration of the Solution Space</vt:lpstr>
      <vt:lpstr>A Fitness Functio​n Guides the Algorithm Toward Selecting an Optimal Solution</vt:lpstr>
      <vt:lpstr>Crossover and Mutation Allow the Solution to Evolve Over Generations</vt:lpstr>
      <vt:lpstr>Crossover and Mutation Allow the Solution to Evolve Over Generations</vt:lpstr>
      <vt:lpstr>Crossover and Mutation Allow the Solution to Evolve Over Generations</vt:lpstr>
      <vt:lpstr>Genetic Algorithms Converge on an Optimal Solution </vt:lpstr>
      <vt:lpstr>Results are Validated by Comparing Values to  Proven MATLAB Code</vt:lpstr>
      <vt:lpstr>Overlaying Data from Multiple Layers Allows us to Compare Results </vt:lpstr>
      <vt:lpstr>Total Thickness Also Plays a Role in Optimal Reflection Values </vt:lpstr>
      <vt:lpstr>Bayesian Optimization: Enhancing Solutions  Through Informed Search</vt:lpstr>
      <vt:lpstr>Genetic Algorithm vs Bayesian Optimization </vt:lpstr>
      <vt:lpstr>Genetic Algorithm vs Bayesian Optimization </vt:lpstr>
      <vt:lpstr>Genetic Algorithm vs Bayesian Optimization </vt:lpstr>
      <vt:lpstr>Comparing the Results for Bayesian Optimization and Genetic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Semester Summary: Highlights and Insights</vt:lpstr>
      <vt:lpstr>The Work Done in MATLAB Will Be  Transferred to Python</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Carr, Tegan R</cp:lastModifiedBy>
  <cp:revision>5</cp:revision>
  <dcterms:created xsi:type="dcterms:W3CDTF">2024-11-15T14:47:03Z</dcterms:created>
  <dcterms:modified xsi:type="dcterms:W3CDTF">2024-12-04T00:53:34Z</dcterms:modified>
</cp:coreProperties>
</file>